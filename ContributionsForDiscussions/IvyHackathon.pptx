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1" r:id="rId5"/>
    <p:sldId id="264" r:id="rId6"/>
    <p:sldId id="263" r:id="rId7"/>
    <p:sldId id="262" r:id="rId8"/>
    <p:sldId id="265" r:id="rId9"/>
    <p:sldId id="259" r:id="rId10"/>
    <p:sldId id="26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98D213C-CB83-41B3-8C7E-97DF72B8666E}" v="19" dt="2026-06-03T09:24:35.69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>
        <p:scale>
          <a:sx n="100" d="100"/>
          <a:sy n="100" d="100"/>
        </p:scale>
        <p:origin x="72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A02B1-19F9-C38E-9EC1-70D06B0449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4630C6-D3C0-4550-788E-0CDFDCB4C7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545E11-AB75-6364-4EB5-02AF2215B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5A94E-E6D7-4B08-86AA-C6FD57709807}" type="datetimeFigureOut">
              <a:rPr lang="en-GB" smtClean="0"/>
              <a:t>03/06/2026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375F0B-FE7D-69D4-FC59-E5FED5C16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CFB08E-CCD9-36D9-5A73-B82616921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8120A-BF4E-4704-9BB0-B205320F3C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9140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02F42-282B-0FBD-D324-0A24A4DEB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494CCE-0265-2FF7-5E9D-8580BDA472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EC7B95-FC29-61FC-CD28-939D60D65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5A94E-E6D7-4B08-86AA-C6FD57709807}" type="datetimeFigureOut">
              <a:rPr lang="en-GB" smtClean="0"/>
              <a:t>03/06/2026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C292E-B387-5C23-4D1F-2659B08D2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717ECD-3989-5F60-21F1-650C4AC49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8120A-BF4E-4704-9BB0-B205320F3C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91089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35B37-AAF1-8620-6C7E-234B7DE4C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3AE128-6DD8-3F86-9506-6A119C7A24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3B782C-913F-D987-AB87-371766E50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5A94E-E6D7-4B08-86AA-C6FD57709807}" type="datetimeFigureOut">
              <a:rPr lang="en-GB" smtClean="0"/>
              <a:t>03/06/2026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7934A2-645B-FAAF-79CE-11D2C8D66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2D6BB0-32EB-4C8A-948F-E87927052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8120A-BF4E-4704-9BB0-B205320F3C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737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8A3C4-4275-558D-9830-082300914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006E66-75E6-3BF4-B049-BECD084909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0A9D59-C66B-A778-5681-6AE1CF0D0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132BB0-4FBD-B986-315A-E87D074CE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5A94E-E6D7-4B08-86AA-C6FD57709807}" type="datetimeFigureOut">
              <a:rPr lang="en-GB" smtClean="0"/>
              <a:t>03/06/2026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982CB3-163C-3AFB-4214-0F2AE9017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181422-8DAC-B9EF-8F2C-61BA79235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8120A-BF4E-4704-9BB0-B205320F3C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3847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D4FC2-45EC-A9A4-A7AF-1C37F860B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F67119-5984-210B-9441-39347CE90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D1FACF-4689-75E6-3D1D-E04CCA6F32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D029DD-622B-63C6-BEB5-774F2F9DCE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A99558-39F4-6911-8DAC-B183E04C08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5B7B24-9161-9080-4EF7-5FB0CE188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5A94E-E6D7-4B08-86AA-C6FD57709807}" type="datetimeFigureOut">
              <a:rPr lang="en-GB" smtClean="0"/>
              <a:t>03/06/2026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582A2D-96E0-BCD9-E7AF-A093628AC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D524B9-7AE2-1FAE-8F18-FD1DB2A50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8120A-BF4E-4704-9BB0-B205320F3C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69062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3A2AC-9BAA-2C84-0A16-4CCEFDA97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9AE5F8-5303-53DB-3B02-D3A0B5E45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5A94E-E6D7-4B08-86AA-C6FD57709807}" type="datetimeFigureOut">
              <a:rPr lang="en-GB" smtClean="0"/>
              <a:t>03/06/2026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E98899-C1A7-62A1-E170-86803BD19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B8A055-EA88-C47E-528B-5F3055159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8120A-BF4E-4704-9BB0-B205320F3C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7341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9BC158-D79A-42E4-CB07-736314BE3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5A94E-E6D7-4B08-86AA-C6FD57709807}" type="datetimeFigureOut">
              <a:rPr lang="en-GB" smtClean="0"/>
              <a:t>03/06/2026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144E7E-50BE-469A-C17E-075A525E8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D5E730-B417-4E56-7EB1-7CE641E76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8120A-BF4E-4704-9BB0-B205320F3C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9713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671FB-D7F6-0641-8A28-5FFE01DC3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08D6BE-716C-A464-B19C-C4AF0EB62B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D6A375-001F-B8C9-77B5-A8F08412F0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487392-7F2D-EA40-E383-36109D717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5A94E-E6D7-4B08-86AA-C6FD57709807}" type="datetimeFigureOut">
              <a:rPr lang="en-GB" smtClean="0"/>
              <a:t>03/06/2026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1AE6BA-DD44-DFDB-81A3-CEFE48FE0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418B9-E89D-3EE9-69BD-EDFBEA5C2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8120A-BF4E-4704-9BB0-B205320F3C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35474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8D7B9-49BC-FEAA-A145-43C1620DA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CE45BD-27CC-AB78-E53C-D3BB277B38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4F093E-3891-9550-894F-8161C041FC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30B386-6C28-FFF4-ED15-509F4494E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5A94E-E6D7-4B08-86AA-C6FD57709807}" type="datetimeFigureOut">
              <a:rPr lang="en-GB" smtClean="0"/>
              <a:t>03/06/2026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56A9C4-A145-0FAB-E316-200D3939A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4EFC4B-4869-EE55-CB37-D9948A73E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8120A-BF4E-4704-9BB0-B205320F3C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61287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4BF00-A979-E4ED-CFAD-708B05506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14105D-18FB-D4A8-10A6-03057BF01D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DEDD60-67C6-9431-A050-2F57AB080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5A94E-E6D7-4B08-86AA-C6FD57709807}" type="datetimeFigureOut">
              <a:rPr lang="en-GB" smtClean="0"/>
              <a:t>03/06/2026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495CBD-6A56-E298-E73D-AF6C36DF3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F553A1-E032-3B6E-B691-BA559E473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8120A-BF4E-4704-9BB0-B205320F3C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900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6F9C66-0F67-3D0E-D32F-91F3C65C69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D9DB2C-3411-8C1A-438F-3CABEF8182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5ADBB8-F6D8-743E-B89F-AC18D6C38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5A94E-E6D7-4B08-86AA-C6FD57709807}" type="datetimeFigureOut">
              <a:rPr lang="en-GB" smtClean="0"/>
              <a:t>03/06/2026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FEA02F-2290-AEE1-4850-2437F4B9C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5FFEF7-1798-361C-1E88-87A99A6C9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8120A-BF4E-4704-9BB0-B205320F3C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0476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1E05D7-3C84-CFB8-3AB7-3332CD8F6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E56A0C-EDA3-702E-781D-F8FBCA7463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BB15C4-29FA-10C0-9637-07C12558C1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15A94E-E6D7-4B08-86AA-C6FD57709807}" type="datetimeFigureOut">
              <a:rPr lang="en-GB" smtClean="0"/>
              <a:t>03/06/2026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B1FE9E-67C3-ABEB-22AC-3D78314BD9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E90B9B-2480-E3D5-EB05-ECDAAE6B35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88120A-BF4E-4704-9BB0-B205320F3C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5128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iki.ietf.org/en/meeting/125/hackathon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iki.ietf.org/en/meeting/126/hackathon" TargetMode="External"/><Relationship Id="rId2" Type="http://schemas.openxmlformats.org/officeDocument/2006/relationships/hyperlink" Target="https://www.ietf.org/meeting/hackathons/126-hackathon/" TargetMode="Externa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github.com/ietf-ivy-wg/network-inventory-yang" TargetMode="External"/><Relationship Id="rId5" Type="http://schemas.openxmlformats.org/officeDocument/2006/relationships/hyperlink" Target="https://datatracker.ietf.org/doc/draft-ietf-ivy-network-inventory-yang/" TargetMode="External"/><Relationship Id="rId4" Type="http://schemas.openxmlformats.org/officeDocument/2006/relationships/hyperlink" Target="https://datatracker.ietf.org/wg/ivy/about/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214FC-8085-05CB-C370-CF878F8742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Ivy Hackathon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F98850-F34F-68CF-3B27-FA73DE5EEF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Nigel Davis (Ciena)</a:t>
            </a:r>
          </a:p>
          <a:p>
            <a:r>
              <a:rPr lang="en-GB" dirty="0"/>
              <a:t>20260603</a:t>
            </a:r>
          </a:p>
        </p:txBody>
      </p:sp>
    </p:spTree>
    <p:extLst>
      <p:ext uri="{BB962C8B-B14F-4D97-AF65-F5344CB8AC3E}">
        <p14:creationId xmlns:p14="http://schemas.microsoft.com/office/powerpoint/2010/main" val="23961048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9726E-897F-47A3-9F64-087994F29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652979-5AD4-E127-7935-08C3498E51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Hackathon architecture</a:t>
            </a:r>
          </a:p>
          <a:p>
            <a:r>
              <a:rPr lang="en-GB" dirty="0"/>
              <a:t>Ivy model</a:t>
            </a:r>
          </a:p>
          <a:p>
            <a:r>
              <a:rPr lang="en-GB" dirty="0"/>
              <a:t>Objectives of Hackathon</a:t>
            </a:r>
          </a:p>
          <a:p>
            <a:r>
              <a:rPr lang="en-GB" dirty="0"/>
              <a:t>Sketch of possible arrangements</a:t>
            </a:r>
          </a:p>
          <a:p>
            <a:r>
              <a:rPr lang="en-GB" dirty="0"/>
              <a:t>Prior to Hackathon</a:t>
            </a:r>
          </a:p>
          <a:p>
            <a:r>
              <a:rPr lang="en-GB" dirty="0"/>
              <a:t>Vision</a:t>
            </a:r>
          </a:p>
          <a:p>
            <a:r>
              <a:rPr lang="en-GB" dirty="0"/>
              <a:t>What will not be explored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EA9DC82-2D29-6986-C25E-C37898151A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3983" y="0"/>
            <a:ext cx="457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0439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2C43A-F3B7-3626-7FEC-BA9A9755B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Hackathon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6835D0-BDFD-8171-D52B-F8F479E783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37652" cy="4351338"/>
          </a:xfrm>
        </p:spPr>
        <p:txBody>
          <a:bodyPr>
            <a:normAutofit fontScale="70000" lnSpcReduction="20000"/>
          </a:bodyPr>
          <a:lstStyle/>
          <a:p>
            <a:r>
              <a:rPr lang="en-GB" dirty="0"/>
              <a:t>Configuration:</a:t>
            </a:r>
          </a:p>
          <a:p>
            <a:pPr lvl="1"/>
            <a:r>
              <a:rPr lang="en-GB" dirty="0"/>
              <a:t>A controller from one vendor plays the role of inventory system (inventory role)</a:t>
            </a:r>
          </a:p>
          <a:p>
            <a:pPr lvl="1"/>
            <a:r>
              <a:rPr lang="en-GB" dirty="0"/>
              <a:t>Several controllers from different vendors are connected to the inventory controller (controller role)</a:t>
            </a:r>
          </a:p>
          <a:p>
            <a:pPr lvl="1"/>
            <a:r>
              <a:rPr lang="en-GB" dirty="0"/>
              <a:t>Each controller role provides a view of network elements and their physical inventory </a:t>
            </a:r>
          </a:p>
          <a:p>
            <a:r>
              <a:rPr lang="en-GB" dirty="0"/>
              <a:t>Multiple vendors engage in various orientations</a:t>
            </a:r>
          </a:p>
          <a:p>
            <a:r>
              <a:rPr lang="en-GB" dirty="0"/>
              <a:t>Interconnect in various configurations</a:t>
            </a:r>
          </a:p>
          <a:p>
            <a:r>
              <a:rPr lang="en-GB" dirty="0"/>
              <a:t>Any appropriate vendor system can take the inventory role</a:t>
            </a:r>
          </a:p>
          <a:p>
            <a:r>
              <a:rPr lang="en-GB" dirty="0"/>
              <a:t>The Use Case will be alignment via GET (notification will not be exercised at this stage)</a:t>
            </a:r>
          </a:p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FEA3F52-4EBE-73DD-BCBF-FAA400E9EB84}"/>
              </a:ext>
            </a:extLst>
          </p:cNvPr>
          <p:cNvSpPr/>
          <p:nvPr/>
        </p:nvSpPr>
        <p:spPr>
          <a:xfrm>
            <a:off x="7233155" y="2494722"/>
            <a:ext cx="1371600" cy="646043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Inventory role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6E2DEB-F8C7-277E-AEBF-1610CFA02440}"/>
              </a:ext>
            </a:extLst>
          </p:cNvPr>
          <p:cNvSpPr/>
          <p:nvPr/>
        </p:nvSpPr>
        <p:spPr>
          <a:xfrm>
            <a:off x="6153998" y="3944799"/>
            <a:ext cx="1371600" cy="646043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Controller role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CBE8AA-2713-5AF9-13B0-FEDA0D078D70}"/>
              </a:ext>
            </a:extLst>
          </p:cNvPr>
          <p:cNvSpPr/>
          <p:nvPr/>
        </p:nvSpPr>
        <p:spPr>
          <a:xfrm>
            <a:off x="8435879" y="3944799"/>
            <a:ext cx="1371600" cy="646043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Controller role</a:t>
            </a:r>
          </a:p>
        </p:txBody>
      </p:sp>
      <p:sp>
        <p:nvSpPr>
          <p:cNvPr id="7" name="Cloud 6">
            <a:extLst>
              <a:ext uri="{FF2B5EF4-FFF2-40B4-BE49-F238E27FC236}">
                <a16:creationId xmlns:a16="http://schemas.microsoft.com/office/drawing/2014/main" id="{4EAC32E7-04B9-25BD-6E7C-E21C4A1AF885}"/>
              </a:ext>
            </a:extLst>
          </p:cNvPr>
          <p:cNvSpPr/>
          <p:nvPr/>
        </p:nvSpPr>
        <p:spPr>
          <a:xfrm>
            <a:off x="5979214" y="5156886"/>
            <a:ext cx="1721170" cy="1020077"/>
          </a:xfrm>
          <a:prstGeom prst="cloud">
            <a:avLst/>
          </a:prstGeom>
          <a:solidFill>
            <a:schemeClr val="accent2">
              <a:lumMod val="20000"/>
              <a:lumOff val="80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Network</a:t>
            </a:r>
          </a:p>
        </p:txBody>
      </p:sp>
      <p:sp>
        <p:nvSpPr>
          <p:cNvPr id="8" name="Cloud 7">
            <a:extLst>
              <a:ext uri="{FF2B5EF4-FFF2-40B4-BE49-F238E27FC236}">
                <a16:creationId xmlns:a16="http://schemas.microsoft.com/office/drawing/2014/main" id="{AE50E7F9-ADBD-3813-6312-05AA48BD7C85}"/>
              </a:ext>
            </a:extLst>
          </p:cNvPr>
          <p:cNvSpPr/>
          <p:nvPr/>
        </p:nvSpPr>
        <p:spPr>
          <a:xfrm>
            <a:off x="8261095" y="5156886"/>
            <a:ext cx="1721170" cy="1020077"/>
          </a:xfrm>
          <a:prstGeom prst="cloud">
            <a:avLst/>
          </a:prstGeom>
          <a:solidFill>
            <a:schemeClr val="accent2">
              <a:lumMod val="20000"/>
              <a:lumOff val="80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Network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A35507B-C4AC-A734-8139-96F109220C4F}"/>
              </a:ext>
            </a:extLst>
          </p:cNvPr>
          <p:cNvCxnSpPr>
            <a:stCxn id="7" idx="3"/>
            <a:endCxn id="5" idx="2"/>
          </p:cNvCxnSpPr>
          <p:nvPr/>
        </p:nvCxnSpPr>
        <p:spPr>
          <a:xfrm flipH="1" flipV="1">
            <a:off x="6839798" y="4590842"/>
            <a:ext cx="1" cy="62436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96353EF-1714-9925-825A-BE6565910C64}"/>
              </a:ext>
            </a:extLst>
          </p:cNvPr>
          <p:cNvCxnSpPr>
            <a:stCxn id="8" idx="3"/>
            <a:endCxn id="6" idx="2"/>
          </p:cNvCxnSpPr>
          <p:nvPr/>
        </p:nvCxnSpPr>
        <p:spPr>
          <a:xfrm flipH="1" flipV="1">
            <a:off x="9121679" y="4590842"/>
            <a:ext cx="1" cy="62436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37BC07D-47EE-0031-D130-3EA5E115127D}"/>
              </a:ext>
            </a:extLst>
          </p:cNvPr>
          <p:cNvCxnSpPr>
            <a:stCxn id="5" idx="0"/>
            <a:endCxn id="4" idx="2"/>
          </p:cNvCxnSpPr>
          <p:nvPr/>
        </p:nvCxnSpPr>
        <p:spPr>
          <a:xfrm flipV="1">
            <a:off x="6839798" y="3140765"/>
            <a:ext cx="1079157" cy="8040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1B4E266-3DF0-40D0-0732-3FD70C94E308}"/>
              </a:ext>
            </a:extLst>
          </p:cNvPr>
          <p:cNvCxnSpPr>
            <a:stCxn id="6" idx="0"/>
            <a:endCxn id="4" idx="2"/>
          </p:cNvCxnSpPr>
          <p:nvPr/>
        </p:nvCxnSpPr>
        <p:spPr>
          <a:xfrm flipH="1" flipV="1">
            <a:off x="7918955" y="3140765"/>
            <a:ext cx="1202724" cy="8040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4A21AD2-45B3-33C9-02AB-7254B2C5B356}"/>
              </a:ext>
            </a:extLst>
          </p:cNvPr>
          <p:cNvSpPr txBox="1"/>
          <p:nvPr/>
        </p:nvSpPr>
        <p:spPr>
          <a:xfrm>
            <a:off x="5663114" y="2406890"/>
            <a:ext cx="14827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May be: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/>
              <a:t>Controller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/>
              <a:t>Orchestrator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/>
              <a:t>Inventory system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02EFB4D-6B23-1433-9A19-1CA2C1FBBE89}"/>
              </a:ext>
            </a:extLst>
          </p:cNvPr>
          <p:cNvSpPr txBox="1"/>
          <p:nvPr/>
        </p:nvSpPr>
        <p:spPr>
          <a:xfrm>
            <a:off x="10137010" y="5251425"/>
            <a:ext cx="205370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Network may be: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/>
              <a:t>An image in the controller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/>
              <a:t>A simulation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/>
              <a:t>Real hardware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EB205DF-E6E1-F7F5-418A-279ECDFB69F7}"/>
              </a:ext>
            </a:extLst>
          </p:cNvPr>
          <p:cNvCxnSpPr/>
          <p:nvPr/>
        </p:nvCxnSpPr>
        <p:spPr>
          <a:xfrm>
            <a:off x="7091323" y="3542782"/>
            <a:ext cx="178761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0B7E9043-61E4-0049-D956-710E8E6DF201}"/>
              </a:ext>
            </a:extLst>
          </p:cNvPr>
          <p:cNvSpPr txBox="1"/>
          <p:nvPr/>
        </p:nvSpPr>
        <p:spPr>
          <a:xfrm>
            <a:off x="7729859" y="3358116"/>
            <a:ext cx="44755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GB" dirty="0"/>
              <a:t>ivy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734B12-D9A7-AE5F-9394-9A4AADB98A02}"/>
              </a:ext>
            </a:extLst>
          </p:cNvPr>
          <p:cNvSpPr txBox="1"/>
          <p:nvPr/>
        </p:nvSpPr>
        <p:spPr>
          <a:xfrm>
            <a:off x="5425734" y="6244541"/>
            <a:ext cx="633266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Ideally network elements would be a mix of IP, Ethernet, OTN and optical where there were various NEs of different mixes of capabilities. This should have no impact on the ivy interface capability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49FFB6-05B0-E58E-1334-BA75DBC8BC50}"/>
              </a:ext>
            </a:extLst>
          </p:cNvPr>
          <p:cNvSpPr txBox="1"/>
          <p:nvPr/>
        </p:nvSpPr>
        <p:spPr>
          <a:xfrm>
            <a:off x="6947647" y="448236"/>
            <a:ext cx="46072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Note that this follows on from the successful</a:t>
            </a:r>
          </a:p>
          <a:p>
            <a:r>
              <a:rPr lang="en-GB" dirty="0">
                <a:solidFill>
                  <a:srgbClr val="FF0000"/>
                </a:solidFill>
                <a:hlinkClick r:id="rId2"/>
              </a:rPr>
              <a:t>IETF125 Hackathon</a:t>
            </a:r>
            <a:r>
              <a:rPr lang="en-GB" dirty="0">
                <a:solidFill>
                  <a:srgbClr val="FF0000"/>
                </a:solidFill>
              </a:rPr>
              <a:t> demonstration of IVY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28A110-CF53-A909-9D0F-3C079A5B6033}"/>
              </a:ext>
            </a:extLst>
          </p:cNvPr>
          <p:cNvSpPr txBox="1"/>
          <p:nvPr/>
        </p:nvSpPr>
        <p:spPr>
          <a:xfrm>
            <a:off x="9955374" y="4083154"/>
            <a:ext cx="21309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Display of inventory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14ADF12-6D68-CDC5-E87F-BECF22DDD927}"/>
              </a:ext>
            </a:extLst>
          </p:cNvPr>
          <p:cNvSpPr txBox="1"/>
          <p:nvPr/>
        </p:nvSpPr>
        <p:spPr>
          <a:xfrm>
            <a:off x="8971221" y="2640086"/>
            <a:ext cx="21309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Display of inventory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06FA771-6A9B-2E66-BF16-CAFA48E65BC5}"/>
              </a:ext>
            </a:extLst>
          </p:cNvPr>
          <p:cNvCxnSpPr>
            <a:cxnSpLocks/>
            <a:stCxn id="15" idx="2"/>
            <a:endCxn id="13" idx="0"/>
          </p:cNvCxnSpPr>
          <p:nvPr/>
        </p:nvCxnSpPr>
        <p:spPr>
          <a:xfrm>
            <a:off x="10036705" y="3009418"/>
            <a:ext cx="984153" cy="107373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6ACF935E-EE2F-DA1B-AF4C-CA31F4831CB0}"/>
              </a:ext>
            </a:extLst>
          </p:cNvPr>
          <p:cNvSpPr txBox="1"/>
          <p:nvPr/>
        </p:nvSpPr>
        <p:spPr>
          <a:xfrm>
            <a:off x="9526349" y="3344486"/>
            <a:ext cx="202222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Compare Content </a:t>
            </a:r>
          </a:p>
        </p:txBody>
      </p:sp>
    </p:spTree>
    <p:extLst>
      <p:ext uri="{BB962C8B-B14F-4D97-AF65-F5344CB8AC3E}">
        <p14:creationId xmlns:p14="http://schemas.microsoft.com/office/powerpoint/2010/main" val="27137678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849E2-E70E-A081-ABB2-D6B0AD845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2AE5B-49E5-F794-2808-12A501EB7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3017"/>
            <a:ext cx="10515600" cy="557513"/>
          </a:xfrm>
        </p:spPr>
        <p:txBody>
          <a:bodyPr>
            <a:normAutofit fontScale="90000"/>
          </a:bodyPr>
          <a:lstStyle/>
          <a:p>
            <a:r>
              <a:rPr lang="en-GB" dirty="0"/>
              <a:t>Ivy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7F1715-1414-EDA0-DB29-093F4A926C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0" y="800530"/>
            <a:ext cx="5181600" cy="5692345"/>
          </a:xfrm>
        </p:spPr>
        <p:txBody>
          <a:bodyPr vert="horz" lIns="91440" tIns="45720" rIns="91440" bIns="45720" rtlCol="0">
            <a:normAutofit fontScale="40000" lnSpcReduction="20000"/>
          </a:bodyPr>
          <a:lstStyle/>
          <a:p>
            <a:pPr marL="0" indent="0">
              <a:buNone/>
            </a:pPr>
            <a:r>
              <a:rPr lang="en-GB" sz="4000" b="1" dirty="0"/>
              <a:t>Useful links</a:t>
            </a:r>
            <a:endParaRPr lang="en-GB" sz="4000" b="1" dirty="0">
              <a:hlinkClick r:id="rId2"/>
            </a:endParaRPr>
          </a:p>
          <a:p>
            <a:r>
              <a:rPr lang="en-GB" sz="4000" dirty="0">
                <a:hlinkClick r:id="rId2"/>
              </a:rPr>
              <a:t>IETF | IETF 126 Hackathon</a:t>
            </a:r>
            <a:endParaRPr lang="en-GB" sz="4000" dirty="0"/>
          </a:p>
          <a:p>
            <a:r>
              <a:rPr lang="en-GB" sz="4000" dirty="0">
                <a:hlinkClick r:id="rId3"/>
              </a:rPr>
              <a:t>IETF 126 Hackathon | IETF Community Wiki</a:t>
            </a:r>
            <a:r>
              <a:rPr lang="en-GB" sz="4000" dirty="0"/>
              <a:t> (see YANG Data Model for Network Inventory (IVY) </a:t>
            </a:r>
            <a:r>
              <a:rPr lang="en-GB" sz="4000" dirty="0">
                <a:hlinkClick r:id="rId4"/>
              </a:rPr>
              <a:t>–</a:t>
            </a:r>
            <a:r>
              <a:rPr lang="en-GB" sz="4000" dirty="0"/>
              <a:t> 2)</a:t>
            </a:r>
            <a:endParaRPr lang="en-GB" sz="4000" dirty="0">
              <a:hlinkClick r:id="rId4"/>
            </a:endParaRPr>
          </a:p>
          <a:p>
            <a:r>
              <a:rPr lang="en-GB" sz="4000" dirty="0">
                <a:hlinkClick r:id="rId4"/>
              </a:rPr>
              <a:t>Network Inventory YANG (ivy)</a:t>
            </a:r>
            <a:endParaRPr lang="en-GB" sz="4000" dirty="0"/>
          </a:p>
          <a:p>
            <a:r>
              <a:rPr lang="en-GB" sz="4000" dirty="0">
                <a:hlinkClick r:id="rId5"/>
              </a:rPr>
              <a:t>draft-ietf-ivy-network-inventory-yang-18 - A Base YANG Data Model for Network Inventory</a:t>
            </a:r>
            <a:endParaRPr lang="en-GB" sz="4000" dirty="0">
              <a:hlinkClick r:id="rId5" tooltip="https://datatracker.ietf.org/doc/draft-ietf-ivy-network-inventory-yang/"/>
            </a:endParaRPr>
          </a:p>
          <a:p>
            <a:r>
              <a:rPr lang="en-GB" sz="4000" dirty="0" err="1">
                <a:hlinkClick r:id="rId6" tooltip="https://github.com/ietf-ivy-wg/network-inventory-yang"/>
              </a:rPr>
              <a:t>ietf</a:t>
            </a:r>
            <a:r>
              <a:rPr lang="en-GB" sz="4000" dirty="0">
                <a:hlinkClick r:id="rId6" tooltip="https://github.com/ietf-ivy-wg/network-inventory-yang"/>
              </a:rPr>
              <a:t>-ivy-</a:t>
            </a:r>
            <a:r>
              <a:rPr lang="en-GB" sz="4000" dirty="0" err="1">
                <a:hlinkClick r:id="rId6" tooltip="https://github.com/ietf-ivy-wg/network-inventory-yang"/>
              </a:rPr>
              <a:t>wg</a:t>
            </a:r>
            <a:r>
              <a:rPr lang="en-GB" sz="4000" dirty="0">
                <a:hlinkClick r:id="rId6" tooltip="https://github.com/ietf-ivy-wg/network-inventory-yang"/>
              </a:rPr>
              <a:t>/network-inventory-yang</a:t>
            </a:r>
            <a:endParaRPr lang="en-GB" sz="4000" dirty="0"/>
          </a:p>
          <a:p>
            <a:endParaRPr lang="en-GB" sz="4000" dirty="0"/>
          </a:p>
          <a:p>
            <a:endParaRPr lang="en-GB" sz="4000" dirty="0"/>
          </a:p>
          <a:p>
            <a:pPr marL="0" indent="0">
              <a:buNone/>
            </a:pPr>
            <a:endParaRPr lang="en-GB" sz="4000" dirty="0"/>
          </a:p>
          <a:p>
            <a:r>
              <a:rPr lang="en-GB" sz="4000" dirty="0"/>
              <a:t>The key structure is component</a:t>
            </a:r>
          </a:p>
          <a:p>
            <a:r>
              <a:rPr lang="en-GB" sz="4000" dirty="0"/>
              <a:t>Component represents equipment, holder, pluggable etc.</a:t>
            </a:r>
          </a:p>
          <a:p>
            <a:r>
              <a:rPr lang="en-GB" sz="4000" dirty="0"/>
              <a:t>Most properties are clear in meaning</a:t>
            </a:r>
          </a:p>
          <a:p>
            <a:pPr lvl="1"/>
            <a:r>
              <a:rPr lang="en-GB" sz="3600" dirty="0"/>
              <a:t>For holder, most properties are not required</a:t>
            </a:r>
          </a:p>
          <a:p>
            <a:r>
              <a:rPr lang="en-GB" sz="4000" dirty="0"/>
              <a:t>Compared to TAPI</a:t>
            </a:r>
          </a:p>
          <a:p>
            <a:pPr lvl="1"/>
            <a:r>
              <a:rPr lang="en-GB" sz="3600" dirty="0"/>
              <a:t>The model does not support expectation/actual split</a:t>
            </a:r>
          </a:p>
          <a:p>
            <a:pPr lvl="1"/>
            <a:r>
              <a:rPr lang="en-GB" sz="3600" dirty="0"/>
              <a:t>There is not access-port or physical-span</a:t>
            </a:r>
          </a:p>
          <a:p>
            <a:r>
              <a:rPr lang="en-GB" sz="4000" dirty="0"/>
              <a:t>Need to do a property by property comparison of </a:t>
            </a:r>
            <a:r>
              <a:rPr lang="en-GB" sz="4000" dirty="0" err="1"/>
              <a:t>tapi</a:t>
            </a:r>
            <a:r>
              <a:rPr lang="en-GB" sz="4000" dirty="0"/>
              <a:t>-equipment to determine precisely what is missing</a:t>
            </a:r>
          </a:p>
          <a:p>
            <a:pPr lvl="1"/>
            <a:endParaRPr lang="en-GB" sz="3600" dirty="0"/>
          </a:p>
          <a:p>
            <a:endParaRPr lang="en-GB" sz="40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24D249-77DE-30E0-71F2-CC34C71C1B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796412"/>
            <a:ext cx="5181600" cy="5927123"/>
          </a:xfrm>
        </p:spPr>
        <p:txBody>
          <a:bodyPr vert="horz" lIns="91440" tIns="45720" rIns="91440" bIns="45720" rtlCol="0">
            <a:normAutofit fontScale="40000" lnSpcReduction="20000"/>
          </a:bodyPr>
          <a:lstStyle/>
          <a:p>
            <a:pPr marL="0" indent="0">
              <a:spcBef>
                <a:spcPts val="100"/>
              </a:spcBef>
              <a:buNone/>
            </a:pPr>
            <a:r>
              <a:rPr lang="en-GB" dirty="0"/>
              <a:t> module: </a:t>
            </a:r>
            <a:r>
              <a:rPr lang="en-GB" dirty="0" err="1"/>
              <a:t>ietf</a:t>
            </a:r>
            <a:r>
              <a:rPr lang="en-GB" dirty="0"/>
              <a:t>-network-inventory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GB" dirty="0"/>
              <a:t>     +--</a:t>
            </a:r>
            <a:r>
              <a:rPr lang="en-GB" dirty="0" err="1"/>
              <a:t>ro</a:t>
            </a:r>
            <a:r>
              <a:rPr lang="en-GB" dirty="0"/>
              <a:t> network-inventory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GB" dirty="0"/>
              <a:t>        +--</a:t>
            </a:r>
            <a:r>
              <a:rPr lang="en-GB" dirty="0" err="1"/>
              <a:t>ro</a:t>
            </a:r>
            <a:r>
              <a:rPr lang="en-GB" dirty="0"/>
              <a:t> network-elements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GB" dirty="0"/>
              <a:t>           +--</a:t>
            </a:r>
            <a:r>
              <a:rPr lang="en-GB" dirty="0" err="1"/>
              <a:t>ro</a:t>
            </a:r>
            <a:r>
              <a:rPr lang="en-GB" dirty="0"/>
              <a:t> network-element* [ne-id]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GB" dirty="0"/>
              <a:t>              +--</a:t>
            </a:r>
            <a:r>
              <a:rPr lang="en-GB" dirty="0" err="1"/>
              <a:t>ro</a:t>
            </a:r>
            <a:r>
              <a:rPr lang="en-GB" dirty="0"/>
              <a:t> ne-id           string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GB" dirty="0"/>
              <a:t>              +--</a:t>
            </a:r>
            <a:r>
              <a:rPr lang="en-GB" dirty="0" err="1"/>
              <a:t>ro</a:t>
            </a:r>
            <a:r>
              <a:rPr lang="en-GB" dirty="0"/>
              <a:t> ne-type?        </a:t>
            </a:r>
            <a:r>
              <a:rPr lang="en-GB" dirty="0" err="1"/>
              <a:t>identityref</a:t>
            </a:r>
            <a:endParaRPr lang="en-GB" dirty="0"/>
          </a:p>
          <a:p>
            <a:pPr marL="0" indent="0">
              <a:spcBef>
                <a:spcPts val="100"/>
              </a:spcBef>
              <a:buNone/>
            </a:pPr>
            <a:r>
              <a:rPr lang="en-GB" dirty="0"/>
              <a:t>              +--</a:t>
            </a:r>
            <a:r>
              <a:rPr lang="en-GB" dirty="0" err="1"/>
              <a:t>ro</a:t>
            </a:r>
            <a:r>
              <a:rPr lang="en-GB" dirty="0"/>
              <a:t> </a:t>
            </a:r>
            <a:r>
              <a:rPr lang="en-GB" dirty="0" err="1"/>
              <a:t>uuid</a:t>
            </a:r>
            <a:r>
              <a:rPr lang="en-GB" dirty="0"/>
              <a:t>?           </a:t>
            </a:r>
            <a:r>
              <a:rPr lang="en-GB" dirty="0" err="1"/>
              <a:t>yang:uuid</a:t>
            </a:r>
            <a:endParaRPr lang="en-GB" dirty="0"/>
          </a:p>
          <a:p>
            <a:pPr marL="0" indent="0">
              <a:spcBef>
                <a:spcPts val="100"/>
              </a:spcBef>
              <a:buNone/>
            </a:pPr>
            <a:r>
              <a:rPr lang="en-GB" dirty="0"/>
              <a:t>              +--</a:t>
            </a:r>
            <a:r>
              <a:rPr lang="en-GB" dirty="0" err="1"/>
              <a:t>ro</a:t>
            </a:r>
            <a:r>
              <a:rPr lang="en-GB" dirty="0"/>
              <a:t> name?           string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GB" dirty="0"/>
              <a:t>              +--</a:t>
            </a:r>
            <a:r>
              <a:rPr lang="en-GB" dirty="0" err="1"/>
              <a:t>ro</a:t>
            </a:r>
            <a:r>
              <a:rPr lang="en-GB" dirty="0"/>
              <a:t> alias?          string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GB" dirty="0"/>
              <a:t>              +--</a:t>
            </a:r>
            <a:r>
              <a:rPr lang="en-GB" dirty="0" err="1"/>
              <a:t>ro</a:t>
            </a:r>
            <a:r>
              <a:rPr lang="en-GB" dirty="0"/>
              <a:t> description?    string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GB" dirty="0"/>
              <a:t>              +--</a:t>
            </a:r>
            <a:r>
              <a:rPr lang="en-GB" dirty="0" err="1"/>
              <a:t>ro</a:t>
            </a:r>
            <a:r>
              <a:rPr lang="en-GB" dirty="0"/>
              <a:t> software-rev* [name]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GB" dirty="0"/>
              <a:t>              |  +--</a:t>
            </a:r>
            <a:r>
              <a:rPr lang="en-GB" dirty="0" err="1"/>
              <a:t>ro</a:t>
            </a:r>
            <a:r>
              <a:rPr lang="en-GB" dirty="0"/>
              <a:t> name        string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GB" dirty="0"/>
              <a:t>              |  +--</a:t>
            </a:r>
            <a:r>
              <a:rPr lang="en-GB" dirty="0" err="1"/>
              <a:t>ro</a:t>
            </a:r>
            <a:r>
              <a:rPr lang="en-GB" dirty="0"/>
              <a:t> revision?   string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GB" dirty="0"/>
              <a:t>              |  +--</a:t>
            </a:r>
            <a:r>
              <a:rPr lang="en-GB" dirty="0" err="1"/>
              <a:t>ro</a:t>
            </a:r>
            <a:r>
              <a:rPr lang="en-GB" dirty="0"/>
              <a:t> patch* [revision]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GB" dirty="0"/>
              <a:t>              |     +--</a:t>
            </a:r>
            <a:r>
              <a:rPr lang="en-GB" dirty="0" err="1"/>
              <a:t>ro</a:t>
            </a:r>
            <a:r>
              <a:rPr lang="en-GB" dirty="0"/>
              <a:t> revision    string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GB" dirty="0"/>
              <a:t>              +--</a:t>
            </a:r>
            <a:r>
              <a:rPr lang="en-GB" dirty="0" err="1"/>
              <a:t>ro</a:t>
            </a:r>
            <a:r>
              <a:rPr lang="en-GB" dirty="0"/>
              <a:t> </a:t>
            </a:r>
            <a:r>
              <a:rPr lang="en-GB" dirty="0" err="1"/>
              <a:t>mfg</a:t>
            </a:r>
            <a:r>
              <a:rPr lang="en-GB" dirty="0"/>
              <a:t>-name?       string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GB" dirty="0"/>
              <a:t>              +--</a:t>
            </a:r>
            <a:r>
              <a:rPr lang="en-GB" dirty="0" err="1"/>
              <a:t>ro</a:t>
            </a:r>
            <a:r>
              <a:rPr lang="en-GB" dirty="0"/>
              <a:t> product-name?   string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GB" dirty="0"/>
              <a:t>              +--</a:t>
            </a:r>
            <a:r>
              <a:rPr lang="en-GB" dirty="0" err="1"/>
              <a:t>ro</a:t>
            </a:r>
            <a:r>
              <a:rPr lang="en-GB" dirty="0"/>
              <a:t> product-rev?    string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GB" dirty="0"/>
              <a:t>              +--</a:t>
            </a:r>
            <a:r>
              <a:rPr lang="en-GB" dirty="0" err="1"/>
              <a:t>ro</a:t>
            </a:r>
            <a:r>
              <a:rPr lang="en-GB" dirty="0"/>
              <a:t> components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GB" dirty="0"/>
              <a:t>                 +--</a:t>
            </a:r>
            <a:r>
              <a:rPr lang="en-GB" dirty="0" err="1"/>
              <a:t>ro</a:t>
            </a:r>
            <a:r>
              <a:rPr lang="en-GB" dirty="0"/>
              <a:t> component* [component-id]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GB" dirty="0"/>
              <a:t>                    +--</a:t>
            </a:r>
            <a:r>
              <a:rPr lang="en-GB" dirty="0" err="1"/>
              <a:t>ro</a:t>
            </a:r>
            <a:r>
              <a:rPr lang="en-GB" dirty="0"/>
              <a:t> component-id      string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GB" dirty="0"/>
              <a:t>                    +--</a:t>
            </a:r>
            <a:r>
              <a:rPr lang="en-GB" dirty="0" err="1"/>
              <a:t>ro</a:t>
            </a:r>
            <a:r>
              <a:rPr lang="en-GB" dirty="0"/>
              <a:t> class             union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GB" dirty="0"/>
              <a:t>                    +--</a:t>
            </a:r>
            <a:r>
              <a:rPr lang="en-GB" dirty="0" err="1"/>
              <a:t>ro</a:t>
            </a:r>
            <a:r>
              <a:rPr lang="en-GB" dirty="0"/>
              <a:t> </a:t>
            </a:r>
            <a:r>
              <a:rPr lang="en-GB" dirty="0" err="1"/>
              <a:t>uuid</a:t>
            </a:r>
            <a:r>
              <a:rPr lang="en-GB" dirty="0"/>
              <a:t>?             </a:t>
            </a:r>
            <a:r>
              <a:rPr lang="en-GB" dirty="0" err="1"/>
              <a:t>yang:uuid</a:t>
            </a:r>
            <a:endParaRPr lang="en-GB" dirty="0"/>
          </a:p>
          <a:p>
            <a:pPr marL="0" indent="0">
              <a:spcBef>
                <a:spcPts val="100"/>
              </a:spcBef>
              <a:buNone/>
            </a:pPr>
            <a:r>
              <a:rPr lang="en-GB" dirty="0"/>
              <a:t>                    +--</a:t>
            </a:r>
            <a:r>
              <a:rPr lang="en-GB" dirty="0" err="1"/>
              <a:t>ro</a:t>
            </a:r>
            <a:r>
              <a:rPr lang="en-GB" dirty="0"/>
              <a:t> name?             string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GB" dirty="0"/>
              <a:t>                    +--</a:t>
            </a:r>
            <a:r>
              <a:rPr lang="en-GB" dirty="0" err="1"/>
              <a:t>ro</a:t>
            </a:r>
            <a:r>
              <a:rPr lang="en-GB" dirty="0"/>
              <a:t> alias?            string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GB" dirty="0"/>
              <a:t>                    +--</a:t>
            </a:r>
            <a:r>
              <a:rPr lang="en-GB" dirty="0" err="1"/>
              <a:t>ro</a:t>
            </a:r>
            <a:r>
              <a:rPr lang="en-GB" dirty="0"/>
              <a:t> description?      string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GB" dirty="0"/>
              <a:t>                    +--</a:t>
            </a:r>
            <a:r>
              <a:rPr lang="en-GB" dirty="0" err="1"/>
              <a:t>ro</a:t>
            </a:r>
            <a:r>
              <a:rPr lang="en-GB" dirty="0"/>
              <a:t> software-rev* [name]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GB" dirty="0"/>
              <a:t>                    |  +--</a:t>
            </a:r>
            <a:r>
              <a:rPr lang="en-GB" dirty="0" err="1"/>
              <a:t>ro</a:t>
            </a:r>
            <a:r>
              <a:rPr lang="en-GB" dirty="0"/>
              <a:t> name        string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GB" dirty="0"/>
              <a:t>                    |  +--</a:t>
            </a:r>
            <a:r>
              <a:rPr lang="en-GB" dirty="0" err="1"/>
              <a:t>ro</a:t>
            </a:r>
            <a:r>
              <a:rPr lang="en-GB" dirty="0"/>
              <a:t> revision?   string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GB" dirty="0"/>
              <a:t>                    |  +--</a:t>
            </a:r>
            <a:r>
              <a:rPr lang="en-GB" dirty="0" err="1"/>
              <a:t>ro</a:t>
            </a:r>
            <a:r>
              <a:rPr lang="en-GB" dirty="0"/>
              <a:t> patch* [revision]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GB" dirty="0"/>
              <a:t>                    |     +--</a:t>
            </a:r>
            <a:r>
              <a:rPr lang="en-GB" dirty="0" err="1"/>
              <a:t>ro</a:t>
            </a:r>
            <a:r>
              <a:rPr lang="en-GB" dirty="0"/>
              <a:t> revision    string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GB" dirty="0"/>
              <a:t>                    +--</a:t>
            </a:r>
            <a:r>
              <a:rPr lang="en-GB" dirty="0" err="1"/>
              <a:t>ro</a:t>
            </a:r>
            <a:r>
              <a:rPr lang="en-GB" dirty="0"/>
              <a:t> </a:t>
            </a:r>
            <a:r>
              <a:rPr lang="en-GB" dirty="0" err="1"/>
              <a:t>mfg</a:t>
            </a:r>
            <a:r>
              <a:rPr lang="en-GB" dirty="0"/>
              <a:t>-name?         string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GB" dirty="0"/>
              <a:t>                    +--</a:t>
            </a:r>
            <a:r>
              <a:rPr lang="en-GB" dirty="0" err="1"/>
              <a:t>ro</a:t>
            </a:r>
            <a:r>
              <a:rPr lang="en-GB" dirty="0"/>
              <a:t> product-name?     string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GB" dirty="0"/>
              <a:t>                    +--</a:t>
            </a:r>
            <a:r>
              <a:rPr lang="en-GB" dirty="0" err="1"/>
              <a:t>ro</a:t>
            </a:r>
            <a:r>
              <a:rPr lang="en-GB" dirty="0"/>
              <a:t> hardware-rev?     string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GB" dirty="0"/>
              <a:t>                    +--</a:t>
            </a:r>
            <a:r>
              <a:rPr lang="en-GB" dirty="0" err="1"/>
              <a:t>ro</a:t>
            </a:r>
            <a:r>
              <a:rPr lang="en-GB" dirty="0"/>
              <a:t> </a:t>
            </a:r>
            <a:r>
              <a:rPr lang="en-GB" dirty="0" err="1"/>
              <a:t>mfg</a:t>
            </a:r>
            <a:r>
              <a:rPr lang="en-GB" dirty="0"/>
              <a:t>-date?         </a:t>
            </a:r>
            <a:r>
              <a:rPr lang="en-GB" dirty="0" err="1"/>
              <a:t>yang:date-and-time</a:t>
            </a:r>
            <a:endParaRPr lang="en-GB" dirty="0"/>
          </a:p>
          <a:p>
            <a:pPr marL="0" indent="0">
              <a:spcBef>
                <a:spcPts val="100"/>
              </a:spcBef>
              <a:buNone/>
            </a:pPr>
            <a:r>
              <a:rPr lang="en-GB" dirty="0"/>
              <a:t>                    +--</a:t>
            </a:r>
            <a:r>
              <a:rPr lang="en-GB" dirty="0" err="1"/>
              <a:t>ro</a:t>
            </a:r>
            <a:r>
              <a:rPr lang="en-GB" dirty="0"/>
              <a:t> part-number?      string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GB" dirty="0"/>
              <a:t>                    +--</a:t>
            </a:r>
            <a:r>
              <a:rPr lang="en-GB" dirty="0" err="1"/>
              <a:t>ro</a:t>
            </a:r>
            <a:r>
              <a:rPr lang="en-GB" dirty="0"/>
              <a:t> serial-number?    string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GB" dirty="0"/>
              <a:t>                    +--</a:t>
            </a:r>
            <a:r>
              <a:rPr lang="en-GB" dirty="0" err="1"/>
              <a:t>ro</a:t>
            </a:r>
            <a:r>
              <a:rPr lang="en-GB" dirty="0"/>
              <a:t> asset-id?         string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GB" dirty="0"/>
              <a:t>                    +--</a:t>
            </a:r>
            <a:r>
              <a:rPr lang="en-GB" dirty="0" err="1"/>
              <a:t>ro</a:t>
            </a:r>
            <a:r>
              <a:rPr lang="en-GB" dirty="0"/>
              <a:t> is-</a:t>
            </a:r>
            <a:r>
              <a:rPr lang="en-GB" dirty="0" err="1"/>
              <a:t>fru</a:t>
            </a:r>
            <a:r>
              <a:rPr lang="en-GB" dirty="0"/>
              <a:t>?           </a:t>
            </a:r>
            <a:r>
              <a:rPr lang="en-GB" dirty="0" err="1"/>
              <a:t>boolean</a:t>
            </a:r>
            <a:endParaRPr lang="en-GB" dirty="0"/>
          </a:p>
          <a:p>
            <a:pPr marL="0" indent="0">
              <a:spcBef>
                <a:spcPts val="100"/>
              </a:spcBef>
              <a:buNone/>
            </a:pPr>
            <a:r>
              <a:rPr lang="en-GB" dirty="0"/>
              <a:t>                    +--</a:t>
            </a:r>
            <a:r>
              <a:rPr lang="en-GB" dirty="0" err="1"/>
              <a:t>ro</a:t>
            </a:r>
            <a:r>
              <a:rPr lang="en-GB" dirty="0"/>
              <a:t> </a:t>
            </a:r>
            <a:r>
              <a:rPr lang="en-GB" dirty="0" err="1"/>
              <a:t>uri</a:t>
            </a:r>
            <a:r>
              <a:rPr lang="en-GB" dirty="0"/>
              <a:t>*              </a:t>
            </a:r>
            <a:r>
              <a:rPr lang="en-GB" dirty="0" err="1"/>
              <a:t>inet:uri</a:t>
            </a:r>
            <a:endParaRPr lang="en-GB" dirty="0"/>
          </a:p>
          <a:p>
            <a:pPr marL="0" indent="0">
              <a:spcBef>
                <a:spcPts val="100"/>
              </a:spcBef>
              <a:buNone/>
            </a:pPr>
            <a:r>
              <a:rPr lang="en-GB" dirty="0"/>
              <a:t>                    +--</a:t>
            </a:r>
            <a:r>
              <a:rPr lang="en-GB" dirty="0" err="1"/>
              <a:t>ro</a:t>
            </a:r>
            <a:r>
              <a:rPr lang="en-GB" dirty="0"/>
              <a:t> parent*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GB" dirty="0"/>
              <a:t>                    |       -&gt; ../../component/component-id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GB" dirty="0"/>
              <a:t>                    +--</a:t>
            </a:r>
            <a:r>
              <a:rPr lang="en-GB" dirty="0" err="1"/>
              <a:t>ro</a:t>
            </a:r>
            <a:r>
              <a:rPr lang="en-GB" dirty="0"/>
              <a:t> parent-</a:t>
            </a:r>
            <a:r>
              <a:rPr lang="en-GB" dirty="0" err="1"/>
              <a:t>rel</a:t>
            </a:r>
            <a:r>
              <a:rPr lang="en-GB" dirty="0"/>
              <a:t>-</a:t>
            </a:r>
            <a:r>
              <a:rPr lang="en-GB" dirty="0" err="1"/>
              <a:t>pos</a:t>
            </a:r>
            <a:r>
              <a:rPr lang="en-GB" dirty="0"/>
              <a:t>?   string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GB" dirty="0"/>
              <a:t>                    +--</a:t>
            </a:r>
            <a:r>
              <a:rPr lang="en-GB" dirty="0" err="1"/>
              <a:t>ro</a:t>
            </a:r>
            <a:r>
              <a:rPr lang="en-GB" dirty="0"/>
              <a:t> is-main?          </a:t>
            </a:r>
            <a:r>
              <a:rPr lang="en-GB" dirty="0" err="1"/>
              <a:t>boolean</a:t>
            </a:r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255E1D-4156-FC3E-A70B-E14900317C5D}"/>
              </a:ext>
            </a:extLst>
          </p:cNvPr>
          <p:cNvSpPr/>
          <p:nvPr/>
        </p:nvSpPr>
        <p:spPr>
          <a:xfrm>
            <a:off x="1215081" y="3304833"/>
            <a:ext cx="2866768" cy="327865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AE141C8-0EE7-36B9-B3FB-823CF91F819A}"/>
              </a:ext>
            </a:extLst>
          </p:cNvPr>
          <p:cNvCxnSpPr/>
          <p:nvPr/>
        </p:nvCxnSpPr>
        <p:spPr>
          <a:xfrm flipH="1">
            <a:off x="4365812" y="4607859"/>
            <a:ext cx="1586753" cy="1344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49697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5A820-7E8A-1EFC-3529-25530B260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Objectives of Hackathon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A3D590-8678-6B9D-26E2-1979324AE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dirty="0"/>
              <a:t>Demonstrate that systems can connect</a:t>
            </a:r>
          </a:p>
          <a:p>
            <a:pPr lvl="1"/>
            <a:r>
              <a:rPr lang="en-GB" dirty="0"/>
              <a:t>Prove this prior to the actual hackathon to save wasted time</a:t>
            </a:r>
          </a:p>
          <a:p>
            <a:r>
              <a:rPr lang="en-GB" dirty="0"/>
              <a:t>Demonstrate ivy can convey inventory</a:t>
            </a:r>
          </a:p>
          <a:p>
            <a:pPr lvl="1"/>
            <a:r>
              <a:rPr lang="en-GB" dirty="0"/>
              <a:t>Partly exercise this prior to actual hackathon, again to save wasting time</a:t>
            </a:r>
          </a:p>
          <a:p>
            <a:r>
              <a:rPr lang="en-GB" dirty="0"/>
              <a:t>Exercise inventory detail</a:t>
            </a:r>
          </a:p>
          <a:p>
            <a:pPr lvl="1"/>
            <a:r>
              <a:rPr lang="en-GB" dirty="0"/>
              <a:t>Get all inventory then display</a:t>
            </a:r>
          </a:p>
          <a:p>
            <a:r>
              <a:rPr lang="en-GB" dirty="0"/>
              <a:t>Explore for missing detail</a:t>
            </a:r>
          </a:p>
          <a:p>
            <a:pPr lvl="1"/>
            <a:r>
              <a:rPr lang="en-GB" dirty="0"/>
              <a:t>Compare display on inventory role with display on controller role devices</a:t>
            </a:r>
          </a:p>
          <a:p>
            <a:r>
              <a:rPr lang="en-GB" dirty="0"/>
              <a:t>Add properties to model and convey new data</a:t>
            </a:r>
          </a:p>
          <a:p>
            <a:r>
              <a:rPr lang="en-GB" dirty="0"/>
              <a:t>Compare with TAPI and add further properties where obvious</a:t>
            </a:r>
          </a:p>
          <a:p>
            <a:r>
              <a:rPr lang="en-GB" dirty="0"/>
              <a:t>Highlight discrepancies</a:t>
            </a:r>
          </a:p>
          <a:p>
            <a:r>
              <a:rPr lang="en-GB" dirty="0"/>
              <a:t>Consult operators on relevance of shortfalls</a:t>
            </a:r>
          </a:p>
          <a:p>
            <a:r>
              <a:rPr lang="en-GB" dirty="0"/>
              <a:t>Propose additions to IVY as appropriate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123FDF-C979-AD08-D8B0-431333FEC310}"/>
              </a:ext>
            </a:extLst>
          </p:cNvPr>
          <p:cNvSpPr txBox="1"/>
          <p:nvPr/>
        </p:nvSpPr>
        <p:spPr>
          <a:xfrm>
            <a:off x="8551612" y="196909"/>
            <a:ext cx="35059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rgbClr val="FF0000"/>
                </a:solidFill>
              </a:rPr>
              <a:t>This is a validation of the use of ivy equipment.</a:t>
            </a:r>
          </a:p>
          <a:p>
            <a:r>
              <a:rPr lang="en-GB" sz="1200" dirty="0">
                <a:solidFill>
                  <a:srgbClr val="FF0000"/>
                </a:solidFill>
              </a:rPr>
              <a:t>The activity will NOT cover Topology models, Service models, IP capabilities, Photonic capabilities… Etc.</a:t>
            </a:r>
          </a:p>
        </p:txBody>
      </p:sp>
    </p:spTree>
    <p:extLst>
      <p:ext uri="{BB962C8B-B14F-4D97-AF65-F5344CB8AC3E}">
        <p14:creationId xmlns:p14="http://schemas.microsoft.com/office/powerpoint/2010/main" val="16544056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3C6D9-A857-8509-BFF0-AFD8EEB63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Sketch of possible arrangements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52058E-AE4C-E005-DFE4-314A428FEAB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Vendor W brings a controller that can perform both roles</a:t>
            </a:r>
          </a:p>
          <a:p>
            <a:r>
              <a:rPr lang="en-GB" dirty="0"/>
              <a:t>Vendor X brings two distinct controllers one for inventory role and one for controller role</a:t>
            </a:r>
          </a:p>
          <a:p>
            <a:r>
              <a:rPr lang="en-GB" dirty="0"/>
              <a:t>Vendor Y only brings an inventory solution</a:t>
            </a:r>
          </a:p>
          <a:p>
            <a:r>
              <a:rPr lang="en-GB" dirty="0"/>
              <a:t>Vendor Z brings a controller that supports the controller role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097433F-A93B-5A93-401B-F0EB8B481D7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844191310"/>
              </p:ext>
            </p:extLst>
          </p:nvPr>
        </p:nvGraphicFramePr>
        <p:xfrm>
          <a:off x="6172200" y="1825625"/>
          <a:ext cx="518160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1509559164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617320654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4204771843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16519736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Controller</a:t>
                      </a:r>
                    </a:p>
                    <a:p>
                      <a:r>
                        <a:rPr lang="en-GB" dirty="0"/>
                        <a:t>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Inventory</a:t>
                      </a:r>
                    </a:p>
                    <a:p>
                      <a:r>
                        <a:rPr lang="en-GB" dirty="0"/>
                        <a:t>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25359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Config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W, </a:t>
                      </a:r>
                      <a:r>
                        <a:rPr lang="en-GB" dirty="0" err="1"/>
                        <a:t>Xc</a:t>
                      </a:r>
                      <a:r>
                        <a:rPr lang="en-GB" dirty="0"/>
                        <a:t>, 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00208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Config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W, </a:t>
                      </a:r>
                      <a:r>
                        <a:rPr lang="en-GB" dirty="0" err="1"/>
                        <a:t>Xc</a:t>
                      </a:r>
                      <a:r>
                        <a:rPr lang="en-GB" dirty="0"/>
                        <a:t>, 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Xi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49085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Config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W, </a:t>
                      </a:r>
                      <a:r>
                        <a:rPr lang="en-GB" dirty="0" err="1"/>
                        <a:t>Xc</a:t>
                      </a:r>
                      <a:r>
                        <a:rPr lang="en-GB" dirty="0"/>
                        <a:t>, 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3809635"/>
                  </a:ext>
                </a:extLst>
              </a:tr>
            </a:tbl>
          </a:graphicData>
        </a:graphic>
      </p:graphicFrame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DEE7930-2258-7133-7BC9-398DD362EA89}"/>
              </a:ext>
            </a:extLst>
          </p:cNvPr>
          <p:cNvSpPr txBox="1">
            <a:spLocks/>
          </p:cNvSpPr>
          <p:nvPr/>
        </p:nvSpPr>
        <p:spPr>
          <a:xfrm>
            <a:off x="6172200" y="3777993"/>
            <a:ext cx="5181600" cy="239897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One or more vendors may also have a TAPI equipment capability</a:t>
            </a:r>
          </a:p>
          <a:p>
            <a:r>
              <a:rPr lang="en-GB" dirty="0"/>
              <a:t>Single vendor or multi-vendor interconnect may be achievable</a:t>
            </a:r>
          </a:p>
          <a:p>
            <a:r>
              <a:rPr lang="en-GB" dirty="0"/>
              <a:t>Comparison of information transferred by TAPI may be of value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403259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5739C-8C17-7450-9501-5CC8B33B6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Prior to hackathon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45D21A-762F-5F3D-AFA7-AC31BA0F4E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In ivy</a:t>
            </a:r>
          </a:p>
          <a:p>
            <a:pPr lvl="1"/>
            <a:r>
              <a:rPr lang="en-GB" dirty="0"/>
              <a:t>Agree use cases as described in these slides</a:t>
            </a:r>
          </a:p>
          <a:p>
            <a:pPr lvl="1"/>
            <a:r>
              <a:rPr lang="en-GB" dirty="0"/>
              <a:t>Agree interaction formats etc.</a:t>
            </a:r>
          </a:p>
          <a:p>
            <a:endParaRPr lang="en-GB" dirty="0"/>
          </a:p>
          <a:p>
            <a:r>
              <a:rPr lang="en-GB" dirty="0"/>
              <a:t>Participants</a:t>
            </a:r>
          </a:p>
          <a:p>
            <a:pPr lvl="1"/>
            <a:r>
              <a:rPr lang="en-GB" dirty="0"/>
              <a:t>Determine which systems will be used</a:t>
            </a:r>
          </a:p>
          <a:p>
            <a:pPr lvl="1"/>
            <a:r>
              <a:rPr lang="en-GB" dirty="0"/>
              <a:t>Identify design resources to be on site</a:t>
            </a:r>
          </a:p>
          <a:p>
            <a:pPr lvl="1"/>
            <a:r>
              <a:rPr lang="en-GB" dirty="0"/>
              <a:t>Develop/refine NBI and SBI as appropriate</a:t>
            </a:r>
          </a:p>
          <a:p>
            <a:pPr lvl="1"/>
            <a:r>
              <a:rPr lang="en-GB" dirty="0"/>
              <a:t>Validate interconnect with other vendors via various pairwise interactions</a:t>
            </a:r>
          </a:p>
          <a:p>
            <a:pPr lvl="2"/>
            <a:r>
              <a:rPr lang="en-GB" dirty="0"/>
              <a:t>Simply connect</a:t>
            </a:r>
          </a:p>
          <a:p>
            <a:pPr lvl="2"/>
            <a:r>
              <a:rPr lang="en-GB" dirty="0"/>
              <a:t>Try a get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342577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E9C8BC0-9206-FDC5-EA3C-611CD4C1E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Vision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FB6F03-E39F-1A8D-BAFD-3968418335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dirty="0"/>
              <a:t>Currently the IVY model provides less than TAPI and TAPI uses some more compact modelling patterns</a:t>
            </a:r>
          </a:p>
          <a:p>
            <a:r>
              <a:rPr lang="en-GB" dirty="0"/>
              <a:t>Through the Hackathon and via consultation with operators, add to IVY to cover gaps such that IVY covers all relevant capabilities of TAPI</a:t>
            </a:r>
          </a:p>
          <a:p>
            <a:r>
              <a:rPr lang="en-GB" dirty="0"/>
              <a:t>Refine the IVY model to align with TAPI patterns where agreed</a:t>
            </a:r>
          </a:p>
          <a:p>
            <a:r>
              <a:rPr lang="en-GB" dirty="0"/>
              <a:t>Demonstrate equivalence in parallel TAPI/IVY interfacing</a:t>
            </a:r>
          </a:p>
          <a:p>
            <a:r>
              <a:rPr lang="en-GB" dirty="0"/>
              <a:t>Build prototype TAPI with IVY equipment</a:t>
            </a:r>
          </a:p>
          <a:p>
            <a:r>
              <a:rPr lang="en-GB" dirty="0"/>
              <a:t>Demonstrate migration opportunity (using CoPilot/LLMs to assist in code and documentation)</a:t>
            </a:r>
          </a:p>
          <a:p>
            <a:r>
              <a:rPr lang="en-GB" dirty="0"/>
              <a:t>Define value-justified steps (vendors and operators)</a:t>
            </a:r>
          </a:p>
          <a:p>
            <a:r>
              <a:rPr lang="en-GB" dirty="0"/>
              <a:t>Coordinate migration from TAPI Equipment to IVY Equipment across the industry</a:t>
            </a:r>
          </a:p>
          <a:p>
            <a:r>
              <a:rPr lang="en-GB" dirty="0"/>
              <a:t>Consider OC advancements in a similar way</a:t>
            </a:r>
          </a:p>
        </p:txBody>
      </p:sp>
    </p:spTree>
    <p:extLst>
      <p:ext uri="{BB962C8B-B14F-4D97-AF65-F5344CB8AC3E}">
        <p14:creationId xmlns:p14="http://schemas.microsoft.com/office/powerpoint/2010/main" val="2115086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E1C08-28CD-A5C6-78F6-4153DC4E7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will not be explored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0934EE-C930-5761-3FD8-B42164D32D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Topology models and interconnect between systems exposing topology</a:t>
            </a:r>
          </a:p>
          <a:p>
            <a:r>
              <a:rPr lang="en-GB" dirty="0"/>
              <a:t>Service models</a:t>
            </a:r>
          </a:p>
          <a:p>
            <a:r>
              <a:rPr lang="en-GB" dirty="0"/>
              <a:t>IP capabilities</a:t>
            </a:r>
          </a:p>
          <a:p>
            <a:r>
              <a:rPr lang="en-GB" dirty="0"/>
              <a:t>Photonic capabilities</a:t>
            </a:r>
          </a:p>
        </p:txBody>
      </p:sp>
    </p:spTree>
    <p:extLst>
      <p:ext uri="{BB962C8B-B14F-4D97-AF65-F5344CB8AC3E}">
        <p14:creationId xmlns:p14="http://schemas.microsoft.com/office/powerpoint/2010/main" val="27092379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7056D5E-2070-8B69-F685-A02BB3079E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Questions?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72ECBE3-C864-899B-90FD-9733A99D3B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24525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9605</TotalTime>
  <Words>993</Words>
  <Application>Microsoft Office PowerPoint</Application>
  <PresentationFormat>Widescreen</PresentationFormat>
  <Paragraphs>167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Ivy Hackathon</vt:lpstr>
      <vt:lpstr>Overview</vt:lpstr>
      <vt:lpstr>Hackathon Architecture</vt:lpstr>
      <vt:lpstr>Ivy model</vt:lpstr>
      <vt:lpstr>Objectives of Hackathon</vt:lpstr>
      <vt:lpstr>Sketch of possible arrangements </vt:lpstr>
      <vt:lpstr>Prior to hackathon</vt:lpstr>
      <vt:lpstr>Vision</vt:lpstr>
      <vt:lpstr>What will not be explored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Davis, Nigel</dc:creator>
  <cp:lastModifiedBy>Davis, Nigel</cp:lastModifiedBy>
  <cp:revision>4</cp:revision>
  <dcterms:created xsi:type="dcterms:W3CDTF">2025-12-10T15:27:33Z</dcterms:created>
  <dcterms:modified xsi:type="dcterms:W3CDTF">2026-06-03T14:30:39Z</dcterms:modified>
</cp:coreProperties>
</file>