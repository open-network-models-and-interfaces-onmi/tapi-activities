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ldx" ContentType="application/vnd.openxmlformats-officedocument.presentationml.slide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591" r:id="rId3"/>
    <p:sldId id="594" r:id="rId4"/>
    <p:sldId id="583" r:id="rId5"/>
    <p:sldId id="576" r:id="rId6"/>
    <p:sldId id="580" r:id="rId7"/>
    <p:sldId id="595" r:id="rId8"/>
    <p:sldId id="592" r:id="rId9"/>
    <p:sldId id="582" r:id="rId10"/>
    <p:sldId id="579" r:id="rId11"/>
    <p:sldId id="596" r:id="rId12"/>
    <p:sldId id="584" r:id="rId13"/>
    <p:sldId id="585" r:id="rId14"/>
    <p:sldId id="588" r:id="rId15"/>
    <p:sldId id="586" r:id="rId16"/>
    <p:sldId id="587" r:id="rId17"/>
    <p:sldId id="5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9A018A-61B9-4DC8-8BA8-760D0C7C02F3}" v="1" dt="2025-05-27T14:30:26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42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EC2EA-7FA9-4163-AA1D-62F2075F6429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FFE7E-3640-4CBD-867A-106E14561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43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4720F-12EA-4458-94A8-B115179F12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38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3E54-B3C6-D7FB-28F7-7EC1F198A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0D4D1-1EE2-4707-EB4B-7D913622A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A12B0-A6C6-37EE-7821-EB0370014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DE82-05ED-E7A8-0255-AA440596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93416-124B-A601-5F1B-2DD0B972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61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E6C7-2C4C-A92A-CA02-7C4FB02B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BA994-49DB-D554-D488-C6A056B52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DADC1-04D9-72F9-6DB6-FB07D86FB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D08E-CF04-CA85-1DFD-E2831C3B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6AA5D-8974-9F01-E15C-FC23D35B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73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BA13-67BA-BC7A-EFDA-76DA59E41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0B4D6-9BDA-9F33-8964-33E738528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B82D0-13E1-FAB0-84BF-AC2E1A8CA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2812F-D558-3DD2-5850-4B532E0C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6F76E-3CD3-EECF-F38B-0B4726EE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0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CCB8-4ADF-FEBB-B48F-6FD1AE12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95439-2929-351E-DB06-7AC6A4194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88D72-4055-00CF-ED81-4692CFDFA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540C0-4829-E198-31D1-0BF13B7E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6157B-2D13-207F-3541-2A914489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FC026-52AC-ABB2-302A-80FFF809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9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3AE8-2EA9-F368-24D0-AD5736F1A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2DBD3-2EB4-7C76-C780-2386CFD74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06458-C44D-652A-D148-04C245FFF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E7410-C6F7-9AEC-72D1-696BD213C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07CF8-1068-1123-BBA0-9910B407C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003FD5-F610-2A94-7730-8041783B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A3884-1C25-EF78-2690-39E16F87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D1D857-8716-E482-12EF-8880932F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C751-DC99-ADE5-EB2F-651B6F14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8F7EC-D00B-39D9-C8AD-F4BC9C2F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64F3C-FA77-5523-AFE4-F8D3701CD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80CC7-BBE7-A892-15AF-39470452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1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AD837-B14E-37CF-5C65-C11539BF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23C5A-4E74-1F47-C65D-0EFF9E12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B0C43-DBB1-2C0A-5EF3-8E6853C7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58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2CFC-F3E6-0350-BD4C-D4E74BA8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D329C-9F5A-A78E-E2FA-5518D2E88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88A2C-1DE2-3539-2692-650605B95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C4EF4-6B4D-C448-6AF2-697435FC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B7B76-EDB6-D4A6-0BB6-B3316067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0D264-5B6D-F3E0-E93B-A8A1BA00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0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C919D-47A1-D58C-F852-FEB8EB9F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F569D-AFDC-655E-8F56-40FD26740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39030-6FD0-8805-845B-D1F10FC27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379E8-5169-01FC-1A66-760366F6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DFDEB-B61E-1E91-BE65-3C78703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908B7-DA11-400F-8CB9-9D6232DB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1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FB52-DF92-04F1-2637-55AAAEDFB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94E4E-6357-F4AA-DCEA-C7A95B26F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6DB6A-48C8-F23E-1F09-00F344C58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B573D-B3F2-737F-E963-26F254F0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05043-DA28-C84A-E70E-1C835E230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0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DC1CB1-54F1-7F9F-094A-AE5BC2558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B4FA7-532B-80CE-6BEE-161C5905C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DEEEA-54D7-4856-08EE-CF4685A4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53A7-E934-0ED1-AF13-8317F9208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03A45-41B5-4E21-2A0F-2025EE7C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0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0992CE-E473-5853-7C62-05B91A83E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49BC-0522-B1E3-D004-32E0D9063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683CD-45EB-AA33-0A65-169CA9A49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C1F64-14F1-4AD6-8159-443A50AD65E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71B06-DCD7-7F61-5D34-3FC57789B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4DE2A-1C08-0F7F-F96D-C5851123A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17655-10D7-4A25-9F1A-665A18043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2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9182#section-7.3-4.24.1" TargetMode="External"/><Relationship Id="rId2" Type="http://schemas.openxmlformats.org/officeDocument/2006/relationships/hyperlink" Target="https://www.rfc-editor.org/rfc/rfc8529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datatracker.ietf.org/doc/html/rfc9182#section-2-6.12" TargetMode="External"/><Relationship Id="rId4" Type="http://schemas.openxmlformats.org/officeDocument/2006/relationships/hyperlink" Target="https://datatracker.ietf.org/doc/html/rfc9182#section-7.3-4.24.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PowerPoint_Slide.sldx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20780-78A6-1EA7-0317-730536E7BE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Brief analysis of TAPI-IETF model linkage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99DF9-968C-FFC8-8437-AAB24BBFF9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Nigel Davis</a:t>
            </a:r>
          </a:p>
          <a:p>
            <a:r>
              <a:rPr lang="en-GB" dirty="0"/>
              <a:t>20250527</a:t>
            </a:r>
          </a:p>
          <a:p>
            <a:r>
              <a:rPr lang="en-GB" dirty="0"/>
              <a:t>From 20230124 (enhanced 20230131)</a:t>
            </a:r>
          </a:p>
          <a:p>
            <a:r>
              <a:rPr lang="en-US" dirty="0"/>
              <a:t>{This document contains notes and sketches and is not complete}</a:t>
            </a:r>
          </a:p>
          <a:p>
            <a:r>
              <a:rPr lang="en-US" dirty="0"/>
              <a:t>From </a:t>
            </a:r>
            <a:r>
              <a:rPr lang="en-GB" dirty="0"/>
              <a:t>otcc2023.ND.001_BriefAnalysis-TapiIetfModelLinkage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70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1486B-7839-ED55-2E7B-25451C460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067AF-5C7D-C9E4-B7D5-654336345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RFC8345 Model </a:t>
            </a:r>
            <a:r>
              <a:rPr lang="en-GB" u="sng" dirty="0"/>
              <a:t>sketch</a:t>
            </a:r>
          </a:p>
          <a:p>
            <a:r>
              <a:rPr lang="en-GB" dirty="0"/>
              <a:t>Diagram key and rough notes</a:t>
            </a:r>
          </a:p>
          <a:p>
            <a:r>
              <a:rPr lang="en-GB" dirty="0"/>
              <a:t>Pictorial view of IETF/TAPI controlled network fragment</a:t>
            </a:r>
          </a:p>
          <a:p>
            <a:r>
              <a:rPr lang="en-GB" dirty="0"/>
              <a:t>Focus on the key association with yang sketch</a:t>
            </a:r>
          </a:p>
          <a:p>
            <a:r>
              <a:rPr lang="en-GB" sz="2800" dirty="0"/>
              <a:t>Further notes working towards additional associations</a:t>
            </a:r>
          </a:p>
          <a:p>
            <a:endParaRPr lang="en-GB" dirty="0"/>
          </a:p>
          <a:p>
            <a:r>
              <a:rPr lang="en-GB" dirty="0"/>
              <a:t>Background – Showing various solution architecture options covered by this proposal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F0A72-2A35-5B80-E6E5-94D3D443598C}"/>
              </a:ext>
            </a:extLst>
          </p:cNvPr>
          <p:cNvSpPr txBox="1"/>
          <p:nvPr/>
        </p:nvSpPr>
        <p:spPr>
          <a:xfrm>
            <a:off x="4223208" y="537327"/>
            <a:ext cx="662704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Purpose:</a:t>
            </a:r>
            <a:r>
              <a:rPr lang="en-GB" dirty="0">
                <a:solidFill>
                  <a:srgbClr val="0070C0"/>
                </a:solidFill>
              </a:rPr>
              <a:t> To show an approach to linking between IETF models and TAPI where both are being used to manage the same single network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50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B0F7-A102-26BA-19CA-F599A533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A8D5-0C7A-C2B5-A6A1-C77387627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To cover cases where IETF and TAPI models need to be used together</a:t>
            </a:r>
          </a:p>
          <a:p>
            <a:r>
              <a:rPr lang="en-GB" dirty="0"/>
              <a:t>Specifically, where TAPI is used to represent photonic/OTN/Ethernet in a device and IETF used to represent IP in the same device</a:t>
            </a:r>
          </a:p>
          <a:p>
            <a:pPr lvl="1"/>
            <a:r>
              <a:rPr lang="en-GB" dirty="0"/>
              <a:t>This boundary can be redrawn to show IETF models representing Ethernet instead of TAPI (and this may be more appropriate in the industry in general – this is for a separate discussion)</a:t>
            </a:r>
          </a:p>
          <a:p>
            <a:r>
              <a:rPr lang="en-GB" dirty="0"/>
              <a:t>The initial focus here is on Termination</a:t>
            </a:r>
          </a:p>
          <a:p>
            <a:pPr lvl="1"/>
            <a:r>
              <a:rPr lang="en-GB" dirty="0"/>
              <a:t>Further work could be done on Link/Connection</a:t>
            </a:r>
          </a:p>
          <a:p>
            <a:r>
              <a:rPr lang="en-GB" dirty="0"/>
              <a:t>RFC8345 is used as the primary IETF model as it underpins many other models</a:t>
            </a:r>
          </a:p>
          <a:p>
            <a:r>
              <a:rPr lang="en-GB" dirty="0"/>
              <a:t>RFC 8343 interface is used to illustrate a CEP-like function</a:t>
            </a:r>
          </a:p>
          <a:p>
            <a:pPr lvl="1"/>
            <a:r>
              <a:rPr lang="en-GB" dirty="0"/>
              <a:t>At this point, the way a CEP is represented in IETF is not considered formally, however, it is important in the longer run to determine this precisely</a:t>
            </a:r>
          </a:p>
          <a:p>
            <a:pPr lvl="1"/>
            <a:r>
              <a:rPr lang="en-GB" dirty="0"/>
              <a:t>Work is underway in IETF that may help illuminate this area</a:t>
            </a:r>
          </a:p>
          <a:p>
            <a:r>
              <a:rPr lang="en-GB" dirty="0"/>
              <a:t>VPN/VRF models from IETF are chosen simply as example to show a more complete stack. </a:t>
            </a:r>
          </a:p>
          <a:p>
            <a:pPr lvl="1"/>
            <a:r>
              <a:rPr lang="en-GB" dirty="0"/>
              <a:t>They are  illustrative and not core to this proposal</a:t>
            </a:r>
          </a:p>
        </p:txBody>
      </p:sp>
    </p:spTree>
    <p:extLst>
      <p:ext uri="{BB962C8B-B14F-4D97-AF65-F5344CB8AC3E}">
        <p14:creationId xmlns:p14="http://schemas.microsoft.com/office/powerpoint/2010/main" val="2010343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D47E-C20F-9EF4-AE33-51FA1743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/>
          <a:lstStyle/>
          <a:p>
            <a:r>
              <a:rPr lang="en-GB" dirty="0"/>
              <a:t>RFC8345 Model </a:t>
            </a:r>
            <a:r>
              <a:rPr lang="en-GB" u="sng" dirty="0"/>
              <a:t>sketch</a:t>
            </a:r>
            <a:endParaRPr lang="en-US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EE75F2-4FFC-BF24-FD4A-8D7986672125}"/>
              </a:ext>
            </a:extLst>
          </p:cNvPr>
          <p:cNvSpPr/>
          <p:nvPr/>
        </p:nvSpPr>
        <p:spPr>
          <a:xfrm>
            <a:off x="3585882" y="1855694"/>
            <a:ext cx="138953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network</a:t>
            </a:r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3CACC3-A547-D8DC-C04D-482F4BA6BB5A}"/>
              </a:ext>
            </a:extLst>
          </p:cNvPr>
          <p:cNvSpPr/>
          <p:nvPr/>
        </p:nvSpPr>
        <p:spPr>
          <a:xfrm>
            <a:off x="3585882" y="2877671"/>
            <a:ext cx="138953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node</a:t>
            </a:r>
            <a:endParaRPr lang="en-US" sz="1200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23C517E-1427-151E-E956-ABF92ABBBBBD}"/>
              </a:ext>
            </a:extLst>
          </p:cNvPr>
          <p:cNvCxnSpPr>
            <a:stCxn id="5" idx="2"/>
            <a:endCxn id="5" idx="3"/>
          </p:cNvCxnSpPr>
          <p:nvPr/>
        </p:nvCxnSpPr>
        <p:spPr>
          <a:xfrm rot="5400000" flipH="1" flipV="1">
            <a:off x="4513729" y="2873188"/>
            <a:ext cx="228600" cy="694765"/>
          </a:xfrm>
          <a:prstGeom prst="bentConnector4">
            <a:avLst>
              <a:gd name="adj1" fmla="val -100000"/>
              <a:gd name="adj2" fmla="val 13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392138-B871-5B6A-8FA5-C080E9011C6E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280647" y="2312894"/>
            <a:ext cx="0" cy="56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69C1073-C090-5859-AE1E-692DEDD05112}"/>
              </a:ext>
            </a:extLst>
          </p:cNvPr>
          <p:cNvSpPr txBox="1"/>
          <p:nvPr/>
        </p:nvSpPr>
        <p:spPr>
          <a:xfrm>
            <a:off x="5235388" y="3196371"/>
            <a:ext cx="2832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supporting-node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EC89A5-75E0-3722-07E5-7E58EB6C1327}"/>
              </a:ext>
            </a:extLst>
          </p:cNvPr>
          <p:cNvSpPr/>
          <p:nvPr/>
        </p:nvSpPr>
        <p:spPr>
          <a:xfrm>
            <a:off x="3585882" y="4007224"/>
            <a:ext cx="138953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termination-point</a:t>
            </a:r>
            <a:endParaRPr lang="en-US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A2B3D8-8B8A-52FA-84FB-8B8EE7CAEB39}"/>
              </a:ext>
            </a:extLst>
          </p:cNvPr>
          <p:cNvCxnSpPr/>
          <p:nvPr/>
        </p:nvCxnSpPr>
        <p:spPr>
          <a:xfrm>
            <a:off x="3989294" y="3334870"/>
            <a:ext cx="0" cy="672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49FE2F3-A2F0-D3CB-44F3-322B912FE939}"/>
              </a:ext>
            </a:extLst>
          </p:cNvPr>
          <p:cNvSpPr/>
          <p:nvPr/>
        </p:nvSpPr>
        <p:spPr>
          <a:xfrm>
            <a:off x="1008529" y="2877671"/>
            <a:ext cx="138953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link</a:t>
            </a:r>
            <a:endParaRPr lang="en-US" sz="1200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533D199-BBCC-A586-E29B-A590D5B259C5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rot="5400000">
            <a:off x="2709583" y="1306606"/>
            <a:ext cx="564777" cy="25773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32AD585-E83E-3C0F-AEAE-C7469A49AB7A}"/>
              </a:ext>
            </a:extLst>
          </p:cNvPr>
          <p:cNvCxnSpPr>
            <a:stCxn id="20" idx="1"/>
            <a:endCxn id="15" idx="1"/>
          </p:cNvCxnSpPr>
          <p:nvPr/>
        </p:nvCxnSpPr>
        <p:spPr>
          <a:xfrm rot="10800000" flipH="1" flipV="1">
            <a:off x="1008528" y="3106270"/>
            <a:ext cx="2577353" cy="1129553"/>
          </a:xfrm>
          <a:prstGeom prst="bentConnector3">
            <a:avLst>
              <a:gd name="adj1" fmla="val -88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D6CB364-7409-945D-D4B9-AA4437ADE151}"/>
              </a:ext>
            </a:extLst>
          </p:cNvPr>
          <p:cNvCxnSpPr>
            <a:cxnSpLocks/>
          </p:cNvCxnSpPr>
          <p:nvPr/>
        </p:nvCxnSpPr>
        <p:spPr>
          <a:xfrm>
            <a:off x="2398059" y="2944901"/>
            <a:ext cx="1187823" cy="11295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7B6EE8-4037-7A43-C52B-5C6AE4B231C0}"/>
              </a:ext>
            </a:extLst>
          </p:cNvPr>
          <p:cNvSpPr txBox="1"/>
          <p:nvPr/>
        </p:nvSpPr>
        <p:spPr>
          <a:xfrm>
            <a:off x="100852" y="2829271"/>
            <a:ext cx="829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source-</a:t>
            </a:r>
            <a:r>
              <a:rPr lang="en-GB" sz="1200" dirty="0" err="1"/>
              <a:t>tp</a:t>
            </a: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B09A98-4EE7-F74D-6A66-4E3230B024AD}"/>
              </a:ext>
            </a:extLst>
          </p:cNvPr>
          <p:cNvSpPr txBox="1"/>
          <p:nvPr/>
        </p:nvSpPr>
        <p:spPr>
          <a:xfrm>
            <a:off x="2370044" y="2667901"/>
            <a:ext cx="1137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destination-</a:t>
            </a:r>
            <a:r>
              <a:rPr lang="en-GB" sz="1200" dirty="0" err="1"/>
              <a:t>tp</a:t>
            </a:r>
            <a:endParaRPr lang="en-US" sz="1200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039A0DC-93A7-5D87-0EB5-B677DE588723}"/>
              </a:ext>
            </a:extLst>
          </p:cNvPr>
          <p:cNvCxnSpPr>
            <a:stCxn id="15" idx="2"/>
            <a:endCxn id="15" idx="3"/>
          </p:cNvCxnSpPr>
          <p:nvPr/>
        </p:nvCxnSpPr>
        <p:spPr>
          <a:xfrm rot="5400000" flipH="1" flipV="1">
            <a:off x="4513729" y="4002741"/>
            <a:ext cx="228600" cy="694765"/>
          </a:xfrm>
          <a:prstGeom prst="bentConnector4">
            <a:avLst>
              <a:gd name="adj1" fmla="val -100000"/>
              <a:gd name="adj2" fmla="val 13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8DACBE6-524B-4B72-DCD3-F59B5A08019D}"/>
              </a:ext>
            </a:extLst>
          </p:cNvPr>
          <p:cNvSpPr txBox="1"/>
          <p:nvPr/>
        </p:nvSpPr>
        <p:spPr>
          <a:xfrm>
            <a:off x="5235388" y="4325924"/>
            <a:ext cx="2832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supporting-termination-point</a:t>
            </a:r>
            <a:endParaRPr lang="en-US" sz="1200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1E352FB-DC1B-F585-BA81-F29188E1A618}"/>
              </a:ext>
            </a:extLst>
          </p:cNvPr>
          <p:cNvCxnSpPr>
            <a:stCxn id="20" idx="2"/>
            <a:endCxn id="20" idx="3"/>
          </p:cNvCxnSpPr>
          <p:nvPr/>
        </p:nvCxnSpPr>
        <p:spPr>
          <a:xfrm rot="5400000" flipH="1" flipV="1">
            <a:off x="1936376" y="2873188"/>
            <a:ext cx="228600" cy="694765"/>
          </a:xfrm>
          <a:prstGeom prst="bentConnector4">
            <a:avLst>
              <a:gd name="adj1" fmla="val -100000"/>
              <a:gd name="adj2" fmla="val 13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2C07F78-BB2B-DA7A-6383-3095B4A4B1B1}"/>
              </a:ext>
            </a:extLst>
          </p:cNvPr>
          <p:cNvSpPr txBox="1"/>
          <p:nvPr/>
        </p:nvSpPr>
        <p:spPr>
          <a:xfrm>
            <a:off x="1443316" y="3568856"/>
            <a:ext cx="2832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supporting-link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340C2E-7E3F-53F4-3CE6-E316BFB74C60}"/>
              </a:ext>
            </a:extLst>
          </p:cNvPr>
          <p:cNvSpPr txBox="1"/>
          <p:nvPr/>
        </p:nvSpPr>
        <p:spPr>
          <a:xfrm>
            <a:off x="7391402" y="615461"/>
            <a:ext cx="43097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     "A network link connects a local (source) node and</a:t>
            </a:r>
          </a:p>
          <a:p>
            <a:r>
              <a:rPr lang="en-US" sz="1200" dirty="0"/>
              <a:t>            a remote (destination) node via a set of the respective</a:t>
            </a:r>
          </a:p>
          <a:p>
            <a:r>
              <a:rPr lang="en-US" sz="1200" dirty="0"/>
              <a:t>            node's termination points.  It is possible to have several</a:t>
            </a:r>
          </a:p>
          <a:p>
            <a:r>
              <a:rPr lang="en-US" sz="1200" dirty="0"/>
              <a:t>            links between the same source and destination nodes.</a:t>
            </a:r>
          </a:p>
          <a:p>
            <a:r>
              <a:rPr lang="en-US" sz="1200" dirty="0"/>
              <a:t>            Likewise, a link could potentially be re-homed between</a:t>
            </a:r>
          </a:p>
          <a:p>
            <a:r>
              <a:rPr lang="en-US" sz="1200" dirty="0"/>
              <a:t>            termination points.  Therefore, in order to ensure that we</a:t>
            </a:r>
          </a:p>
          <a:p>
            <a:r>
              <a:rPr lang="en-US" sz="1200" dirty="0"/>
              <a:t>            would always know to distinguish between links, every link</a:t>
            </a:r>
          </a:p>
          <a:p>
            <a:r>
              <a:rPr lang="en-US" sz="1200" dirty="0"/>
              <a:t>            is identified by a dedicated link identifier.  Note that a</a:t>
            </a:r>
          </a:p>
          <a:p>
            <a:r>
              <a:rPr lang="en-US" sz="1200" dirty="0"/>
              <a:t>            link models a point-to-point link, not a multipoint link.";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DE82AC-B914-FDEF-9C2D-EA2A65467C17}"/>
              </a:ext>
            </a:extLst>
          </p:cNvPr>
          <p:cNvSpPr txBox="1"/>
          <p:nvPr/>
        </p:nvSpPr>
        <p:spPr>
          <a:xfrm>
            <a:off x="6456833" y="3430356"/>
            <a:ext cx="4309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        "This list identifies any termination points on which a</a:t>
            </a:r>
          </a:p>
          <a:p>
            <a:r>
              <a:rPr lang="en-US" sz="1200" dirty="0"/>
              <a:t>              given termination point depends or onto which it maps.</a:t>
            </a:r>
          </a:p>
          <a:p>
            <a:r>
              <a:rPr lang="en-US" sz="1200" dirty="0"/>
              <a:t>              Those termination points will themselves be contained</a:t>
            </a:r>
          </a:p>
          <a:p>
            <a:r>
              <a:rPr lang="en-US" sz="1200" dirty="0"/>
              <a:t>              in a supporting node….. 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A141C-1583-E1FC-A6AC-6467358AEFB9}"/>
              </a:ext>
            </a:extLst>
          </p:cNvPr>
          <p:cNvSpPr txBox="1"/>
          <p:nvPr/>
        </p:nvSpPr>
        <p:spPr>
          <a:xfrm>
            <a:off x="6768445" y="5514680"/>
            <a:ext cx="4091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Termination points may be unidirectional</a:t>
            </a:r>
          </a:p>
          <a:p>
            <a:r>
              <a:rPr lang="en-GB" dirty="0">
                <a:solidFill>
                  <a:srgbClr val="FF0000"/>
                </a:solidFill>
              </a:rPr>
              <a:t>(like link) or may be bidirectional.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8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D3BC75-50B1-F100-073E-851984DB02D1}"/>
              </a:ext>
            </a:extLst>
          </p:cNvPr>
          <p:cNvSpPr/>
          <p:nvPr/>
        </p:nvSpPr>
        <p:spPr>
          <a:xfrm>
            <a:off x="343362" y="2054710"/>
            <a:ext cx="362555" cy="173311"/>
          </a:xfrm>
          <a:prstGeom prst="roundRect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76545B-746C-D2AB-AC41-1A4C9DEC0CC5}"/>
              </a:ext>
            </a:extLst>
          </p:cNvPr>
          <p:cNvSpPr>
            <a:spLocks noChangeAspect="1"/>
          </p:cNvSpPr>
          <p:nvPr/>
        </p:nvSpPr>
        <p:spPr>
          <a:xfrm>
            <a:off x="343362" y="1783907"/>
            <a:ext cx="362555" cy="179883"/>
          </a:xfrm>
          <a:prstGeom prst="roundRect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45DE56A2-E54C-5C98-80DA-5655CAEE1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62" y="3298217"/>
            <a:ext cx="362555" cy="120692"/>
          </a:xfrm>
          <a:prstGeom prst="hexagon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marL="0" marR="0" lvl="0" indent="0" algn="ctr" defTabSz="60957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F7BB773-F9EC-DEE8-7826-64AFD65D39BF}"/>
              </a:ext>
            </a:extLst>
          </p:cNvPr>
          <p:cNvGrpSpPr/>
          <p:nvPr/>
        </p:nvGrpSpPr>
        <p:grpSpPr>
          <a:xfrm>
            <a:off x="343362" y="3917140"/>
            <a:ext cx="367732" cy="211616"/>
            <a:chOff x="3011957" y="1954816"/>
            <a:chExt cx="367732" cy="211616"/>
          </a:xfrm>
        </p:grpSpPr>
        <p:sp>
          <p:nvSpPr>
            <p:cNvPr id="11" name="Rectangle 60">
              <a:extLst>
                <a:ext uri="{FF2B5EF4-FFF2-40B4-BE49-F238E27FC236}">
                  <a16:creationId xmlns:a16="http://schemas.microsoft.com/office/drawing/2014/main" id="{C933B12C-E82A-573E-82CC-764E46430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1957" y="1954816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4571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lowchart: Process 15">
              <a:extLst>
                <a:ext uri="{FF2B5EF4-FFF2-40B4-BE49-F238E27FC236}">
                  <a16:creationId xmlns:a16="http://schemas.microsoft.com/office/drawing/2014/main" id="{3C8B5830-2191-E373-BA31-4FBA4987F8B3}"/>
                </a:ext>
              </a:extLst>
            </p:cNvPr>
            <p:cNvSpPr/>
            <p:nvPr/>
          </p:nvSpPr>
          <p:spPr>
            <a:xfrm>
              <a:off x="3106017" y="2007959"/>
              <a:ext cx="179612" cy="101476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AAB8B5D-949A-C3F0-46AD-E0AFDF5BA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63" y="4268285"/>
            <a:ext cx="362555" cy="2116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21CBE3-CA11-E7C4-7BB0-40D0DE42EB3D}"/>
              </a:ext>
            </a:extLst>
          </p:cNvPr>
          <p:cNvGrpSpPr/>
          <p:nvPr/>
        </p:nvGrpSpPr>
        <p:grpSpPr>
          <a:xfrm>
            <a:off x="343363" y="3558513"/>
            <a:ext cx="362555" cy="227987"/>
            <a:chOff x="1946075" y="1601844"/>
            <a:chExt cx="362555" cy="2279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927489-A915-F4A1-01C0-BC6856F66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075" y="1601844"/>
              <a:ext cx="362555" cy="227987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600" kern="0">
                <a:solidFill>
                  <a:sysClr val="windowText" lastClr="000000"/>
                </a:solidFill>
                <a:latin typeface="Arial" panose="020B0604020202020204" pitchFamily="34" charset="0"/>
                <a:ea typeface="ヒラギノ角ゴ ProN W3" charset="-128"/>
              </a:endParaRPr>
            </a:p>
          </p:txBody>
        </p:sp>
        <p:sp>
          <p:nvSpPr>
            <p:cNvPr id="20" name="Flowchart: Process 19">
              <a:extLst>
                <a:ext uri="{FF2B5EF4-FFF2-40B4-BE49-F238E27FC236}">
                  <a16:creationId xmlns:a16="http://schemas.microsoft.com/office/drawing/2014/main" id="{BD6BAB42-41BA-D1BC-CD9B-0AADB870A769}"/>
                </a:ext>
              </a:extLst>
            </p:cNvPr>
            <p:cNvSpPr/>
            <p:nvPr/>
          </p:nvSpPr>
          <p:spPr>
            <a:xfrm>
              <a:off x="2032710" y="1659604"/>
              <a:ext cx="179612" cy="101476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127">
            <a:extLst>
              <a:ext uri="{FF2B5EF4-FFF2-40B4-BE49-F238E27FC236}">
                <a16:creationId xmlns:a16="http://schemas.microsoft.com/office/drawing/2014/main" id="{38DFAEA9-9FFC-98B9-43AE-9DE0DD52B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62" y="2371928"/>
            <a:ext cx="362555" cy="128085"/>
          </a:xfrm>
          <a:prstGeom prst="hexagon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1353" tIns="45675" rIns="91353" bIns="45675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609585" eaLnBrk="1" hangingPunct="1">
              <a:spcBef>
                <a:spcPct val="0"/>
              </a:spcBef>
              <a:buFontTx/>
              <a:buNone/>
              <a:defRPr/>
            </a:pPr>
            <a:endParaRPr lang="en-US" altLang="en-US" sz="9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A00E431-A34A-5BCA-5326-54A698C1A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62" y="2702730"/>
            <a:ext cx="362555" cy="155910"/>
          </a:xfrm>
          <a:prstGeom prst="hexagon">
            <a:avLst/>
          </a:prstGeom>
          <a:solidFill>
            <a:srgbClr val="FFAF00">
              <a:lumMod val="75000"/>
            </a:srgbClr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609570"/>
            <a:endParaRPr lang="en-US" sz="1067" kern="0">
              <a:solidFill>
                <a:srgbClr val="4B4B4B">
                  <a:lumMod val="50000"/>
                </a:srgb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DECABA-F4C2-76DF-9E13-F1A83DF826C2}"/>
              </a:ext>
            </a:extLst>
          </p:cNvPr>
          <p:cNvSpPr txBox="1"/>
          <p:nvPr/>
        </p:nvSpPr>
        <p:spPr>
          <a:xfrm>
            <a:off x="1105988" y="3897910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RFC8345 TP</a:t>
            </a:r>
            <a:endParaRPr 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3530DA-0EE3-7735-32D1-2904538DCAA0}"/>
              </a:ext>
            </a:extLst>
          </p:cNvPr>
          <p:cNvSpPr txBox="1"/>
          <p:nvPr/>
        </p:nvSpPr>
        <p:spPr>
          <a:xfrm>
            <a:off x="1105988" y="2657650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RFC8345 Link</a:t>
            </a:r>
            <a:endParaRPr lang="en-US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89ADE9-0A84-5C7F-9097-1DBCA7CAD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490" y="4580740"/>
            <a:ext cx="556114" cy="32427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EC16F1-D919-6FC9-3B4E-D47D9C063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81" y="4625611"/>
            <a:ext cx="362555" cy="227987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base">
              <a:spcBef>
                <a:spcPct val="0"/>
              </a:spcBef>
              <a:spcAft>
                <a:spcPct val="0"/>
              </a:spcAft>
            </a:pPr>
            <a:endParaRPr lang="en-US" altLang="en-US" sz="600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5CCE7588-7723-53EB-A8B7-49A8C7BFA195}"/>
              </a:ext>
            </a:extLst>
          </p:cNvPr>
          <p:cNvSpPr/>
          <p:nvPr/>
        </p:nvSpPr>
        <p:spPr>
          <a:xfrm>
            <a:off x="412916" y="4683371"/>
            <a:ext cx="179612" cy="101476"/>
          </a:xfrm>
          <a:prstGeom prst="flowChartProcess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A5D307-D218-743B-6518-E290F9C694FB}"/>
              </a:ext>
            </a:extLst>
          </p:cNvPr>
          <p:cNvSpPr txBox="1"/>
          <p:nvPr/>
        </p:nvSpPr>
        <p:spPr>
          <a:xfrm>
            <a:off x="1105988" y="4250982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RFC8343 Interface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F6A873-D662-2F9B-D038-6BEC3BB05B95}"/>
              </a:ext>
            </a:extLst>
          </p:cNvPr>
          <p:cNvSpPr txBox="1"/>
          <p:nvPr/>
        </p:nvSpPr>
        <p:spPr>
          <a:xfrm>
            <a:off x="1105988" y="4619767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RFC8343 Interface with CEP like properties</a:t>
            </a: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2A22C5-E5E5-25AD-4E7D-1F9E6E216314}"/>
              </a:ext>
            </a:extLst>
          </p:cNvPr>
          <p:cNvSpPr txBox="1"/>
          <p:nvPr/>
        </p:nvSpPr>
        <p:spPr>
          <a:xfrm>
            <a:off x="1105988" y="1928790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RFC8299 site =~ access-port / SIP / CSEP</a:t>
            </a:r>
            <a:endParaRPr 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E28882-B56E-1EDC-2C95-9804EE7F468B}"/>
              </a:ext>
            </a:extLst>
          </p:cNvPr>
          <p:cNvSpPr txBox="1"/>
          <p:nvPr/>
        </p:nvSpPr>
        <p:spPr>
          <a:xfrm>
            <a:off x="412916" y="5633876"/>
            <a:ext cx="2469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RFC9182</a:t>
            </a:r>
          </a:p>
          <a:p>
            <a:r>
              <a:rPr lang="en-GB" sz="1200" dirty="0"/>
              <a:t>VPN Node</a:t>
            </a:r>
            <a:endParaRPr lang="en-US" sz="1200" dirty="0"/>
          </a:p>
        </p:txBody>
      </p:sp>
      <p:sp>
        <p:nvSpPr>
          <p:cNvPr id="48" name="Rectangle 25">
            <a:extLst>
              <a:ext uri="{FF2B5EF4-FFF2-40B4-BE49-F238E27FC236}">
                <a16:creationId xmlns:a16="http://schemas.microsoft.com/office/drawing/2014/main" id="{701EBB57-DD59-11DF-63F6-E21EE9B46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62" y="2998464"/>
            <a:ext cx="362555" cy="155910"/>
          </a:xfrm>
          <a:prstGeom prst="hexagon">
            <a:avLst/>
          </a:prstGeom>
          <a:solidFill>
            <a:srgbClr val="FFFF00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609570"/>
            <a:endParaRPr lang="en-US" sz="1067" kern="0">
              <a:solidFill>
                <a:srgbClr val="4B4B4B">
                  <a:lumMod val="50000"/>
                </a:srgb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86E0A6-640A-9389-2000-02B7328E54F7}"/>
              </a:ext>
            </a:extLst>
          </p:cNvPr>
          <p:cNvSpPr txBox="1"/>
          <p:nvPr/>
        </p:nvSpPr>
        <p:spPr>
          <a:xfrm>
            <a:off x="1105988" y="2969701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RFC9182 </a:t>
            </a:r>
            <a:r>
              <a:rPr lang="en-GB" sz="1000" dirty="0" err="1"/>
              <a:t>vpn</a:t>
            </a:r>
            <a:r>
              <a:rPr lang="en-GB" sz="1000" dirty="0"/>
              <a:t>-service =~ top connection</a:t>
            </a:r>
            <a:endParaRPr 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49EA27-4F7F-67A9-B222-BFFE1250F842}"/>
              </a:ext>
            </a:extLst>
          </p:cNvPr>
          <p:cNvSpPr txBox="1"/>
          <p:nvPr/>
        </p:nvSpPr>
        <p:spPr>
          <a:xfrm>
            <a:off x="1105988" y="3221075"/>
            <a:ext cx="2612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VRF (RFC4364/</a:t>
            </a:r>
            <a:r>
              <a:rPr lang="en-GB" sz="1000" dirty="0">
                <a:hlinkClick r:id="rId2"/>
              </a:rPr>
              <a:t>RFC8529</a:t>
            </a:r>
            <a:r>
              <a:rPr lang="en-GB" sz="1000" dirty="0"/>
              <a:t>)</a:t>
            </a:r>
            <a:endParaRPr lang="en-US" sz="1000" dirty="0"/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69571086-6CF0-8979-4043-1588779BF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226" y="3053817"/>
            <a:ext cx="85405" cy="77988"/>
          </a:xfrm>
          <a:prstGeom prst="ellipse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095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A79781-1B57-D798-9349-5944A81F63AA}"/>
              </a:ext>
            </a:extLst>
          </p:cNvPr>
          <p:cNvSpPr txBox="1"/>
          <p:nvPr/>
        </p:nvSpPr>
        <p:spPr>
          <a:xfrm>
            <a:off x="4203555" y="2965297"/>
            <a:ext cx="44943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RFC9182 </a:t>
            </a:r>
            <a:r>
              <a:rPr lang="en-GB" sz="1000" dirty="0" err="1"/>
              <a:t>vpn</a:t>
            </a:r>
            <a:r>
              <a:rPr lang="en-GB" sz="1000" dirty="0"/>
              <a:t>-network-access interface-id and </a:t>
            </a:r>
            <a:r>
              <a:rPr lang="en-GB" sz="1000" dirty="0" err="1"/>
              <a:t>tp</a:t>
            </a:r>
            <a:endParaRPr lang="en-US" sz="1000" dirty="0"/>
          </a:p>
        </p:txBody>
      </p:sp>
      <p:sp>
        <p:nvSpPr>
          <p:cNvPr id="54" name="Rectangle 29">
            <a:extLst>
              <a:ext uri="{FF2B5EF4-FFF2-40B4-BE49-F238E27FC236}">
                <a16:creationId xmlns:a16="http://schemas.microsoft.com/office/drawing/2014/main" id="{B20B41C4-018B-B874-36D9-B372C5D49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226" y="2702730"/>
            <a:ext cx="85405" cy="77988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095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</a:endParaRPr>
          </a:p>
        </p:txBody>
      </p:sp>
      <p:sp>
        <p:nvSpPr>
          <p:cNvPr id="55" name="Rectangle 29">
            <a:extLst>
              <a:ext uri="{FF2B5EF4-FFF2-40B4-BE49-F238E27FC236}">
                <a16:creationId xmlns:a16="http://schemas.microsoft.com/office/drawing/2014/main" id="{254C901B-29E6-5B4D-9D44-8C4BC5FB9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226" y="3280575"/>
            <a:ext cx="85405" cy="77988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095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</a:endParaRP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D94B297D-50E8-0E7F-BFAF-4D45CE8AF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226" y="2405091"/>
            <a:ext cx="85405" cy="77988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095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4E90D4-D6C6-0B85-982E-2D08778671DA}"/>
              </a:ext>
            </a:extLst>
          </p:cNvPr>
          <p:cNvSpPr txBox="1"/>
          <p:nvPr/>
        </p:nvSpPr>
        <p:spPr>
          <a:xfrm>
            <a:off x="8618278" y="2226181"/>
            <a:ext cx="305670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 container </a:t>
            </a:r>
            <a:r>
              <a:rPr lang="en-US" sz="600" dirty="0" err="1"/>
              <a:t>vpn</a:t>
            </a:r>
            <a:r>
              <a:rPr lang="en-US" sz="600" dirty="0"/>
              <a:t>-network-accesses {</a:t>
            </a:r>
          </a:p>
          <a:p>
            <a:r>
              <a:rPr lang="en-US" sz="600" dirty="0"/>
              <a:t>              description</a:t>
            </a:r>
          </a:p>
          <a:p>
            <a:r>
              <a:rPr lang="en-US" sz="600" dirty="0"/>
              <a:t>                "List of network accesses.";</a:t>
            </a:r>
          </a:p>
          <a:p>
            <a:r>
              <a:rPr lang="en-US" sz="600" dirty="0"/>
              <a:t>              list </a:t>
            </a:r>
            <a:r>
              <a:rPr lang="en-US" sz="600" dirty="0" err="1"/>
              <a:t>vpn</a:t>
            </a:r>
            <a:r>
              <a:rPr lang="en-US" sz="600" dirty="0"/>
              <a:t>-network-access {</a:t>
            </a:r>
          </a:p>
          <a:p>
            <a:r>
              <a:rPr lang="en-US" sz="600" dirty="0"/>
              <a:t>                key "id";</a:t>
            </a:r>
          </a:p>
          <a:p>
            <a:r>
              <a:rPr lang="en-US" sz="600" dirty="0"/>
              <a:t>                description</a:t>
            </a:r>
          </a:p>
          <a:p>
            <a:r>
              <a:rPr lang="en-US" sz="600" dirty="0"/>
              <a:t>                  "List of network accesses.";</a:t>
            </a:r>
          </a:p>
          <a:p>
            <a:r>
              <a:rPr lang="en-US" sz="600" dirty="0"/>
              <a:t>                leaf id {</a:t>
            </a:r>
          </a:p>
          <a:p>
            <a:r>
              <a:rPr lang="en-US" sz="600" dirty="0"/>
              <a:t>                  type </a:t>
            </a:r>
            <a:r>
              <a:rPr lang="en-US" sz="600" dirty="0" err="1"/>
              <a:t>vpn-common:vpn-id</a:t>
            </a:r>
            <a:r>
              <a:rPr lang="en-US" sz="600" dirty="0"/>
              <a:t>;</a:t>
            </a:r>
          </a:p>
          <a:p>
            <a:r>
              <a:rPr lang="en-US" sz="600" dirty="0"/>
              <a:t>                  description</a:t>
            </a:r>
          </a:p>
          <a:p>
            <a:r>
              <a:rPr lang="en-US" sz="600" dirty="0"/>
              <a:t>                    "Identifier for the network access.";</a:t>
            </a:r>
          </a:p>
          <a:p>
            <a:r>
              <a:rPr lang="en-US" sz="600" dirty="0"/>
              <a:t>                }</a:t>
            </a:r>
          </a:p>
          <a:p>
            <a:r>
              <a:rPr lang="en-US" sz="600" dirty="0"/>
              <a:t>                leaf interface-id {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6236A8-6C79-52A7-E2FE-AA3B56109A34}"/>
              </a:ext>
            </a:extLst>
          </p:cNvPr>
          <p:cNvSpPr txBox="1"/>
          <p:nvPr/>
        </p:nvSpPr>
        <p:spPr>
          <a:xfrm>
            <a:off x="8697869" y="3611960"/>
            <a:ext cx="30567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vpn</a:t>
            </a:r>
            <a:r>
              <a:rPr lang="en-US" sz="1000" dirty="0"/>
              <a:t>-service</a:t>
            </a:r>
          </a:p>
          <a:p>
            <a:r>
              <a:rPr lang="en-US" sz="1000" dirty="0"/>
              <a:t>    </a:t>
            </a:r>
            <a:r>
              <a:rPr lang="en-US" sz="1000" dirty="0" err="1">
                <a:solidFill>
                  <a:srgbClr val="FF0000"/>
                </a:solidFill>
              </a:rPr>
              <a:t>vpn</a:t>
            </a:r>
            <a:r>
              <a:rPr lang="en-US" sz="1000" dirty="0">
                <a:solidFill>
                  <a:srgbClr val="FF0000"/>
                </a:solidFill>
              </a:rPr>
              <a:t>-node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vpn</a:t>
            </a:r>
            <a:r>
              <a:rPr lang="en-US" sz="1000" dirty="0"/>
              <a:t>-network-access</a:t>
            </a:r>
          </a:p>
          <a:p>
            <a:r>
              <a:rPr lang="en-US" sz="1000" dirty="0"/>
              <a:t>            interface-id</a:t>
            </a:r>
          </a:p>
          <a:p>
            <a:r>
              <a:rPr lang="en-US" sz="1000" dirty="0"/>
              <a:t>            connection</a:t>
            </a:r>
          </a:p>
          <a:p>
            <a:r>
              <a:rPr lang="en-US" sz="1000" dirty="0"/>
              <a:t>                termination-point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F6D4E4-F696-893C-88C9-15A912122AE6}"/>
              </a:ext>
            </a:extLst>
          </p:cNvPr>
          <p:cNvSpPr txBox="1"/>
          <p:nvPr/>
        </p:nvSpPr>
        <p:spPr>
          <a:xfrm>
            <a:off x="8697869" y="5404571"/>
            <a:ext cx="30567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dirty="0">
                <a:solidFill>
                  <a:srgbClr val="212529"/>
                </a:solidFill>
                <a:effectLst/>
                <a:latin typeface="SFMono-Regular"/>
              </a:rPr>
              <a:t>Connection: Represents and groups the set of Layer 2 connectivity from where the traffic of the L3VPN in a particular VPN network access is coming.</a:t>
            </a:r>
            <a:endParaRPr lang="en-US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97BB1A-A482-C9CF-6597-0E0CFE21AF41}"/>
              </a:ext>
            </a:extLst>
          </p:cNvPr>
          <p:cNvSpPr txBox="1"/>
          <p:nvPr/>
        </p:nvSpPr>
        <p:spPr>
          <a:xfrm>
            <a:off x="4737463" y="5421815"/>
            <a:ext cx="304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RFC8299 (VRF allocation)…  As for route targets (RTs), a management system is expected to allocate a VRF on the target PE and an RD for this VRF.</a:t>
            </a: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2572FE63-BEB3-A11B-C046-1E67A55CD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5463" y="61757"/>
            <a:ext cx="2589166" cy="969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38050" tIns="45720" rIns="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sz="900" b="1" dirty="0" err="1"/>
              <a:t>vpn</a:t>
            </a:r>
            <a:r>
              <a:rPr lang="en-US" altLang="en-US" sz="900" b="1" dirty="0"/>
              <a:t>-node':</a:t>
            </a:r>
          </a:p>
          <a:p>
            <a:pPr lvl="1"/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An abstraction that represents a set of policies applied to a network node and belonging to a single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-service'. A VPN service is typically built by adding instances of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-node' to the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-nodes' container.</a:t>
            </a:r>
            <a:r>
              <a:rPr lang="en-US" altLang="en-US" sz="600" dirty="0">
                <a:solidFill>
                  <a:srgbClr val="000000"/>
                </a:solidFill>
                <a:latin typeface="SFMono-Regular"/>
                <a:hlinkClick r:id="rId3"/>
              </a:rPr>
              <a:t>¶</a:t>
            </a:r>
            <a:endParaRPr lang="en-US" altLang="en-US" sz="100" dirty="0"/>
          </a:p>
          <a:p>
            <a:pPr lvl="1"/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A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-node' contains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-network-accesses', which are the interfaces attached to the VPN by which the customer traffic is received. Therefore, the customer sites are connected to the '</a:t>
            </a:r>
            <a:r>
              <a:rPr lang="en-US" altLang="en-US" sz="600" dirty="0" err="1">
                <a:solidFill>
                  <a:srgbClr val="212529"/>
                </a:solidFill>
                <a:latin typeface="SFMono-Regular"/>
              </a:rPr>
              <a:t>vpn</a:t>
            </a:r>
            <a:r>
              <a:rPr lang="en-US" altLang="en-US" sz="600" dirty="0">
                <a:solidFill>
                  <a:srgbClr val="212529"/>
                </a:solidFill>
                <a:latin typeface="SFMono-Regular"/>
              </a:rPr>
              <a:t>-network-accesses'.</a:t>
            </a:r>
            <a:r>
              <a:rPr lang="en-US" altLang="en-US" sz="600" dirty="0">
                <a:solidFill>
                  <a:srgbClr val="000000"/>
                </a:solidFill>
                <a:latin typeface="SFMono-Regular"/>
                <a:hlinkClick r:id="rId4"/>
              </a:rPr>
              <a:t>¶</a:t>
            </a:r>
            <a:endParaRPr lang="en-US" altLang="en-US" sz="100" dirty="0"/>
          </a:p>
        </p:txBody>
      </p:sp>
      <p:sp>
        <p:nvSpPr>
          <p:cNvPr id="68" name="Rectangle 15">
            <a:extLst>
              <a:ext uri="{FF2B5EF4-FFF2-40B4-BE49-F238E27FC236}">
                <a16:creationId xmlns:a16="http://schemas.microsoft.com/office/drawing/2014/main" id="{B7022DAD-5824-701F-1D64-AB7A204B7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3447" y="1219628"/>
            <a:ext cx="2033198" cy="5693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3805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FMono-Regular"/>
              </a:rPr>
              <a:t>For example, in a BGP-based VPN, a VPN node could typically be mapped to a Virtual Routing and Forwarding (VRF) instance.</a:t>
            </a: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FMono-Regula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¶</a:t>
            </a:r>
            <a:endParaRPr kumimoji="0" lang="en-US" altLang="en-US" sz="7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77B85-803D-0A7F-14E1-E26482E7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90" y="119680"/>
            <a:ext cx="10515600" cy="1325563"/>
          </a:xfrm>
        </p:spPr>
        <p:txBody>
          <a:bodyPr/>
          <a:lstStyle/>
          <a:p>
            <a:r>
              <a:rPr lang="en-GB" dirty="0"/>
              <a:t>Diagram Key and rough notes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215B6-2677-BE12-0600-88EE607BF351}"/>
              </a:ext>
            </a:extLst>
          </p:cNvPr>
          <p:cNvSpPr txBox="1"/>
          <p:nvPr/>
        </p:nvSpPr>
        <p:spPr>
          <a:xfrm>
            <a:off x="236490" y="1071913"/>
            <a:ext cx="634211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Note that as there appears to be no clear standard way to represent networking defined in terms of IETF models, a symbol set for IETF models has been derived from the TAPI symbol set (familiarity with the TAPI symbol set as used in TR-547 is assumed)</a:t>
            </a:r>
            <a:endParaRPr 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17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D650684-D220-77E5-FCF2-2C80152F76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8045"/>
              </p:ext>
            </p:extLst>
          </p:nvPr>
        </p:nvGraphicFramePr>
        <p:xfrm>
          <a:off x="1014413" y="1466850"/>
          <a:ext cx="10023475" cy="468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2" imgW="9257011" imgH="4319075" progId="PowerPoint.Slide.12">
                  <p:embed/>
                </p:oleObj>
              </mc:Choice>
              <mc:Fallback>
                <p:oleObj name="Slide" r:id="rId2" imgW="9257011" imgH="4319075" progId="PowerPoint.Slide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D650684-D220-77E5-FCF2-2C80152F76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4413" y="1466850"/>
                        <a:ext cx="10023475" cy="4681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00115F4-89B5-31AF-D34D-3E5FE089BE8F}"/>
              </a:ext>
            </a:extLst>
          </p:cNvPr>
          <p:cNvSpPr txBox="1"/>
          <p:nvPr/>
        </p:nvSpPr>
        <p:spPr>
          <a:xfrm>
            <a:off x="1571625" y="937758"/>
            <a:ext cx="1485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Orientation Seems incorrect in RFC9182 </a:t>
            </a:r>
            <a:endParaRPr lang="en-US" sz="1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E06CE9-612B-3EA2-084E-93D1A571F74F}"/>
              </a:ext>
            </a:extLst>
          </p:cNvPr>
          <p:cNvCxnSpPr/>
          <p:nvPr/>
        </p:nvCxnSpPr>
        <p:spPr>
          <a:xfrm>
            <a:off x="1866900" y="1330902"/>
            <a:ext cx="552450" cy="390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11DFF41C-3C9D-1369-B714-53B1687B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57943"/>
            <a:ext cx="11924370" cy="779816"/>
          </a:xfrm>
        </p:spPr>
        <p:txBody>
          <a:bodyPr>
            <a:normAutofit fontScale="90000"/>
          </a:bodyPr>
          <a:lstStyle/>
          <a:p>
            <a:r>
              <a:rPr lang="en-GB" dirty="0"/>
              <a:t>Pictorial view of IETF/TAPI controlled network fragment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14BDF-FE1D-4755-4855-CD11316DF8BA}"/>
              </a:ext>
            </a:extLst>
          </p:cNvPr>
          <p:cNvSpPr txBox="1"/>
          <p:nvPr/>
        </p:nvSpPr>
        <p:spPr>
          <a:xfrm>
            <a:off x="1236617" y="5737404"/>
            <a:ext cx="10120548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On this figure layers up to Ethernet are managed through TAPI and IP is controlled through IETF defined interfaces. </a:t>
            </a:r>
          </a:p>
          <a:p>
            <a:pPr algn="ctr"/>
            <a:r>
              <a:rPr lang="en-GB" sz="1200" b="1" dirty="0">
                <a:solidFill>
                  <a:srgbClr val="FF0000"/>
                </a:solidFill>
              </a:rPr>
              <a:t>There are clearly many other options. </a:t>
            </a:r>
          </a:p>
          <a:p>
            <a:pPr algn="ctr"/>
            <a:r>
              <a:rPr lang="en-GB" sz="1200" dirty="0">
                <a:solidFill>
                  <a:srgbClr val="FF0000"/>
                </a:solidFill>
              </a:rPr>
              <a:t>This diagram simply illustrates a generalized linkage between RFC8345 and TAPI that could be applied at any layer.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C5705D6-6774-8E96-9A0F-E3523B8EE8E7}"/>
              </a:ext>
            </a:extLst>
          </p:cNvPr>
          <p:cNvSpPr/>
          <p:nvPr/>
        </p:nvSpPr>
        <p:spPr>
          <a:xfrm>
            <a:off x="1521229" y="2227811"/>
            <a:ext cx="9984663" cy="606829"/>
          </a:xfrm>
          <a:custGeom>
            <a:avLst/>
            <a:gdLst>
              <a:gd name="connsiteX0" fmla="*/ 0 w 9010996"/>
              <a:gd name="connsiteY0" fmla="*/ 606829 h 606829"/>
              <a:gd name="connsiteX1" fmla="*/ 1379913 w 9010996"/>
              <a:gd name="connsiteY1" fmla="*/ 606829 h 606829"/>
              <a:gd name="connsiteX2" fmla="*/ 2801389 w 9010996"/>
              <a:gd name="connsiteY2" fmla="*/ 0 h 606829"/>
              <a:gd name="connsiteX3" fmla="*/ 6151418 w 9010996"/>
              <a:gd name="connsiteY3" fmla="*/ 0 h 606829"/>
              <a:gd name="connsiteX4" fmla="*/ 7473142 w 9010996"/>
              <a:gd name="connsiteY4" fmla="*/ 581891 h 606829"/>
              <a:gd name="connsiteX5" fmla="*/ 9010996 w 9010996"/>
              <a:gd name="connsiteY5" fmla="*/ 581891 h 606829"/>
              <a:gd name="connsiteX6" fmla="*/ 9010996 w 9010996"/>
              <a:gd name="connsiteY6" fmla="*/ 590204 h 606829"/>
              <a:gd name="connsiteX7" fmla="*/ 9010996 w 9010996"/>
              <a:gd name="connsiteY7" fmla="*/ 590204 h 606829"/>
              <a:gd name="connsiteX0" fmla="*/ 0 w 9010996"/>
              <a:gd name="connsiteY0" fmla="*/ 606829 h 606829"/>
              <a:gd name="connsiteX1" fmla="*/ 1379913 w 9010996"/>
              <a:gd name="connsiteY1" fmla="*/ 606829 h 606829"/>
              <a:gd name="connsiteX2" fmla="*/ 2801389 w 9010996"/>
              <a:gd name="connsiteY2" fmla="*/ 0 h 606829"/>
              <a:gd name="connsiteX3" fmla="*/ 6151418 w 9010996"/>
              <a:gd name="connsiteY3" fmla="*/ 0 h 606829"/>
              <a:gd name="connsiteX4" fmla="*/ 7473142 w 9010996"/>
              <a:gd name="connsiteY4" fmla="*/ 581891 h 606829"/>
              <a:gd name="connsiteX5" fmla="*/ 9010996 w 9010996"/>
              <a:gd name="connsiteY5" fmla="*/ 581891 h 606829"/>
              <a:gd name="connsiteX6" fmla="*/ 9010996 w 9010996"/>
              <a:gd name="connsiteY6" fmla="*/ 590204 h 606829"/>
              <a:gd name="connsiteX7" fmla="*/ 9010996 w 9010996"/>
              <a:gd name="connsiteY7" fmla="*/ 590204 h 606829"/>
              <a:gd name="connsiteX0" fmla="*/ 0 w 9010996"/>
              <a:gd name="connsiteY0" fmla="*/ 606829 h 606829"/>
              <a:gd name="connsiteX1" fmla="*/ 1379913 w 9010996"/>
              <a:gd name="connsiteY1" fmla="*/ 606829 h 606829"/>
              <a:gd name="connsiteX2" fmla="*/ 2801389 w 9010996"/>
              <a:gd name="connsiteY2" fmla="*/ 0 h 606829"/>
              <a:gd name="connsiteX3" fmla="*/ 6151418 w 9010996"/>
              <a:gd name="connsiteY3" fmla="*/ 0 h 606829"/>
              <a:gd name="connsiteX4" fmla="*/ 7473142 w 9010996"/>
              <a:gd name="connsiteY4" fmla="*/ 581891 h 606829"/>
              <a:gd name="connsiteX5" fmla="*/ 9010996 w 9010996"/>
              <a:gd name="connsiteY5" fmla="*/ 581891 h 606829"/>
              <a:gd name="connsiteX6" fmla="*/ 9010996 w 9010996"/>
              <a:gd name="connsiteY6" fmla="*/ 590204 h 606829"/>
              <a:gd name="connsiteX7" fmla="*/ 9010996 w 9010996"/>
              <a:gd name="connsiteY7" fmla="*/ 590204 h 606829"/>
              <a:gd name="connsiteX0" fmla="*/ 0 w 9010996"/>
              <a:gd name="connsiteY0" fmla="*/ 606829 h 606829"/>
              <a:gd name="connsiteX1" fmla="*/ 1379913 w 9010996"/>
              <a:gd name="connsiteY1" fmla="*/ 606829 h 606829"/>
              <a:gd name="connsiteX2" fmla="*/ 2801389 w 9010996"/>
              <a:gd name="connsiteY2" fmla="*/ 0 h 606829"/>
              <a:gd name="connsiteX3" fmla="*/ 6151418 w 9010996"/>
              <a:gd name="connsiteY3" fmla="*/ 0 h 606829"/>
              <a:gd name="connsiteX4" fmla="*/ 7473142 w 9010996"/>
              <a:gd name="connsiteY4" fmla="*/ 581891 h 606829"/>
              <a:gd name="connsiteX5" fmla="*/ 9010996 w 9010996"/>
              <a:gd name="connsiteY5" fmla="*/ 581891 h 606829"/>
              <a:gd name="connsiteX6" fmla="*/ 9010996 w 9010996"/>
              <a:gd name="connsiteY6" fmla="*/ 590204 h 606829"/>
              <a:gd name="connsiteX0" fmla="*/ 0 w 9010996"/>
              <a:gd name="connsiteY0" fmla="*/ 606829 h 606829"/>
              <a:gd name="connsiteX1" fmla="*/ 1379913 w 9010996"/>
              <a:gd name="connsiteY1" fmla="*/ 606829 h 606829"/>
              <a:gd name="connsiteX2" fmla="*/ 2801389 w 9010996"/>
              <a:gd name="connsiteY2" fmla="*/ 0 h 606829"/>
              <a:gd name="connsiteX3" fmla="*/ 6151418 w 9010996"/>
              <a:gd name="connsiteY3" fmla="*/ 0 h 606829"/>
              <a:gd name="connsiteX4" fmla="*/ 7473142 w 9010996"/>
              <a:gd name="connsiteY4" fmla="*/ 581891 h 606829"/>
              <a:gd name="connsiteX5" fmla="*/ 9010996 w 9010996"/>
              <a:gd name="connsiteY5" fmla="*/ 581891 h 606829"/>
              <a:gd name="connsiteX0" fmla="*/ 0 w 9984663"/>
              <a:gd name="connsiteY0" fmla="*/ 606829 h 606829"/>
              <a:gd name="connsiteX1" fmla="*/ 1379913 w 9984663"/>
              <a:gd name="connsiteY1" fmla="*/ 606829 h 606829"/>
              <a:gd name="connsiteX2" fmla="*/ 2801389 w 9984663"/>
              <a:gd name="connsiteY2" fmla="*/ 0 h 606829"/>
              <a:gd name="connsiteX3" fmla="*/ 6151418 w 9984663"/>
              <a:gd name="connsiteY3" fmla="*/ 0 h 606829"/>
              <a:gd name="connsiteX4" fmla="*/ 7473142 w 9984663"/>
              <a:gd name="connsiteY4" fmla="*/ 581891 h 606829"/>
              <a:gd name="connsiteX5" fmla="*/ 9984663 w 9984663"/>
              <a:gd name="connsiteY5" fmla="*/ 598824 h 606829"/>
              <a:gd name="connsiteX0" fmla="*/ 0 w 9984663"/>
              <a:gd name="connsiteY0" fmla="*/ 606829 h 606829"/>
              <a:gd name="connsiteX1" fmla="*/ 1379913 w 9984663"/>
              <a:gd name="connsiteY1" fmla="*/ 606829 h 606829"/>
              <a:gd name="connsiteX2" fmla="*/ 2801389 w 9984663"/>
              <a:gd name="connsiteY2" fmla="*/ 0 h 606829"/>
              <a:gd name="connsiteX3" fmla="*/ 6151418 w 9984663"/>
              <a:gd name="connsiteY3" fmla="*/ 0 h 606829"/>
              <a:gd name="connsiteX4" fmla="*/ 7473142 w 9984663"/>
              <a:gd name="connsiteY4" fmla="*/ 581891 h 606829"/>
              <a:gd name="connsiteX5" fmla="*/ 9984663 w 9984663"/>
              <a:gd name="connsiteY5" fmla="*/ 598824 h 606829"/>
              <a:gd name="connsiteX0" fmla="*/ 0 w 9984663"/>
              <a:gd name="connsiteY0" fmla="*/ 606829 h 606829"/>
              <a:gd name="connsiteX1" fmla="*/ 1379913 w 9984663"/>
              <a:gd name="connsiteY1" fmla="*/ 606829 h 606829"/>
              <a:gd name="connsiteX2" fmla="*/ 2801389 w 9984663"/>
              <a:gd name="connsiteY2" fmla="*/ 0 h 606829"/>
              <a:gd name="connsiteX3" fmla="*/ 6151418 w 9984663"/>
              <a:gd name="connsiteY3" fmla="*/ 0 h 606829"/>
              <a:gd name="connsiteX4" fmla="*/ 7473142 w 9984663"/>
              <a:gd name="connsiteY4" fmla="*/ 581891 h 606829"/>
              <a:gd name="connsiteX5" fmla="*/ 9984663 w 9984663"/>
              <a:gd name="connsiteY5" fmla="*/ 598824 h 606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4663" h="606829">
                <a:moveTo>
                  <a:pt x="0" y="606829"/>
                </a:moveTo>
                <a:lnTo>
                  <a:pt x="1379913" y="606829"/>
                </a:lnTo>
                <a:lnTo>
                  <a:pt x="2801389" y="0"/>
                </a:lnTo>
                <a:lnTo>
                  <a:pt x="6151418" y="0"/>
                </a:lnTo>
                <a:lnTo>
                  <a:pt x="7473142" y="581891"/>
                </a:lnTo>
                <a:lnTo>
                  <a:pt x="9984663" y="598824"/>
                </a:lnTo>
              </a:path>
            </a:pathLst>
          </a:cu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3B8082-10FD-9E06-4279-1389CAF931FA}"/>
              </a:ext>
            </a:extLst>
          </p:cNvPr>
          <p:cNvSpPr txBox="1"/>
          <p:nvPr/>
        </p:nvSpPr>
        <p:spPr>
          <a:xfrm>
            <a:off x="10037004" y="2388227"/>
            <a:ext cx="13167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00B0F0"/>
                </a:solidFill>
              </a:rPr>
              <a:t>Controlled through IETF interfaces</a:t>
            </a:r>
            <a:endParaRPr lang="en-US" sz="1050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C74B8-4FB3-F69A-832D-23D36A5E5046}"/>
              </a:ext>
            </a:extLst>
          </p:cNvPr>
          <p:cNvSpPr txBox="1"/>
          <p:nvPr/>
        </p:nvSpPr>
        <p:spPr>
          <a:xfrm>
            <a:off x="10037004" y="2834640"/>
            <a:ext cx="13167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00B0F0"/>
                </a:solidFill>
              </a:rPr>
              <a:t>Controlled through TAPI</a:t>
            </a:r>
            <a:endParaRPr lang="en-US" sz="1050" dirty="0">
              <a:solidFill>
                <a:srgbClr val="00B0F0"/>
              </a:solidFill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D5B95E93-9A34-59F3-F112-EB695667A5AB}"/>
              </a:ext>
            </a:extLst>
          </p:cNvPr>
          <p:cNvSpPr/>
          <p:nvPr/>
        </p:nvSpPr>
        <p:spPr>
          <a:xfrm>
            <a:off x="11185742" y="2930631"/>
            <a:ext cx="320150" cy="269769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6C4EC22-6BDD-F6AB-D61B-8A6FE1B1C2AE}"/>
              </a:ext>
            </a:extLst>
          </p:cNvPr>
          <p:cNvSpPr/>
          <p:nvPr/>
        </p:nvSpPr>
        <p:spPr>
          <a:xfrm rot="10800000">
            <a:off x="11185742" y="2477982"/>
            <a:ext cx="320150" cy="269769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49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194121-4B8B-3936-2B19-1A944D3E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YANG fragments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BF19E-F918-08C9-3F51-CC2853C4C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following slides show pictorial sketches and YANG fragments</a:t>
            </a:r>
          </a:p>
          <a:p>
            <a:r>
              <a:rPr lang="en-GB" dirty="0"/>
              <a:t>Two approaches are discussed</a:t>
            </a:r>
          </a:p>
          <a:p>
            <a:pPr lvl="1"/>
            <a:r>
              <a:rPr lang="en-GB" dirty="0"/>
              <a:t>Shared value</a:t>
            </a:r>
          </a:p>
          <a:p>
            <a:pPr lvl="1"/>
            <a:r>
              <a:rPr lang="en-GB" dirty="0"/>
              <a:t>Explicit foreign reference</a:t>
            </a:r>
          </a:p>
          <a:p>
            <a:r>
              <a:rPr lang="en-GB" dirty="0"/>
              <a:t>After some further analysis (beyond the original discussion), shared value is strongly preferred</a:t>
            </a:r>
          </a:p>
          <a:p>
            <a:pPr lvl="1"/>
            <a:r>
              <a:rPr lang="en-GB" dirty="0"/>
              <a:t>Shared value can be generated algorithmically from device properties</a:t>
            </a:r>
          </a:p>
          <a:p>
            <a:pPr lvl="1"/>
            <a:r>
              <a:rPr lang="en-GB" dirty="0"/>
              <a:t>Properties such as “port id” (the id of the function in the device at the transition point) can be used</a:t>
            </a:r>
          </a:p>
          <a:p>
            <a:pPr lvl="1"/>
            <a:r>
              <a:rPr lang="en-GB" dirty="0"/>
              <a:t>Both the IETF interface controller and the TAPI interface controller can use a shared algorithm to generate the reference </a:t>
            </a:r>
          </a:p>
          <a:p>
            <a:pPr lvl="2"/>
            <a:r>
              <a:rPr lang="en-GB" dirty="0"/>
              <a:t>Note that this may be one controller with both interface or two controllers each with one of the interfaces</a:t>
            </a:r>
          </a:p>
          <a:p>
            <a:pPr lvl="1"/>
            <a:r>
              <a:rPr lang="en-GB" dirty="0"/>
              <a:t>The explicit foreign reference is included for completeness</a:t>
            </a:r>
          </a:p>
        </p:txBody>
      </p:sp>
    </p:spTree>
    <p:extLst>
      <p:ext uri="{BB962C8B-B14F-4D97-AF65-F5344CB8AC3E}">
        <p14:creationId xmlns:p14="http://schemas.microsoft.com/office/powerpoint/2010/main" val="1551013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CEC3-DB19-1AEE-0EDB-3DF76DE1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545"/>
            <a:ext cx="10515600" cy="404962"/>
          </a:xfrm>
        </p:spPr>
        <p:txBody>
          <a:bodyPr>
            <a:normAutofit fontScale="90000"/>
          </a:bodyPr>
          <a:lstStyle/>
          <a:p>
            <a:r>
              <a:rPr lang="en-GB" dirty="0"/>
              <a:t>Using shared value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A57072-D587-E1A5-D333-2FA2F5EF478F}"/>
              </a:ext>
            </a:extLst>
          </p:cNvPr>
          <p:cNvGrpSpPr>
            <a:grpSpLocks noChangeAspect="1"/>
          </p:cNvGrpSpPr>
          <p:nvPr/>
        </p:nvGrpSpPr>
        <p:grpSpPr>
          <a:xfrm>
            <a:off x="3011959" y="2933182"/>
            <a:ext cx="358929" cy="225707"/>
            <a:chOff x="4487593" y="2873065"/>
            <a:chExt cx="362554" cy="227985"/>
          </a:xfrm>
        </p:grpSpPr>
        <p:sp>
          <p:nvSpPr>
            <p:cNvPr id="4" name="Rectangle 88">
              <a:extLst>
                <a:ext uri="{FF2B5EF4-FFF2-40B4-BE49-F238E27FC236}">
                  <a16:creationId xmlns:a16="http://schemas.microsoft.com/office/drawing/2014/main" id="{61C1D0DD-F305-2147-8AE5-038F5B650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600" kern="0">
                <a:solidFill>
                  <a:sysClr val="windowText" lastClr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1D89A21A-91DB-94A2-4A6D-E52C2C0A4468}"/>
                </a:ext>
              </a:extLst>
            </p:cNvPr>
            <p:cNvSpPr/>
            <p:nvPr/>
          </p:nvSpPr>
          <p:spPr>
            <a:xfrm flipV="1">
              <a:off x="4598432" y="2893729"/>
              <a:ext cx="140837" cy="116646"/>
            </a:xfrm>
            <a:prstGeom prst="triangl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  <p:sp>
          <p:nvSpPr>
            <p:cNvPr id="6" name="Oval 341">
              <a:extLst>
                <a:ext uri="{FF2B5EF4-FFF2-40B4-BE49-F238E27FC236}">
                  <a16:creationId xmlns:a16="http://schemas.microsoft.com/office/drawing/2014/main" id="{F4731CCC-ACD3-BECF-3895-FA3C89515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6" y="2966655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C151F6-1FCE-2D5D-6B52-97372B2A10E9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3191424" y="2093280"/>
            <a:ext cx="4399" cy="839902"/>
          </a:xfrm>
          <a:prstGeom prst="straightConnector1">
            <a:avLst/>
          </a:prstGeom>
          <a:noFill/>
          <a:ln w="15875" cap="rnd" cmpd="sng" algn="ctr">
            <a:solidFill>
              <a:srgbClr val="FF0000"/>
            </a:solidFill>
            <a:prstDash val="solid"/>
            <a:tailEnd type="none"/>
          </a:ln>
          <a:effectLst/>
        </p:spPr>
      </p:cxnSp>
      <p:sp>
        <p:nvSpPr>
          <p:cNvPr id="8" name="Rectangle 60">
            <a:extLst>
              <a:ext uri="{FF2B5EF4-FFF2-40B4-BE49-F238E27FC236}">
                <a16:creationId xmlns:a16="http://schemas.microsoft.com/office/drawing/2014/main" id="{7A757AF0-B608-9567-5258-A23CE59B8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957" y="188166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96B4AE1C-D6A0-CE6A-37A8-F27804BC33F8}"/>
              </a:ext>
            </a:extLst>
          </p:cNvPr>
          <p:cNvSpPr/>
          <p:nvPr/>
        </p:nvSpPr>
        <p:spPr>
          <a:xfrm>
            <a:off x="3106017" y="1934807"/>
            <a:ext cx="179612" cy="101476"/>
          </a:xfrm>
          <a:prstGeom prst="flowChartProcess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713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69E480-31E4-2C9C-C829-06CAA5AF48DC}"/>
              </a:ext>
            </a:extLst>
          </p:cNvPr>
          <p:cNvCxnSpPr>
            <a:endCxn id="8" idx="0"/>
          </p:cNvCxnSpPr>
          <p:nvPr/>
        </p:nvCxnSpPr>
        <p:spPr>
          <a:xfrm flipH="1">
            <a:off x="3195823" y="1756679"/>
            <a:ext cx="2590" cy="124985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249A25-EA10-BE72-9B80-8DA83FE12F2F}"/>
              </a:ext>
            </a:extLst>
          </p:cNvPr>
          <p:cNvSpPr txBox="1"/>
          <p:nvPr/>
        </p:nvSpPr>
        <p:spPr>
          <a:xfrm>
            <a:off x="1932671" y="2897229"/>
            <a:ext cx="7288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TAPI CEP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6924C-4361-7E76-3DBA-B985B4BFB7C7}"/>
              </a:ext>
            </a:extLst>
          </p:cNvPr>
          <p:cNvSpPr txBox="1"/>
          <p:nvPr/>
        </p:nvSpPr>
        <p:spPr>
          <a:xfrm>
            <a:off x="1415695" y="1872950"/>
            <a:ext cx="923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RFC8345 TP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3D22F-6E10-F9B5-178A-3F33892160EC}"/>
              </a:ext>
            </a:extLst>
          </p:cNvPr>
          <p:cNvSpPr txBox="1"/>
          <p:nvPr/>
        </p:nvSpPr>
        <p:spPr>
          <a:xfrm>
            <a:off x="3480376" y="3524261"/>
            <a:ext cx="624206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tapi</a:t>
            </a:r>
            <a:r>
              <a:rPr lang="en-GB" sz="1000" dirty="0"/>
              <a:t>-</a:t>
            </a:r>
            <a:r>
              <a:rPr lang="en-GB" sz="1000" dirty="0" err="1"/>
              <a:t>ietf</a:t>
            </a:r>
            <a:r>
              <a:rPr lang="en-GB" sz="1000" dirty="0"/>
              <a:t>-cep-extensions…</a:t>
            </a:r>
          </a:p>
          <a:p>
            <a:r>
              <a:rPr lang="en-GB" sz="1000" dirty="0"/>
              <a:t>…</a:t>
            </a:r>
          </a:p>
          <a:p>
            <a:r>
              <a:rPr lang="en-GB" sz="1000" dirty="0"/>
              <a:t>    import </a:t>
            </a:r>
            <a:r>
              <a:rPr lang="en-GB" sz="1000" dirty="0" err="1"/>
              <a:t>ietf</a:t>
            </a:r>
            <a:r>
              <a:rPr lang="en-GB" sz="1000" dirty="0"/>
              <a:t>-network {</a:t>
            </a:r>
          </a:p>
          <a:p>
            <a:r>
              <a:rPr lang="en-GB" sz="1000" dirty="0"/>
              <a:t>       prefix </a:t>
            </a:r>
            <a:r>
              <a:rPr lang="en-GB" sz="1000" dirty="0" err="1"/>
              <a:t>nw</a:t>
            </a:r>
            <a:r>
              <a:rPr lang="en-GB" sz="1000" dirty="0"/>
              <a:t>;</a:t>
            </a:r>
          </a:p>
          <a:p>
            <a:r>
              <a:rPr lang="en-GB" sz="1000" dirty="0"/>
              <a:t>       reference</a:t>
            </a:r>
          </a:p>
          <a:p>
            <a:r>
              <a:rPr lang="en-GB" sz="1000" dirty="0"/>
              <a:t>         "RFC 8345: A YANG Data Model for Network Topologies";</a:t>
            </a:r>
          </a:p>
          <a:p>
            <a:r>
              <a:rPr lang="en-GB" sz="1000" dirty="0"/>
              <a:t>     }</a:t>
            </a:r>
          </a:p>
          <a:p>
            <a:r>
              <a:rPr lang="en-GB" sz="1000" dirty="0"/>
              <a:t>…</a:t>
            </a:r>
          </a:p>
          <a:p>
            <a:r>
              <a:rPr lang="en-GB" sz="1000" dirty="0"/>
              <a:t>    list tapi-rfc8345-shared-resource-ref {</a:t>
            </a:r>
          </a:p>
          <a:p>
            <a:r>
              <a:rPr lang="en-GB" sz="1000" dirty="0"/>
              <a:t>        </a:t>
            </a:r>
            <a:r>
              <a:rPr lang="en-US" sz="1000" dirty="0"/>
              <a:t>key “rfc8345-tp-id"; </a:t>
            </a:r>
          </a:p>
          <a:p>
            <a:r>
              <a:rPr lang="en-US" sz="1000" dirty="0"/>
              <a:t>        config false;</a:t>
            </a:r>
          </a:p>
          <a:p>
            <a:r>
              <a:rPr lang="en-US" sz="1000" dirty="0"/>
              <a:t>        description “An RFC8345 termination point can terminate an RFC8345 link.”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leaf tapi-rfc8345-shared-resource-ref {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type string;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config false;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description “Will have a value that can also be found in the corresponding attribute of the TAPI CEP”;</a:t>
            </a:r>
          </a:p>
          <a:p>
            <a:r>
              <a:rPr lang="en-GB" sz="1000" dirty="0"/>
              <a:t>            }</a:t>
            </a:r>
          </a:p>
          <a:p>
            <a:r>
              <a:rPr lang="en-GB" sz="1000" dirty="0"/>
              <a:t>            description "</a:t>
            </a:r>
            <a:r>
              <a:rPr lang="en-US" sz="1000" dirty="0"/>
              <a:t>            description "This attribute provides the reference to the corresponding client TP</a:t>
            </a:r>
          </a:p>
          <a:p>
            <a:r>
              <a:rPr lang="en-US" sz="1000" dirty="0"/>
              <a:t>                (equivalent to a TAPI NEP). Note that the TP is unidirectional, hence the list will contain</a:t>
            </a:r>
          </a:p>
          <a:p>
            <a:r>
              <a:rPr lang="en-US" sz="1000" dirty="0"/>
              <a:t>                two references for a bidirectional CEP. ";</a:t>
            </a:r>
          </a:p>
          <a:p>
            <a:r>
              <a:rPr lang="en-US" sz="1000" dirty="0"/>
              <a:t>            }</a:t>
            </a:r>
          </a:p>
          <a:p>
            <a:r>
              <a:rPr lang="en-US" sz="1000" dirty="0"/>
              <a:t>        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1AB4E9-6C60-A4E6-30B0-AB42DFE387B7}"/>
              </a:ext>
            </a:extLst>
          </p:cNvPr>
          <p:cNvSpPr txBox="1"/>
          <p:nvPr/>
        </p:nvSpPr>
        <p:spPr>
          <a:xfrm>
            <a:off x="4738998" y="630964"/>
            <a:ext cx="624206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tapi</a:t>
            </a:r>
            <a:r>
              <a:rPr lang="en-GB" sz="1000" dirty="0"/>
              <a:t>-</a:t>
            </a:r>
            <a:r>
              <a:rPr lang="en-GB" sz="1000" dirty="0" err="1"/>
              <a:t>tp</a:t>
            </a:r>
            <a:r>
              <a:rPr lang="en-GB" sz="1000" dirty="0"/>
              <a:t>-extensions… </a:t>
            </a:r>
            <a:r>
              <a:rPr lang="en-GB" sz="1000" dirty="0">
                <a:solidFill>
                  <a:srgbClr val="FF0000"/>
                </a:solidFill>
              </a:rPr>
              <a:t>{need to understand standard convention for naming extensions}</a:t>
            </a:r>
          </a:p>
          <a:p>
            <a:endParaRPr lang="en-GB" sz="1000" dirty="0">
              <a:solidFill>
                <a:srgbClr val="FF0000"/>
              </a:solidFill>
            </a:endParaRPr>
          </a:p>
          <a:p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/>
              <a:t>augment “</a:t>
            </a:r>
            <a:r>
              <a:rPr lang="en-GB" sz="1000" dirty="0">
                <a:solidFill>
                  <a:srgbClr val="FF0000"/>
                </a:solidFill>
              </a:rPr>
              <a:t>...rfc8345 </a:t>
            </a:r>
            <a:r>
              <a:rPr lang="en-GB" sz="1000" dirty="0" err="1">
                <a:solidFill>
                  <a:srgbClr val="FF0000"/>
                </a:solidFill>
              </a:rPr>
              <a:t>tp</a:t>
            </a:r>
            <a:r>
              <a:rPr lang="en-GB" sz="1000" dirty="0">
                <a:solidFill>
                  <a:srgbClr val="FF0000"/>
                </a:solidFill>
              </a:rPr>
              <a:t>…</a:t>
            </a:r>
            <a:r>
              <a:rPr lang="en-GB" sz="1000" dirty="0"/>
              <a:t>" {</a:t>
            </a:r>
          </a:p>
          <a:p>
            <a:r>
              <a:rPr lang="en-GB" sz="1000" dirty="0"/>
              <a:t>        container supporting-</a:t>
            </a:r>
            <a:r>
              <a:rPr lang="en-GB" sz="1000" dirty="0" err="1"/>
              <a:t>tapi</a:t>
            </a:r>
            <a:r>
              <a:rPr lang="en-GB" sz="1000" dirty="0"/>
              <a:t>-cep {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leaf tapi-rfc8345-shared-resource-ref {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type string;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config false;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    description “Will have a value that can also be found in the corresponding attribute of the TAPI CEP”;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}</a:t>
            </a:r>
          </a:p>
          <a:p>
            <a:r>
              <a:rPr lang="en-GB" sz="1000" dirty="0"/>
              <a:t>            description "This augment allows RFC8345 TP to refer to a TAPI CEPs. </a:t>
            </a:r>
            <a:r>
              <a:rPr lang="en-US" sz="1000" dirty="0"/>
              <a:t>This list identifies any</a:t>
            </a:r>
          </a:p>
          <a:p>
            <a:r>
              <a:rPr lang="en-US" sz="1000" dirty="0"/>
              <a:t>                TAPI CEPs onto which it maps (directly depends).</a:t>
            </a:r>
          </a:p>
          <a:p>
            <a:r>
              <a:rPr lang="en-US" sz="1000" dirty="0"/>
              <a:t>                This dependency information cannot be inferred from the dependencies between links</a:t>
            </a:r>
          </a:p>
          <a:p>
            <a:r>
              <a:rPr lang="en-US" sz="1000" dirty="0"/>
              <a:t>                as no interlink reference is provided between models.</a:t>
            </a:r>
            <a:r>
              <a:rPr lang="en-GB" sz="1000" dirty="0"/>
              <a:t>";</a:t>
            </a:r>
          </a:p>
          <a:p>
            <a:r>
              <a:rPr lang="en-GB" sz="1000" dirty="0"/>
              <a:t>        }</a:t>
            </a:r>
          </a:p>
          <a:p>
            <a:r>
              <a:rPr lang="en-GB" sz="1000" dirty="0"/>
              <a:t>        description “…";</a:t>
            </a:r>
          </a:p>
          <a:p>
            <a:r>
              <a:rPr lang="en-GB" sz="1000" dirty="0"/>
              <a:t>    }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2F9123-5673-98E8-19D3-0D7085A06023}"/>
              </a:ext>
            </a:extLst>
          </p:cNvPr>
          <p:cNvCxnSpPr>
            <a:cxnSpLocks/>
          </p:cNvCxnSpPr>
          <p:nvPr/>
        </p:nvCxnSpPr>
        <p:spPr>
          <a:xfrm flipH="1" flipV="1">
            <a:off x="3440719" y="3174228"/>
            <a:ext cx="472913" cy="350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8FFA2-E743-6826-A7DC-D64A19DD313D}"/>
              </a:ext>
            </a:extLst>
          </p:cNvPr>
          <p:cNvCxnSpPr>
            <a:stCxn id="14" idx="1"/>
          </p:cNvCxnSpPr>
          <p:nvPr/>
        </p:nvCxnSpPr>
        <p:spPr>
          <a:xfrm flipH="1">
            <a:off x="3465094" y="1985181"/>
            <a:ext cx="1273904" cy="8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ED2259-0246-53DB-8A7E-BC65993FC9CE}"/>
              </a:ext>
            </a:extLst>
          </p:cNvPr>
          <p:cNvCxnSpPr>
            <a:cxnSpLocks/>
            <a:stCxn id="18" idx="2"/>
            <a:endCxn id="5" idx="3"/>
          </p:cNvCxnSpPr>
          <p:nvPr/>
        </p:nvCxnSpPr>
        <p:spPr>
          <a:xfrm>
            <a:off x="2586708" y="2093280"/>
            <a:ext cx="604697" cy="860360"/>
          </a:xfrm>
          <a:prstGeom prst="straightConnector1">
            <a:avLst/>
          </a:prstGeom>
          <a:noFill/>
          <a:ln w="15875" cap="rnd" cmpd="sng" algn="ctr">
            <a:solidFill>
              <a:srgbClr val="FF0000"/>
            </a:solidFill>
            <a:prstDash val="solid"/>
            <a:tailEnd type="none"/>
          </a:ln>
          <a:effectLst/>
        </p:spPr>
      </p:cxnSp>
      <p:sp>
        <p:nvSpPr>
          <p:cNvPr id="18" name="Rectangle 60">
            <a:extLst>
              <a:ext uri="{FF2B5EF4-FFF2-40B4-BE49-F238E27FC236}">
                <a16:creationId xmlns:a16="http://schemas.microsoft.com/office/drawing/2014/main" id="{73BE4BCB-B1D2-7C2F-10E0-4E64B6056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842" y="188166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B80F4D86-3BF2-3479-50E3-0ADE695C68F8}"/>
              </a:ext>
            </a:extLst>
          </p:cNvPr>
          <p:cNvSpPr/>
          <p:nvPr/>
        </p:nvSpPr>
        <p:spPr>
          <a:xfrm>
            <a:off x="2496902" y="1934807"/>
            <a:ext cx="179612" cy="101476"/>
          </a:xfrm>
          <a:prstGeom prst="flowChartProcess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713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BF233D-3BAA-8D93-47FF-469DC5146CF3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2586708" y="1756679"/>
            <a:ext cx="2590" cy="124985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A3AAA55-D8C1-EA1E-EB72-D19E88E94200}"/>
              </a:ext>
            </a:extLst>
          </p:cNvPr>
          <p:cNvSpPr txBox="1"/>
          <p:nvPr/>
        </p:nvSpPr>
        <p:spPr>
          <a:xfrm>
            <a:off x="2114208" y="3162557"/>
            <a:ext cx="156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Bidirectional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A5034E-0D88-F2A8-A0AB-2B5D0B716EDA}"/>
              </a:ext>
            </a:extLst>
          </p:cNvPr>
          <p:cNvSpPr txBox="1"/>
          <p:nvPr/>
        </p:nvSpPr>
        <p:spPr>
          <a:xfrm>
            <a:off x="2171488" y="2096155"/>
            <a:ext cx="475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RX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1162F6-5986-0A89-A298-AE7E26D185C3}"/>
              </a:ext>
            </a:extLst>
          </p:cNvPr>
          <p:cNvSpPr txBox="1"/>
          <p:nvPr/>
        </p:nvSpPr>
        <p:spPr>
          <a:xfrm>
            <a:off x="3285629" y="2096155"/>
            <a:ext cx="475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TX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9FBC8C-5E4C-3EDE-0166-765CEF135571}"/>
              </a:ext>
            </a:extLst>
          </p:cNvPr>
          <p:cNvSpPr txBox="1"/>
          <p:nvPr/>
        </p:nvSpPr>
        <p:spPr>
          <a:xfrm>
            <a:off x="8254999" y="979004"/>
            <a:ext cx="272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Extension to RFC8345 as an augmentation maintained by ONF TAPI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1F25E2-4736-424A-40A2-3537B1CF922A}"/>
              </a:ext>
            </a:extLst>
          </p:cNvPr>
          <p:cNvSpPr txBox="1"/>
          <p:nvPr/>
        </p:nvSpPr>
        <p:spPr>
          <a:xfrm>
            <a:off x="6180665" y="3546532"/>
            <a:ext cx="2700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Extension to TAPI as an augmentation maintained by ONF TAPI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A95EDC-3825-D6E5-7799-8505835DC90A}"/>
              </a:ext>
            </a:extLst>
          </p:cNvPr>
          <p:cNvSpPr txBox="1"/>
          <p:nvPr/>
        </p:nvSpPr>
        <p:spPr>
          <a:xfrm>
            <a:off x="1397578" y="1157961"/>
            <a:ext cx="2499530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The RFC8345 TP may be bidirectional</a:t>
            </a:r>
          </a:p>
          <a:p>
            <a:r>
              <a:rPr lang="en-GB" sz="1200" dirty="0">
                <a:solidFill>
                  <a:srgbClr val="FF0000"/>
                </a:solidFill>
              </a:rPr>
              <a:t>A unidirectional example is shown</a:t>
            </a:r>
          </a:p>
        </p:txBody>
      </p:sp>
    </p:spTree>
    <p:extLst>
      <p:ext uri="{BB962C8B-B14F-4D97-AF65-F5344CB8AC3E}">
        <p14:creationId xmlns:p14="http://schemas.microsoft.com/office/powerpoint/2010/main" val="1409277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60CA8B1-7F66-40E1-3BAE-B8E1EA046344}"/>
              </a:ext>
            </a:extLst>
          </p:cNvPr>
          <p:cNvGrpSpPr>
            <a:grpSpLocks noChangeAspect="1"/>
          </p:cNvGrpSpPr>
          <p:nvPr/>
        </p:nvGrpSpPr>
        <p:grpSpPr>
          <a:xfrm>
            <a:off x="3011959" y="2933182"/>
            <a:ext cx="358929" cy="225707"/>
            <a:chOff x="4487593" y="2873065"/>
            <a:chExt cx="362554" cy="227985"/>
          </a:xfrm>
        </p:grpSpPr>
        <p:sp>
          <p:nvSpPr>
            <p:cNvPr id="13" name="Rectangle 88">
              <a:extLst>
                <a:ext uri="{FF2B5EF4-FFF2-40B4-BE49-F238E27FC236}">
                  <a16:creationId xmlns:a16="http://schemas.microsoft.com/office/drawing/2014/main" id="{4605CCC7-619A-19E4-C37B-D3C342C00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600" kern="0">
                <a:solidFill>
                  <a:sysClr val="windowText" lastClr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B38848F-D94D-72AD-F1AC-9E015862FFAE}"/>
                </a:ext>
              </a:extLst>
            </p:cNvPr>
            <p:cNvSpPr/>
            <p:nvPr/>
          </p:nvSpPr>
          <p:spPr>
            <a:xfrm flipV="1">
              <a:off x="4598432" y="2893729"/>
              <a:ext cx="140837" cy="116646"/>
            </a:xfrm>
            <a:prstGeom prst="triangl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  <p:sp>
          <p:nvSpPr>
            <p:cNvPr id="15" name="Oval 341">
              <a:extLst>
                <a:ext uri="{FF2B5EF4-FFF2-40B4-BE49-F238E27FC236}">
                  <a16:creationId xmlns:a16="http://schemas.microsoft.com/office/drawing/2014/main" id="{D23ECE66-9EE5-DD85-70D7-9CD486A0B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6" y="2966655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7E802B-8040-0279-CF96-81E43DF6AA47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 flipH="1">
            <a:off x="3191424" y="2093280"/>
            <a:ext cx="4399" cy="839902"/>
          </a:xfrm>
          <a:prstGeom prst="straightConnector1">
            <a:avLst/>
          </a:prstGeom>
          <a:noFill/>
          <a:ln w="15875" cap="rnd" cmpd="sng" algn="ctr">
            <a:solidFill>
              <a:srgbClr val="FF0000"/>
            </a:solidFill>
            <a:prstDash val="solid"/>
            <a:tailEnd type="none"/>
          </a:ln>
          <a:effectLst/>
        </p:spPr>
      </p:cxnSp>
      <p:sp>
        <p:nvSpPr>
          <p:cNvPr id="17" name="Rectangle 60">
            <a:extLst>
              <a:ext uri="{FF2B5EF4-FFF2-40B4-BE49-F238E27FC236}">
                <a16:creationId xmlns:a16="http://schemas.microsoft.com/office/drawing/2014/main" id="{CFD9C27D-61B5-5BB1-4AEF-E28A89F8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957" y="188166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14B7C761-5D7B-A501-C239-B47F983B4305}"/>
              </a:ext>
            </a:extLst>
          </p:cNvPr>
          <p:cNvSpPr/>
          <p:nvPr/>
        </p:nvSpPr>
        <p:spPr>
          <a:xfrm>
            <a:off x="3106017" y="1934807"/>
            <a:ext cx="179612" cy="101476"/>
          </a:xfrm>
          <a:prstGeom prst="flowChartProcess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713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4BC16FD-2534-4134-1460-8CD0EC2DD723}"/>
              </a:ext>
            </a:extLst>
          </p:cNvPr>
          <p:cNvCxnSpPr>
            <a:endCxn id="17" idx="0"/>
          </p:cNvCxnSpPr>
          <p:nvPr/>
        </p:nvCxnSpPr>
        <p:spPr>
          <a:xfrm flipH="1">
            <a:off x="3195823" y="1756679"/>
            <a:ext cx="2590" cy="124985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71C8B6A-5E3C-B0EF-0AFF-5EB16F754C7A}"/>
              </a:ext>
            </a:extLst>
          </p:cNvPr>
          <p:cNvSpPr txBox="1"/>
          <p:nvPr/>
        </p:nvSpPr>
        <p:spPr>
          <a:xfrm>
            <a:off x="1932671" y="2897229"/>
            <a:ext cx="7288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TAPI CEP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30D00-1E5A-F068-A1EE-9B7806CA5FBE}"/>
              </a:ext>
            </a:extLst>
          </p:cNvPr>
          <p:cNvSpPr txBox="1"/>
          <p:nvPr/>
        </p:nvSpPr>
        <p:spPr>
          <a:xfrm>
            <a:off x="1415695" y="1872950"/>
            <a:ext cx="923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RFC8345 TP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9B86A0-FCF1-EF46-EB80-C77643AF7B18}"/>
              </a:ext>
            </a:extLst>
          </p:cNvPr>
          <p:cNvSpPr txBox="1"/>
          <p:nvPr/>
        </p:nvSpPr>
        <p:spPr>
          <a:xfrm>
            <a:off x="3480376" y="3524261"/>
            <a:ext cx="624206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tapi</a:t>
            </a:r>
            <a:r>
              <a:rPr lang="en-GB" sz="1000" dirty="0"/>
              <a:t>-</a:t>
            </a:r>
            <a:r>
              <a:rPr lang="en-GB" sz="1000" dirty="0" err="1"/>
              <a:t>ietf</a:t>
            </a:r>
            <a:r>
              <a:rPr lang="en-GB" sz="1000" dirty="0"/>
              <a:t>-cep-extensions…</a:t>
            </a:r>
          </a:p>
          <a:p>
            <a:r>
              <a:rPr lang="en-GB" sz="1000" dirty="0"/>
              <a:t>…</a:t>
            </a:r>
          </a:p>
          <a:p>
            <a:r>
              <a:rPr lang="en-GB" sz="1000" dirty="0"/>
              <a:t>    import </a:t>
            </a:r>
            <a:r>
              <a:rPr lang="en-GB" sz="1000" dirty="0" err="1"/>
              <a:t>ietf</a:t>
            </a:r>
            <a:r>
              <a:rPr lang="en-GB" sz="1000" dirty="0"/>
              <a:t>-network {</a:t>
            </a:r>
          </a:p>
          <a:p>
            <a:r>
              <a:rPr lang="en-GB" sz="1000" dirty="0"/>
              <a:t>       prefix </a:t>
            </a:r>
            <a:r>
              <a:rPr lang="en-GB" sz="1000" dirty="0" err="1"/>
              <a:t>nw</a:t>
            </a:r>
            <a:r>
              <a:rPr lang="en-GB" sz="1000" dirty="0"/>
              <a:t>;</a:t>
            </a:r>
          </a:p>
          <a:p>
            <a:r>
              <a:rPr lang="en-GB" sz="1000" dirty="0"/>
              <a:t>       reference</a:t>
            </a:r>
          </a:p>
          <a:p>
            <a:r>
              <a:rPr lang="en-GB" sz="1000" dirty="0"/>
              <a:t>         "RFC 8345: A YANG Data Model for Network Topologies";</a:t>
            </a:r>
          </a:p>
          <a:p>
            <a:r>
              <a:rPr lang="en-GB" sz="1000" dirty="0"/>
              <a:t>     }</a:t>
            </a:r>
          </a:p>
          <a:p>
            <a:r>
              <a:rPr lang="en-GB" sz="1000" dirty="0"/>
              <a:t>…</a:t>
            </a:r>
          </a:p>
          <a:p>
            <a:r>
              <a:rPr lang="en-GB" sz="1000" dirty="0"/>
              <a:t>    list client-rfc8345-termination-point {</a:t>
            </a:r>
          </a:p>
          <a:p>
            <a:r>
              <a:rPr lang="en-GB" sz="1000" dirty="0"/>
              <a:t>        </a:t>
            </a:r>
            <a:r>
              <a:rPr lang="en-US" sz="1000" dirty="0"/>
              <a:t>key “rfc8345-tp-id"; </a:t>
            </a:r>
          </a:p>
          <a:p>
            <a:r>
              <a:rPr lang="en-US" sz="1000" dirty="0"/>
              <a:t>        config false;</a:t>
            </a:r>
          </a:p>
          <a:p>
            <a:r>
              <a:rPr lang="en-US" sz="1000" dirty="0"/>
              <a:t>        description “An RFC8345 termination point can terminate an RFC8345 link.”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leaf rfc8345-tp-id {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uses </a:t>
            </a:r>
            <a:r>
              <a:rPr lang="en-US" sz="1000" dirty="0" err="1">
                <a:highlight>
                  <a:srgbClr val="FFFF00"/>
                </a:highlight>
              </a:rPr>
              <a:t>nw:tp-id</a:t>
            </a:r>
            <a:r>
              <a:rPr lang="en-US" sz="1000" dirty="0">
                <a:highlight>
                  <a:srgbClr val="FFFF00"/>
                </a:highlight>
              </a:rPr>
              <a:t>;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description "This attribute provides the reference to the corresponding client TP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    (equivalent to a TAPI NEP). Note that the TP is unidirectional, hence the list will contain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    two references for a bidirectional CEP. ";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}</a:t>
            </a:r>
          </a:p>
          <a:p>
            <a:r>
              <a:rPr lang="en-US" sz="1000" dirty="0"/>
              <a:t>        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7F5599-061C-CCF0-1C35-4253476D97D0}"/>
              </a:ext>
            </a:extLst>
          </p:cNvPr>
          <p:cNvSpPr txBox="1"/>
          <p:nvPr/>
        </p:nvSpPr>
        <p:spPr>
          <a:xfrm>
            <a:off x="4738998" y="630964"/>
            <a:ext cx="624206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tapi</a:t>
            </a:r>
            <a:r>
              <a:rPr lang="en-GB" sz="1000" dirty="0"/>
              <a:t>-</a:t>
            </a:r>
            <a:r>
              <a:rPr lang="en-GB" sz="1000" dirty="0" err="1"/>
              <a:t>tp</a:t>
            </a:r>
            <a:r>
              <a:rPr lang="en-GB" sz="1000" dirty="0"/>
              <a:t>-extensions… </a:t>
            </a:r>
            <a:r>
              <a:rPr lang="en-GB" sz="1000" dirty="0">
                <a:solidFill>
                  <a:srgbClr val="FF0000"/>
                </a:solidFill>
              </a:rPr>
              <a:t>{need to understand standard convention for naming extensions}</a:t>
            </a:r>
          </a:p>
          <a:p>
            <a:endParaRPr lang="en-GB" sz="1000" dirty="0">
              <a:solidFill>
                <a:srgbClr val="FF0000"/>
              </a:solidFill>
            </a:endParaRPr>
          </a:p>
          <a:p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/>
              <a:t>augment “</a:t>
            </a:r>
            <a:r>
              <a:rPr lang="en-GB" sz="1000" dirty="0">
                <a:solidFill>
                  <a:srgbClr val="FF0000"/>
                </a:solidFill>
              </a:rPr>
              <a:t>...rfc8345 </a:t>
            </a:r>
            <a:r>
              <a:rPr lang="en-GB" sz="1000" dirty="0" err="1">
                <a:solidFill>
                  <a:srgbClr val="FF0000"/>
                </a:solidFill>
              </a:rPr>
              <a:t>tp</a:t>
            </a:r>
            <a:r>
              <a:rPr lang="en-GB" sz="1000" dirty="0">
                <a:solidFill>
                  <a:srgbClr val="FF0000"/>
                </a:solidFill>
              </a:rPr>
              <a:t>…</a:t>
            </a:r>
            <a:r>
              <a:rPr lang="en-GB" sz="1000" dirty="0"/>
              <a:t>" {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container supporting-</a:t>
            </a:r>
            <a:r>
              <a:rPr lang="en-GB" sz="1000" dirty="0" err="1">
                <a:highlight>
                  <a:srgbClr val="FFFF00"/>
                </a:highlight>
              </a:rPr>
              <a:t>tapi</a:t>
            </a:r>
            <a:r>
              <a:rPr lang="en-GB" sz="1000" dirty="0">
                <a:highlight>
                  <a:srgbClr val="FFFF00"/>
                </a:highlight>
              </a:rPr>
              <a:t>-cep {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uses </a:t>
            </a:r>
            <a:r>
              <a:rPr lang="en-GB" sz="1000" dirty="0" err="1">
                <a:highlight>
                  <a:srgbClr val="FFFF00"/>
                </a:highlight>
              </a:rPr>
              <a:t>tapi-connectivity:</a:t>
            </a:r>
            <a:r>
              <a:rPr lang="en-GB" sz="1000" strike="sngStrike" dirty="0" err="1">
                <a:highlight>
                  <a:srgbClr val="FFFF00"/>
                </a:highlight>
              </a:rPr>
              <a:t>cep-list</a:t>
            </a:r>
            <a:r>
              <a:rPr lang="en-GB" sz="1000" strike="sngStrike" dirty="0">
                <a:highlight>
                  <a:srgbClr val="FFFF00"/>
                </a:highlight>
              </a:rPr>
              <a:t>; </a:t>
            </a:r>
            <a:r>
              <a:rPr lang="en-GB" sz="1000" dirty="0">
                <a:highlight>
                  <a:srgbClr val="FFFF00"/>
                </a:highlight>
              </a:rPr>
              <a:t>connection-end-point-ref;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    description "This augment allows RFC8345 TP to refer to a TAPI CEPs. </a:t>
            </a:r>
            <a:r>
              <a:rPr lang="en-US" sz="1000" dirty="0">
                <a:highlight>
                  <a:srgbClr val="FFFF00"/>
                </a:highlight>
              </a:rPr>
              <a:t>This list identifies any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    TAPI CEPs onto which it maps (directly depends).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    This dependency information cannot be inferred from the dependencies between links</a:t>
            </a:r>
          </a:p>
          <a:p>
            <a:r>
              <a:rPr lang="en-US" sz="1000" dirty="0">
                <a:highlight>
                  <a:srgbClr val="FFFF00"/>
                </a:highlight>
              </a:rPr>
              <a:t>                as no interlink reference is provided between models.</a:t>
            </a:r>
            <a:r>
              <a:rPr lang="en-GB" sz="1000" dirty="0">
                <a:highlight>
                  <a:srgbClr val="FFFF00"/>
                </a:highlight>
              </a:rPr>
              <a:t>";</a:t>
            </a:r>
          </a:p>
          <a:p>
            <a:r>
              <a:rPr lang="en-GB" sz="1000" dirty="0">
                <a:highlight>
                  <a:srgbClr val="FFFF00"/>
                </a:highlight>
              </a:rPr>
              <a:t>        }</a:t>
            </a:r>
          </a:p>
          <a:p>
            <a:r>
              <a:rPr lang="en-GB" sz="1000" dirty="0"/>
              <a:t>        description “…";</a:t>
            </a:r>
          </a:p>
          <a:p>
            <a:r>
              <a:rPr lang="en-GB" sz="1000" dirty="0"/>
              <a:t>    }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7212D3-3AEA-923E-1EF7-19AFDF5FCFD8}"/>
              </a:ext>
            </a:extLst>
          </p:cNvPr>
          <p:cNvCxnSpPr>
            <a:cxnSpLocks/>
          </p:cNvCxnSpPr>
          <p:nvPr/>
        </p:nvCxnSpPr>
        <p:spPr>
          <a:xfrm flipH="1" flipV="1">
            <a:off x="3440719" y="3174228"/>
            <a:ext cx="472913" cy="350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5B00587-37AD-719A-34CF-B4E9813CFEFB}"/>
              </a:ext>
            </a:extLst>
          </p:cNvPr>
          <p:cNvCxnSpPr>
            <a:stCxn id="23" idx="1"/>
          </p:cNvCxnSpPr>
          <p:nvPr/>
        </p:nvCxnSpPr>
        <p:spPr>
          <a:xfrm flipH="1">
            <a:off x="3465094" y="1677405"/>
            <a:ext cx="1273904" cy="316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45C1952-0F2C-3EFD-4A9B-496FC7EBBBBC}"/>
              </a:ext>
            </a:extLst>
          </p:cNvPr>
          <p:cNvCxnSpPr>
            <a:cxnSpLocks/>
            <a:stCxn id="3" idx="2"/>
            <a:endCxn id="14" idx="3"/>
          </p:cNvCxnSpPr>
          <p:nvPr/>
        </p:nvCxnSpPr>
        <p:spPr>
          <a:xfrm>
            <a:off x="2586708" y="2093280"/>
            <a:ext cx="604697" cy="860360"/>
          </a:xfrm>
          <a:prstGeom prst="straightConnector1">
            <a:avLst/>
          </a:prstGeom>
          <a:noFill/>
          <a:ln w="15875" cap="rnd" cmpd="sng" algn="ctr">
            <a:solidFill>
              <a:srgbClr val="FF0000"/>
            </a:solidFill>
            <a:prstDash val="solid"/>
            <a:tailEnd type="none"/>
          </a:ln>
          <a:effectLst/>
        </p:spPr>
      </p:cxnSp>
      <p:sp>
        <p:nvSpPr>
          <p:cNvPr id="3" name="Rectangle 60">
            <a:extLst>
              <a:ext uri="{FF2B5EF4-FFF2-40B4-BE49-F238E27FC236}">
                <a16:creationId xmlns:a16="http://schemas.microsoft.com/office/drawing/2014/main" id="{2A20A6EA-8E14-6CF9-1600-47C3EC782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842" y="1881664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4571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41313"/>
              </a:solidFill>
              <a:effectLst/>
              <a:uLnTx/>
              <a:uFillTx/>
            </a:endParaRP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730A63CD-CBF7-E9E7-64E1-CB534BDCE120}"/>
              </a:ext>
            </a:extLst>
          </p:cNvPr>
          <p:cNvSpPr/>
          <p:nvPr/>
        </p:nvSpPr>
        <p:spPr>
          <a:xfrm>
            <a:off x="2496902" y="1934807"/>
            <a:ext cx="179612" cy="101476"/>
          </a:xfrm>
          <a:prstGeom prst="flowChartProcess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713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0815F2-2117-A56A-063E-CB4EF9161F60}"/>
              </a:ext>
            </a:extLst>
          </p:cNvPr>
          <p:cNvCxnSpPr>
            <a:endCxn id="3" idx="0"/>
          </p:cNvCxnSpPr>
          <p:nvPr/>
        </p:nvCxnSpPr>
        <p:spPr>
          <a:xfrm flipH="1">
            <a:off x="2586708" y="1756679"/>
            <a:ext cx="2590" cy="124985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5AA855-44AE-54A3-11A4-78AFF7674C32}"/>
              </a:ext>
            </a:extLst>
          </p:cNvPr>
          <p:cNvSpPr txBox="1"/>
          <p:nvPr/>
        </p:nvSpPr>
        <p:spPr>
          <a:xfrm>
            <a:off x="2114208" y="3162557"/>
            <a:ext cx="156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Bidirectional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D823A-D166-F513-76DC-53E88913081B}"/>
              </a:ext>
            </a:extLst>
          </p:cNvPr>
          <p:cNvSpPr txBox="1"/>
          <p:nvPr/>
        </p:nvSpPr>
        <p:spPr>
          <a:xfrm>
            <a:off x="2171488" y="2096155"/>
            <a:ext cx="475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RX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CB7BA4-B7DD-00A5-11A5-30A005526DBF}"/>
              </a:ext>
            </a:extLst>
          </p:cNvPr>
          <p:cNvSpPr txBox="1"/>
          <p:nvPr/>
        </p:nvSpPr>
        <p:spPr>
          <a:xfrm>
            <a:off x="3285629" y="2096155"/>
            <a:ext cx="475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TX</a:t>
            </a:r>
            <a:endParaRPr lang="en-US" sz="12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D295D99-2411-FA0B-573F-4E7DD3CFF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4" y="158315"/>
            <a:ext cx="10515600" cy="388408"/>
          </a:xfrm>
        </p:spPr>
        <p:txBody>
          <a:bodyPr>
            <a:normAutofit fontScale="90000"/>
          </a:bodyPr>
          <a:lstStyle/>
          <a:p>
            <a:r>
              <a:rPr lang="en-GB" dirty="0"/>
              <a:t>Using explicit foreign reference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EEB2F4-39A9-59C8-C423-D5A056D8F579}"/>
              </a:ext>
            </a:extLst>
          </p:cNvPr>
          <p:cNvSpPr txBox="1"/>
          <p:nvPr/>
        </p:nvSpPr>
        <p:spPr>
          <a:xfrm>
            <a:off x="8254999" y="979004"/>
            <a:ext cx="272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Extension to RFC8345 as an augmentation maintained by ONF TAPI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BC51CA-908D-10A3-410E-C7DC905BF687}"/>
              </a:ext>
            </a:extLst>
          </p:cNvPr>
          <p:cNvSpPr txBox="1"/>
          <p:nvPr/>
        </p:nvSpPr>
        <p:spPr>
          <a:xfrm>
            <a:off x="6180665" y="3546532"/>
            <a:ext cx="2700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Extension to TAPI as an augmentation maintained by ONF TAPI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ED83FF-5644-F6FC-51A2-AD3719A7CEA2}"/>
              </a:ext>
            </a:extLst>
          </p:cNvPr>
          <p:cNvSpPr/>
          <p:nvPr/>
        </p:nvSpPr>
        <p:spPr>
          <a:xfrm rot="19933523">
            <a:off x="3299372" y="2967335"/>
            <a:ext cx="55932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Not recommended</a:t>
            </a:r>
          </a:p>
        </p:txBody>
      </p:sp>
    </p:spTree>
    <p:extLst>
      <p:ext uri="{BB962C8B-B14F-4D97-AF65-F5344CB8AC3E}">
        <p14:creationId xmlns:p14="http://schemas.microsoft.com/office/powerpoint/2010/main" val="3594744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61DE710A-3794-04D9-6772-08F9BA8F386A}"/>
              </a:ext>
            </a:extLst>
          </p:cNvPr>
          <p:cNvSpPr txBox="1"/>
          <p:nvPr/>
        </p:nvSpPr>
        <p:spPr>
          <a:xfrm>
            <a:off x="304800" y="3907458"/>
            <a:ext cx="11474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Termination Point: IETF Yang is ambiguous… From RFC8345:</a:t>
            </a:r>
          </a:p>
          <a:p>
            <a:r>
              <a:rPr lang="en-US" sz="1100" dirty="0"/>
              <a:t>"A termination point can terminate a link.</a:t>
            </a:r>
          </a:p>
          <a:p>
            <a:r>
              <a:rPr lang="en-US" sz="1100" dirty="0"/>
              <a:t>Depending on the type of topology, a termination point</a:t>
            </a:r>
          </a:p>
          <a:p>
            <a:r>
              <a:rPr lang="en-US" sz="1100" dirty="0"/>
              <a:t>could, for example, refer to a port or an interface.";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56ACD4-44A3-990F-2200-E497539705E5}"/>
              </a:ext>
            </a:extLst>
          </p:cNvPr>
          <p:cNvSpPr txBox="1"/>
          <p:nvPr/>
        </p:nvSpPr>
        <p:spPr>
          <a:xfrm>
            <a:off x="304801" y="2138023"/>
            <a:ext cx="114742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Interface: RFC8343 provides definition of an interface which suggests that it is a hybrid entity. The interface appears to have content that might be expected in a CEP (leaf speed (units "bits/second“), leaf in-octets (counter64)), but it also has  properties that might be in an </a:t>
            </a:r>
            <a:r>
              <a:rPr lang="en-GB" sz="1100" dirty="0" err="1"/>
              <a:t>AccessPort</a:t>
            </a:r>
            <a:r>
              <a:rPr lang="en-GB" sz="1100" dirty="0"/>
              <a:t> as it has an appendix section with the following (ambiguous) statement:</a:t>
            </a:r>
          </a:p>
          <a:p>
            <a:pPr lvl="1"/>
            <a:r>
              <a:rPr lang="en-US" sz="1100" dirty="0"/>
              <a:t>In this example, a router has support for 4 line cards, each with 8 ports.  The slots for the cards are physically numbered from 0 to 3, and the ports on each card from 0 to 7.  Each card has Fast Ethernet or Gigabit Ethernet ports.</a:t>
            </a:r>
          </a:p>
          <a:p>
            <a:pPr lvl="1"/>
            <a:r>
              <a:rPr lang="en-US" sz="1100" dirty="0"/>
              <a:t>The device-specific names for these physical interfaces are "</a:t>
            </a:r>
            <a:r>
              <a:rPr lang="en-US" sz="1100" dirty="0" err="1"/>
              <a:t>fastethernet</a:t>
            </a:r>
            <a:r>
              <a:rPr lang="en-US" sz="1100" dirty="0"/>
              <a:t>-N/M" or "</a:t>
            </a:r>
            <a:r>
              <a:rPr lang="en-US" sz="1100" dirty="0" err="1"/>
              <a:t>gigabitethernet</a:t>
            </a:r>
            <a:r>
              <a:rPr lang="en-US" sz="1100" dirty="0"/>
              <a:t>-N/M". The name of a VLAN interface is restricted to the form "&lt;physical-interface-name&gt;.&lt;</a:t>
            </a:r>
            <a:r>
              <a:rPr lang="en-US" sz="1100" dirty="0" err="1"/>
              <a:t>subinterface</a:t>
            </a:r>
            <a:r>
              <a:rPr lang="en-US" sz="1100" dirty="0"/>
              <a:t>-number&gt;".</a:t>
            </a:r>
            <a:endParaRPr lang="en-GB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7608E2-AE6F-DCD8-2B53-8BC0CD3D7095}"/>
              </a:ext>
            </a:extLst>
          </p:cNvPr>
          <p:cNvSpPr txBox="1"/>
          <p:nvPr/>
        </p:nvSpPr>
        <p:spPr>
          <a:xfrm>
            <a:off x="304802" y="3434556"/>
            <a:ext cx="1147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Physical: RFC8343 uses the word “physical” for non-physical things.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AC0CF8-E94F-036F-630B-265B0A559A87}"/>
              </a:ext>
            </a:extLst>
          </p:cNvPr>
          <p:cNvSpPr txBox="1"/>
          <p:nvPr/>
        </p:nvSpPr>
        <p:spPr>
          <a:xfrm>
            <a:off x="304802" y="4734329"/>
            <a:ext cx="1147428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Termination Point: RFC8346 has a termination point property grouping l3-termination-point-attributes that provides some linkage to interface.</a:t>
            </a:r>
          </a:p>
          <a:p>
            <a:r>
              <a:rPr lang="en-GB" sz="1100" dirty="0"/>
              <a:t>augment /</a:t>
            </a:r>
            <a:r>
              <a:rPr lang="en-GB" sz="1100" dirty="0" err="1"/>
              <a:t>nw:networks</a:t>
            </a:r>
            <a:r>
              <a:rPr lang="en-GB" sz="1100" dirty="0"/>
              <a:t>/</a:t>
            </a:r>
            <a:r>
              <a:rPr lang="en-GB" sz="1100" dirty="0" err="1"/>
              <a:t>nw:network</a:t>
            </a:r>
            <a:r>
              <a:rPr lang="en-GB" sz="1100" dirty="0"/>
              <a:t>/</a:t>
            </a:r>
            <a:r>
              <a:rPr lang="en-GB" sz="1100" dirty="0" err="1"/>
              <a:t>nw:node</a:t>
            </a:r>
            <a:r>
              <a:rPr lang="en-GB" sz="1100" dirty="0"/>
              <a:t>/</a:t>
            </a:r>
            <a:r>
              <a:rPr lang="en-GB" sz="1100" dirty="0" err="1"/>
              <a:t>nt:termination-point</a:t>
            </a:r>
            <a:r>
              <a:rPr lang="en-GB" sz="1100" dirty="0"/>
              <a:t>:</a:t>
            </a:r>
          </a:p>
          <a:p>
            <a:r>
              <a:rPr lang="en-GB" sz="1100" dirty="0"/>
              <a:t>       +--</a:t>
            </a:r>
            <a:r>
              <a:rPr lang="en-GB" sz="1100" dirty="0" err="1"/>
              <a:t>rw</a:t>
            </a:r>
            <a:r>
              <a:rPr lang="en-GB" sz="1100" dirty="0"/>
              <a:t> l3-termination-point-attributes</a:t>
            </a:r>
          </a:p>
          <a:p>
            <a:r>
              <a:rPr lang="en-GB" sz="1100" dirty="0"/>
              <a:t>          +--</a:t>
            </a:r>
            <a:r>
              <a:rPr lang="en-GB" sz="1100" dirty="0" err="1"/>
              <a:t>rw</a:t>
            </a:r>
            <a:r>
              <a:rPr lang="en-GB" sz="1100" dirty="0"/>
              <a:t> (termination-point-type)?</a:t>
            </a:r>
          </a:p>
          <a:p>
            <a:r>
              <a:rPr lang="en-GB" sz="1100" dirty="0"/>
              <a:t>             +--:(</a:t>
            </a:r>
            <a:r>
              <a:rPr lang="en-GB" sz="1100" dirty="0" err="1"/>
              <a:t>ip</a:t>
            </a:r>
            <a:r>
              <a:rPr lang="en-GB" sz="1100" dirty="0"/>
              <a:t>)</a:t>
            </a:r>
          </a:p>
          <a:p>
            <a:r>
              <a:rPr lang="en-GB" sz="1100" dirty="0"/>
              <a:t>             |  +--</a:t>
            </a:r>
            <a:r>
              <a:rPr lang="en-GB" sz="1100" dirty="0" err="1"/>
              <a:t>rw</a:t>
            </a:r>
            <a:r>
              <a:rPr lang="en-GB" sz="1100" dirty="0"/>
              <a:t> </a:t>
            </a:r>
            <a:r>
              <a:rPr lang="en-GB" sz="1100" dirty="0" err="1"/>
              <a:t>ip</a:t>
            </a:r>
            <a:r>
              <a:rPr lang="en-GB" sz="1100" dirty="0"/>
              <a:t>-address*       </a:t>
            </a:r>
            <a:r>
              <a:rPr lang="en-GB" sz="1100" dirty="0" err="1"/>
              <a:t>inet:ip-address</a:t>
            </a:r>
            <a:endParaRPr lang="en-GB" sz="1100" dirty="0"/>
          </a:p>
          <a:p>
            <a:r>
              <a:rPr lang="en-GB" sz="1100" dirty="0"/>
              <a:t>             +--:(unnumbered)</a:t>
            </a:r>
          </a:p>
          <a:p>
            <a:r>
              <a:rPr lang="en-GB" sz="1100" dirty="0"/>
              <a:t>             |  +--</a:t>
            </a:r>
            <a:r>
              <a:rPr lang="en-GB" sz="1100" dirty="0" err="1"/>
              <a:t>rw</a:t>
            </a:r>
            <a:r>
              <a:rPr lang="en-GB" sz="1100" dirty="0"/>
              <a:t> unnumbered-id?    uint32</a:t>
            </a:r>
          </a:p>
          <a:p>
            <a:r>
              <a:rPr lang="en-GB" sz="1100" dirty="0"/>
              <a:t>             +--:(interface-name)</a:t>
            </a:r>
          </a:p>
          <a:p>
            <a:r>
              <a:rPr lang="en-GB" sz="1100" dirty="0"/>
              <a:t>                +--</a:t>
            </a:r>
            <a:r>
              <a:rPr lang="en-GB" sz="1100" dirty="0" err="1"/>
              <a:t>rw</a:t>
            </a:r>
            <a:r>
              <a:rPr lang="en-GB" sz="1100" dirty="0"/>
              <a:t> interface-name?   string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2B769F-9808-CC07-616F-D98FF42C5B3A}"/>
              </a:ext>
            </a:extLst>
          </p:cNvPr>
          <p:cNvSpPr txBox="1"/>
          <p:nvPr/>
        </p:nvSpPr>
        <p:spPr>
          <a:xfrm>
            <a:off x="304801" y="720145"/>
            <a:ext cx="114742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RFC8299 has site which seems to blur with access-port, SIP and CSEP. The RFC states in an example (“</a:t>
            </a:r>
            <a:r>
              <a:rPr lang="en-US" sz="1100" dirty="0">
                <a:solidFill>
                  <a:srgbClr val="0070C0"/>
                </a:solidFill>
              </a:rPr>
              <a:t>Interaction with Other YANG Models</a:t>
            </a:r>
            <a:r>
              <a:rPr lang="en-US" sz="1100" dirty="0"/>
              <a:t>”)</a:t>
            </a:r>
            <a:r>
              <a:rPr lang="en-GB" sz="1100" dirty="0"/>
              <a:t> that:</a:t>
            </a:r>
          </a:p>
          <a:p>
            <a:r>
              <a:rPr lang="en-US" sz="1100" dirty="0">
                <a:solidFill>
                  <a:srgbClr val="0070C0"/>
                </a:solidFill>
              </a:rPr>
              <a:t>“In the service example above, the service component is expected to request that the configuration component of the management system  provide the configuration of the service elements.” </a:t>
            </a:r>
            <a:r>
              <a:rPr lang="en-US" sz="1100" dirty="0"/>
              <a:t>MCP will receive the service request and will translate that into a network realization. The network realization will be in terms of Interface</a:t>
            </a:r>
            <a:endParaRPr lang="en-GB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691433-AA3B-44B1-6BFB-D8085FD70ED1}"/>
              </a:ext>
            </a:extLst>
          </p:cNvPr>
          <p:cNvSpPr txBox="1"/>
          <p:nvPr/>
        </p:nvSpPr>
        <p:spPr>
          <a:xfrm>
            <a:off x="304799" y="1570073"/>
            <a:ext cx="1147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RFC8299 defines service…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A8987-13DB-4F1A-8B6D-112B5ED2D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29" y="170299"/>
            <a:ext cx="11890342" cy="600164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Further notes working towards additional associations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5679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1F6F3D-7B3A-8979-1B99-3E73D3E246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B973B00-B7AE-7D0B-7EA6-F31CD85D0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96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707476" y="856211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Orchestrator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3D008-FC7F-58C4-CCCA-63931FC6FDC4}"/>
              </a:ext>
            </a:extLst>
          </p:cNvPr>
          <p:cNvSpPr/>
          <p:nvPr/>
        </p:nvSpPr>
        <p:spPr>
          <a:xfrm>
            <a:off x="4231178" y="4688378"/>
            <a:ext cx="344978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(2)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47BC6B-37F1-0673-7E0E-FB9E42AD3161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 flipH="1">
            <a:off x="3753196" y="5220393"/>
            <a:ext cx="2202873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5648498" y="5220393"/>
            <a:ext cx="307571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956069" y="5220393"/>
            <a:ext cx="187867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91CFE83-97E7-06F6-7681-FECCA7A4FE40}"/>
              </a:ext>
            </a:extLst>
          </p:cNvPr>
          <p:cNvSpPr/>
          <p:nvPr/>
        </p:nvSpPr>
        <p:spPr>
          <a:xfrm>
            <a:off x="320040" y="4688378"/>
            <a:ext cx="344978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(1)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stCxn id="24" idx="2"/>
            <a:endCxn id="5" idx="0"/>
          </p:cNvCxnSpPr>
          <p:nvPr/>
        </p:nvCxnSpPr>
        <p:spPr>
          <a:xfrm>
            <a:off x="2044931" y="5220393"/>
            <a:ext cx="46135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A2032-D173-2EFE-A3A8-BE562C2E02A0}"/>
              </a:ext>
            </a:extLst>
          </p:cNvPr>
          <p:cNvCxnSpPr>
            <a:stCxn id="24" idx="0"/>
            <a:endCxn id="4" idx="2"/>
          </p:cNvCxnSpPr>
          <p:nvPr/>
        </p:nvCxnSpPr>
        <p:spPr>
          <a:xfrm flipV="1">
            <a:off x="2044931" y="2635135"/>
            <a:ext cx="40275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AA5EFD-D1BE-63A8-D38A-8DD96E499DDD}"/>
              </a:ext>
            </a:extLst>
          </p:cNvPr>
          <p:cNvSpPr txBox="1"/>
          <p:nvPr/>
        </p:nvSpPr>
        <p:spPr>
          <a:xfrm>
            <a:off x="2187232" y="361425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9ACA3C-C4C4-1851-FD28-600C0CD5B09C}"/>
              </a:ext>
            </a:extLst>
          </p:cNvPr>
          <p:cNvSpPr txBox="1"/>
          <p:nvPr/>
        </p:nvSpPr>
        <p:spPr>
          <a:xfrm>
            <a:off x="4522123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02F5D9-8422-A296-6649-41DFF4FECBD3}"/>
              </a:ext>
            </a:extLst>
          </p:cNvPr>
          <p:cNvCxnSpPr>
            <a:endCxn id="4" idx="2"/>
          </p:cNvCxnSpPr>
          <p:nvPr/>
        </p:nvCxnSpPr>
        <p:spPr>
          <a:xfrm flipV="1">
            <a:off x="5112327" y="2635135"/>
            <a:ext cx="96012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F9CDA-861A-4527-049A-C16AE6E7BC5A}"/>
              </a:ext>
            </a:extLst>
          </p:cNvPr>
          <p:cNvCxnSpPr>
            <a:cxnSpLocks/>
          </p:cNvCxnSpPr>
          <p:nvPr/>
        </p:nvCxnSpPr>
        <p:spPr>
          <a:xfrm flipV="1">
            <a:off x="5798126" y="2635135"/>
            <a:ext cx="53617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3CE549-13B4-7B75-A1C4-A90919601274}"/>
              </a:ext>
            </a:extLst>
          </p:cNvPr>
          <p:cNvSpPr txBox="1"/>
          <p:nvPr/>
        </p:nvSpPr>
        <p:spPr>
          <a:xfrm>
            <a:off x="5885410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69CC7-C27C-79F7-C582-6E82C1A08F5C}"/>
              </a:ext>
            </a:extLst>
          </p:cNvPr>
          <p:cNvSpPr/>
          <p:nvPr/>
        </p:nvSpPr>
        <p:spPr>
          <a:xfrm>
            <a:off x="9466809" y="4688378"/>
            <a:ext cx="566653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(3)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stCxn id="40" idx="2"/>
            <a:endCxn id="9" idx="0"/>
          </p:cNvCxnSpPr>
          <p:nvPr/>
        </p:nvCxnSpPr>
        <p:spPr>
          <a:xfrm>
            <a:off x="9750136" y="5220393"/>
            <a:ext cx="12468" cy="665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A1490-8F00-F24F-A1B9-6BEA21F71B3E}"/>
              </a:ext>
            </a:extLst>
          </p:cNvPr>
          <p:cNvCxnSpPr>
            <a:endCxn id="40" idx="0"/>
          </p:cNvCxnSpPr>
          <p:nvPr/>
        </p:nvCxnSpPr>
        <p:spPr>
          <a:xfrm>
            <a:off x="6417425" y="2635135"/>
            <a:ext cx="333271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6A67EC-4ED3-3505-398F-7ABA60B57DAA}"/>
              </a:ext>
            </a:extLst>
          </p:cNvPr>
          <p:cNvSpPr txBox="1"/>
          <p:nvPr/>
        </p:nvSpPr>
        <p:spPr>
          <a:xfrm>
            <a:off x="9367287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62" name="Title 61">
            <a:extLst>
              <a:ext uri="{FF2B5EF4-FFF2-40B4-BE49-F238E27FC236}">
                <a16:creationId xmlns:a16="http://schemas.microsoft.com/office/drawing/2014/main" id="{6D94EA32-4E67-6739-93CD-D026BAEF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A</a:t>
            </a:r>
            <a:endParaRPr lang="en-US" sz="2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BF399B0-EAC3-9673-CB67-3AF0940DA5BD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182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707476" y="856211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Orchestrator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3D008-FC7F-58C4-CCCA-63931FC6FDC4}"/>
              </a:ext>
            </a:extLst>
          </p:cNvPr>
          <p:cNvSpPr/>
          <p:nvPr/>
        </p:nvSpPr>
        <p:spPr>
          <a:xfrm>
            <a:off x="5573683" y="4688378"/>
            <a:ext cx="76477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 (3)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47BC6B-37F1-0673-7E0E-FB9E42AD3161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 flipH="1">
            <a:off x="3753196" y="5220393"/>
            <a:ext cx="2202873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5648498" y="5220393"/>
            <a:ext cx="307571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956069" y="5220393"/>
            <a:ext cx="187867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91CFE83-97E7-06F6-7681-FECCA7A4FE40}"/>
              </a:ext>
            </a:extLst>
          </p:cNvPr>
          <p:cNvSpPr/>
          <p:nvPr/>
        </p:nvSpPr>
        <p:spPr>
          <a:xfrm>
            <a:off x="320040" y="4688378"/>
            <a:ext cx="344978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(1)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stCxn id="24" idx="2"/>
            <a:endCxn id="5" idx="0"/>
          </p:cNvCxnSpPr>
          <p:nvPr/>
        </p:nvCxnSpPr>
        <p:spPr>
          <a:xfrm>
            <a:off x="2044931" y="5220393"/>
            <a:ext cx="46135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A2032-D173-2EFE-A3A8-BE562C2E02A0}"/>
              </a:ext>
            </a:extLst>
          </p:cNvPr>
          <p:cNvCxnSpPr>
            <a:stCxn id="24" idx="0"/>
            <a:endCxn id="4" idx="2"/>
          </p:cNvCxnSpPr>
          <p:nvPr/>
        </p:nvCxnSpPr>
        <p:spPr>
          <a:xfrm flipV="1">
            <a:off x="2044931" y="2635135"/>
            <a:ext cx="40275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AA5EFD-D1BE-63A8-D38A-8DD96E499DDD}"/>
              </a:ext>
            </a:extLst>
          </p:cNvPr>
          <p:cNvSpPr txBox="1"/>
          <p:nvPr/>
        </p:nvSpPr>
        <p:spPr>
          <a:xfrm>
            <a:off x="2187232" y="361425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9ACA3C-C4C4-1851-FD28-600C0CD5B09C}"/>
              </a:ext>
            </a:extLst>
          </p:cNvPr>
          <p:cNvSpPr txBox="1"/>
          <p:nvPr/>
        </p:nvSpPr>
        <p:spPr>
          <a:xfrm>
            <a:off x="4522123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02F5D9-8422-A296-6649-41DFF4FECBD3}"/>
              </a:ext>
            </a:extLst>
          </p:cNvPr>
          <p:cNvCxnSpPr>
            <a:endCxn id="4" idx="2"/>
          </p:cNvCxnSpPr>
          <p:nvPr/>
        </p:nvCxnSpPr>
        <p:spPr>
          <a:xfrm flipV="1">
            <a:off x="5112327" y="2635135"/>
            <a:ext cx="96012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F9CDA-861A-4527-049A-C16AE6E7BC5A}"/>
              </a:ext>
            </a:extLst>
          </p:cNvPr>
          <p:cNvCxnSpPr>
            <a:cxnSpLocks/>
          </p:cNvCxnSpPr>
          <p:nvPr/>
        </p:nvCxnSpPr>
        <p:spPr>
          <a:xfrm flipV="1">
            <a:off x="5798126" y="2635135"/>
            <a:ext cx="53617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3CE549-13B4-7B75-A1C4-A90919601274}"/>
              </a:ext>
            </a:extLst>
          </p:cNvPr>
          <p:cNvSpPr txBox="1"/>
          <p:nvPr/>
        </p:nvSpPr>
        <p:spPr>
          <a:xfrm>
            <a:off x="5885410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69CC7-C27C-79F7-C582-6E82C1A08F5C}"/>
              </a:ext>
            </a:extLst>
          </p:cNvPr>
          <p:cNvSpPr/>
          <p:nvPr/>
        </p:nvSpPr>
        <p:spPr>
          <a:xfrm>
            <a:off x="9466809" y="4688378"/>
            <a:ext cx="566653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(4)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stCxn id="40" idx="2"/>
            <a:endCxn id="9" idx="0"/>
          </p:cNvCxnSpPr>
          <p:nvPr/>
        </p:nvCxnSpPr>
        <p:spPr>
          <a:xfrm>
            <a:off x="9750136" y="5220393"/>
            <a:ext cx="12468" cy="665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A1490-8F00-F24F-A1B9-6BEA21F71B3E}"/>
              </a:ext>
            </a:extLst>
          </p:cNvPr>
          <p:cNvCxnSpPr>
            <a:endCxn id="40" idx="0"/>
          </p:cNvCxnSpPr>
          <p:nvPr/>
        </p:nvCxnSpPr>
        <p:spPr>
          <a:xfrm>
            <a:off x="6417425" y="2635135"/>
            <a:ext cx="333271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6A67EC-4ED3-3505-398F-7ABA60B57DAA}"/>
              </a:ext>
            </a:extLst>
          </p:cNvPr>
          <p:cNvSpPr txBox="1"/>
          <p:nvPr/>
        </p:nvSpPr>
        <p:spPr>
          <a:xfrm>
            <a:off x="9367287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6E3C4-3029-326C-AFB2-02D34F7E5781}"/>
              </a:ext>
            </a:extLst>
          </p:cNvPr>
          <p:cNvSpPr/>
          <p:nvPr/>
        </p:nvSpPr>
        <p:spPr>
          <a:xfrm>
            <a:off x="4653279" y="4688378"/>
            <a:ext cx="76477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IP (2)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E13413-F8F5-A089-EA95-5B19907F4A3E}"/>
              </a:ext>
            </a:extLst>
          </p:cNvPr>
          <p:cNvCxnSpPr>
            <a:stCxn id="6" idx="0"/>
            <a:endCxn id="55" idx="2"/>
          </p:cNvCxnSpPr>
          <p:nvPr/>
        </p:nvCxnSpPr>
        <p:spPr>
          <a:xfrm flipV="1">
            <a:off x="3753196" y="5220393"/>
            <a:ext cx="1282469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61">
            <a:extLst>
              <a:ext uri="{FF2B5EF4-FFF2-40B4-BE49-F238E27FC236}">
                <a16:creationId xmlns:a16="http://schemas.microsoft.com/office/drawing/2014/main" id="{916425EA-2948-6D66-35F4-60CAA9629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B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ABD539-52B8-AB42-10F1-D68C1ADBA0E7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285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707476" y="856211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Orchestrator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3D008-FC7F-58C4-CCCA-63931FC6FDC4}"/>
              </a:ext>
            </a:extLst>
          </p:cNvPr>
          <p:cNvSpPr/>
          <p:nvPr/>
        </p:nvSpPr>
        <p:spPr>
          <a:xfrm>
            <a:off x="5573683" y="4688378"/>
            <a:ext cx="764772" cy="5320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 (3)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47BC6B-37F1-0673-7E0E-FB9E42AD3161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 flipH="1">
            <a:off x="3753196" y="5220393"/>
            <a:ext cx="2202873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5648498" y="5220393"/>
            <a:ext cx="307571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956069" y="5220393"/>
            <a:ext cx="187867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91CFE83-97E7-06F6-7681-FECCA7A4FE40}"/>
              </a:ext>
            </a:extLst>
          </p:cNvPr>
          <p:cNvSpPr/>
          <p:nvPr/>
        </p:nvSpPr>
        <p:spPr>
          <a:xfrm>
            <a:off x="320040" y="4688378"/>
            <a:ext cx="344978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(1)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stCxn id="24" idx="2"/>
            <a:endCxn id="5" idx="0"/>
          </p:cNvCxnSpPr>
          <p:nvPr/>
        </p:nvCxnSpPr>
        <p:spPr>
          <a:xfrm>
            <a:off x="2044931" y="5220393"/>
            <a:ext cx="46135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A2032-D173-2EFE-A3A8-BE562C2E02A0}"/>
              </a:ext>
            </a:extLst>
          </p:cNvPr>
          <p:cNvCxnSpPr>
            <a:stCxn id="24" idx="0"/>
            <a:endCxn id="4" idx="2"/>
          </p:cNvCxnSpPr>
          <p:nvPr/>
        </p:nvCxnSpPr>
        <p:spPr>
          <a:xfrm flipV="1">
            <a:off x="2044931" y="2635135"/>
            <a:ext cx="40275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AA5EFD-D1BE-63A8-D38A-8DD96E499DDD}"/>
              </a:ext>
            </a:extLst>
          </p:cNvPr>
          <p:cNvSpPr txBox="1"/>
          <p:nvPr/>
        </p:nvSpPr>
        <p:spPr>
          <a:xfrm>
            <a:off x="2187232" y="361425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9ACA3C-C4C4-1851-FD28-600C0CD5B09C}"/>
              </a:ext>
            </a:extLst>
          </p:cNvPr>
          <p:cNvSpPr txBox="1"/>
          <p:nvPr/>
        </p:nvSpPr>
        <p:spPr>
          <a:xfrm>
            <a:off x="4522123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02F5D9-8422-A296-6649-41DFF4FECBD3}"/>
              </a:ext>
            </a:extLst>
          </p:cNvPr>
          <p:cNvCxnSpPr>
            <a:endCxn id="4" idx="2"/>
          </p:cNvCxnSpPr>
          <p:nvPr/>
        </p:nvCxnSpPr>
        <p:spPr>
          <a:xfrm flipV="1">
            <a:off x="5112327" y="2635135"/>
            <a:ext cx="96012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F9CDA-861A-4527-049A-C16AE6E7BC5A}"/>
              </a:ext>
            </a:extLst>
          </p:cNvPr>
          <p:cNvCxnSpPr>
            <a:cxnSpLocks/>
          </p:cNvCxnSpPr>
          <p:nvPr/>
        </p:nvCxnSpPr>
        <p:spPr>
          <a:xfrm flipV="1">
            <a:off x="6247014" y="2635135"/>
            <a:ext cx="87282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3CE549-13B4-7B75-A1C4-A90919601274}"/>
              </a:ext>
            </a:extLst>
          </p:cNvPr>
          <p:cNvSpPr txBox="1"/>
          <p:nvPr/>
        </p:nvSpPr>
        <p:spPr>
          <a:xfrm>
            <a:off x="5885410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69CC7-C27C-79F7-C582-6E82C1A08F5C}"/>
              </a:ext>
            </a:extLst>
          </p:cNvPr>
          <p:cNvSpPr/>
          <p:nvPr/>
        </p:nvSpPr>
        <p:spPr>
          <a:xfrm>
            <a:off x="9466809" y="4688378"/>
            <a:ext cx="566653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(4)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stCxn id="40" idx="2"/>
            <a:endCxn id="9" idx="0"/>
          </p:cNvCxnSpPr>
          <p:nvPr/>
        </p:nvCxnSpPr>
        <p:spPr>
          <a:xfrm>
            <a:off x="9750136" y="5220393"/>
            <a:ext cx="12468" cy="665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A1490-8F00-F24F-A1B9-6BEA21F71B3E}"/>
              </a:ext>
            </a:extLst>
          </p:cNvPr>
          <p:cNvCxnSpPr>
            <a:endCxn id="40" idx="0"/>
          </p:cNvCxnSpPr>
          <p:nvPr/>
        </p:nvCxnSpPr>
        <p:spPr>
          <a:xfrm>
            <a:off x="6417425" y="2635135"/>
            <a:ext cx="333271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6A67EC-4ED3-3505-398F-7ABA60B57DAA}"/>
              </a:ext>
            </a:extLst>
          </p:cNvPr>
          <p:cNvSpPr txBox="1"/>
          <p:nvPr/>
        </p:nvSpPr>
        <p:spPr>
          <a:xfrm>
            <a:off x="9367287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6E3C4-3029-326C-AFB2-02D34F7E5781}"/>
              </a:ext>
            </a:extLst>
          </p:cNvPr>
          <p:cNvSpPr/>
          <p:nvPr/>
        </p:nvSpPr>
        <p:spPr>
          <a:xfrm>
            <a:off x="4653279" y="4688378"/>
            <a:ext cx="764772" cy="53201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IP (2)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E13413-F8F5-A089-EA95-5B19907F4A3E}"/>
              </a:ext>
            </a:extLst>
          </p:cNvPr>
          <p:cNvCxnSpPr>
            <a:stCxn id="6" idx="0"/>
            <a:endCxn id="55" idx="2"/>
          </p:cNvCxnSpPr>
          <p:nvPr/>
        </p:nvCxnSpPr>
        <p:spPr>
          <a:xfrm flipV="1">
            <a:off x="3753196" y="5220393"/>
            <a:ext cx="1282469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87D2EA-C93F-388A-FAA5-7B5F177EFB0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5827221" y="2635135"/>
            <a:ext cx="24522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5DF6D1A-1ECF-6954-200E-7017B655ADE9}"/>
              </a:ext>
            </a:extLst>
          </p:cNvPr>
          <p:cNvSpPr txBox="1"/>
          <p:nvPr/>
        </p:nvSpPr>
        <p:spPr>
          <a:xfrm>
            <a:off x="5727468" y="346640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00A2A6-2D81-62BC-146B-C79F11E45176}"/>
              </a:ext>
            </a:extLst>
          </p:cNvPr>
          <p:cNvSpPr/>
          <p:nvPr/>
        </p:nvSpPr>
        <p:spPr>
          <a:xfrm>
            <a:off x="3858953" y="6001789"/>
            <a:ext cx="507076" cy="29925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</a:p>
          <a:p>
            <a:pPr algn="ctr"/>
            <a:r>
              <a:rPr lang="en-GB" sz="900" dirty="0"/>
              <a:t>(</a:t>
            </a:r>
            <a:r>
              <a:rPr lang="en-GB" sz="900"/>
              <a:t>plug)</a:t>
            </a:r>
            <a:endParaRPr lang="en-US" sz="9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901D79A-5D60-22DC-D110-D5C0CF622987}"/>
              </a:ext>
            </a:extLst>
          </p:cNvPr>
          <p:cNvCxnSpPr>
            <a:stCxn id="18" idx="0"/>
            <a:endCxn id="6" idx="0"/>
          </p:cNvCxnSpPr>
          <p:nvPr/>
        </p:nvCxnSpPr>
        <p:spPr>
          <a:xfrm flipH="1" flipV="1">
            <a:off x="3753196" y="5910349"/>
            <a:ext cx="359295" cy="914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itle 61">
            <a:extLst>
              <a:ext uri="{FF2B5EF4-FFF2-40B4-BE49-F238E27FC236}">
                <a16:creationId xmlns:a16="http://schemas.microsoft.com/office/drawing/2014/main" id="{661696F5-47E2-004E-7B54-558DFC536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C</a:t>
            </a:r>
            <a:endParaRPr lang="en-US" sz="2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6DB0C0-1F7F-1450-06B4-4CBD3AE74EB6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143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707476" y="856211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Orchestrator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3D008-FC7F-58C4-CCCA-63931FC6FDC4}"/>
              </a:ext>
            </a:extLst>
          </p:cNvPr>
          <p:cNvSpPr/>
          <p:nvPr/>
        </p:nvSpPr>
        <p:spPr>
          <a:xfrm>
            <a:off x="5573683" y="4688378"/>
            <a:ext cx="76477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P(3)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5648498" y="5220393"/>
            <a:ext cx="307571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956069" y="5220393"/>
            <a:ext cx="187867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91CFE83-97E7-06F6-7681-FECCA7A4FE40}"/>
              </a:ext>
            </a:extLst>
          </p:cNvPr>
          <p:cNvSpPr/>
          <p:nvPr/>
        </p:nvSpPr>
        <p:spPr>
          <a:xfrm>
            <a:off x="320040" y="4688378"/>
            <a:ext cx="344978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IP (1)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cxnSpLocks/>
            <a:stCxn id="24" idx="2"/>
            <a:endCxn id="5" idx="0"/>
          </p:cNvCxnSpPr>
          <p:nvPr/>
        </p:nvCxnSpPr>
        <p:spPr>
          <a:xfrm>
            <a:off x="2044931" y="5220393"/>
            <a:ext cx="46135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A2032-D173-2EFE-A3A8-BE562C2E02A0}"/>
              </a:ext>
            </a:extLst>
          </p:cNvPr>
          <p:cNvCxnSpPr>
            <a:cxnSpLocks/>
            <a:stCxn id="24" idx="0"/>
            <a:endCxn id="4" idx="2"/>
          </p:cNvCxnSpPr>
          <p:nvPr/>
        </p:nvCxnSpPr>
        <p:spPr>
          <a:xfrm flipV="1">
            <a:off x="2044931" y="2635135"/>
            <a:ext cx="40275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AA5EFD-D1BE-63A8-D38A-8DD96E499DDD}"/>
              </a:ext>
            </a:extLst>
          </p:cNvPr>
          <p:cNvSpPr txBox="1"/>
          <p:nvPr/>
        </p:nvSpPr>
        <p:spPr>
          <a:xfrm>
            <a:off x="2187232" y="361425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9ACA3C-C4C4-1851-FD28-600C0CD5B09C}"/>
              </a:ext>
            </a:extLst>
          </p:cNvPr>
          <p:cNvSpPr txBox="1"/>
          <p:nvPr/>
        </p:nvSpPr>
        <p:spPr>
          <a:xfrm>
            <a:off x="4522123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02F5D9-8422-A296-6649-41DFF4FECBD3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5112327" y="2635135"/>
            <a:ext cx="960120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F9CDA-861A-4527-049A-C16AE6E7BC5A}"/>
              </a:ext>
            </a:extLst>
          </p:cNvPr>
          <p:cNvCxnSpPr>
            <a:cxnSpLocks/>
          </p:cNvCxnSpPr>
          <p:nvPr/>
        </p:nvCxnSpPr>
        <p:spPr>
          <a:xfrm flipV="1">
            <a:off x="5264034" y="2635135"/>
            <a:ext cx="115235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3CE549-13B4-7B75-A1C4-A90919601274}"/>
              </a:ext>
            </a:extLst>
          </p:cNvPr>
          <p:cNvSpPr txBox="1"/>
          <p:nvPr/>
        </p:nvSpPr>
        <p:spPr>
          <a:xfrm>
            <a:off x="5592387" y="3743098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69CC7-C27C-79F7-C582-6E82C1A08F5C}"/>
              </a:ext>
            </a:extLst>
          </p:cNvPr>
          <p:cNvSpPr/>
          <p:nvPr/>
        </p:nvSpPr>
        <p:spPr>
          <a:xfrm>
            <a:off x="9466809" y="4688378"/>
            <a:ext cx="566653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(4)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stCxn id="40" idx="2"/>
            <a:endCxn id="9" idx="0"/>
          </p:cNvCxnSpPr>
          <p:nvPr/>
        </p:nvCxnSpPr>
        <p:spPr>
          <a:xfrm>
            <a:off x="9750136" y="5220393"/>
            <a:ext cx="12468" cy="665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A1490-8F00-F24F-A1B9-6BEA21F71B3E}"/>
              </a:ext>
            </a:extLst>
          </p:cNvPr>
          <p:cNvCxnSpPr>
            <a:endCxn id="40" idx="0"/>
          </p:cNvCxnSpPr>
          <p:nvPr/>
        </p:nvCxnSpPr>
        <p:spPr>
          <a:xfrm>
            <a:off x="6417425" y="2635135"/>
            <a:ext cx="333271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6A67EC-4ED3-3505-398F-7ABA60B57DAA}"/>
              </a:ext>
            </a:extLst>
          </p:cNvPr>
          <p:cNvSpPr txBox="1"/>
          <p:nvPr/>
        </p:nvSpPr>
        <p:spPr>
          <a:xfrm>
            <a:off x="9367287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6E3C4-3029-326C-AFB2-02D34F7E5781}"/>
              </a:ext>
            </a:extLst>
          </p:cNvPr>
          <p:cNvSpPr/>
          <p:nvPr/>
        </p:nvSpPr>
        <p:spPr>
          <a:xfrm>
            <a:off x="4653279" y="4688378"/>
            <a:ext cx="76477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IP&amp;P (2)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E13413-F8F5-A089-EA95-5B19907F4A3E}"/>
              </a:ext>
            </a:extLst>
          </p:cNvPr>
          <p:cNvCxnSpPr>
            <a:cxnSpLocks/>
            <a:stCxn id="6" idx="0"/>
            <a:endCxn id="55" idx="2"/>
          </p:cNvCxnSpPr>
          <p:nvPr/>
        </p:nvCxnSpPr>
        <p:spPr>
          <a:xfrm flipV="1">
            <a:off x="3753196" y="5220393"/>
            <a:ext cx="1282469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A325A0-8A3A-E494-587A-D61D53FAC0DB}"/>
              </a:ext>
            </a:extLst>
          </p:cNvPr>
          <p:cNvCxnSpPr>
            <a:stCxn id="11" idx="0"/>
          </p:cNvCxnSpPr>
          <p:nvPr/>
        </p:nvCxnSpPr>
        <p:spPr>
          <a:xfrm flipV="1">
            <a:off x="5956069" y="2635135"/>
            <a:ext cx="4603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tle 61">
            <a:extLst>
              <a:ext uri="{FF2B5EF4-FFF2-40B4-BE49-F238E27FC236}">
                <a16:creationId xmlns:a16="http://schemas.microsoft.com/office/drawing/2014/main" id="{7E79F51F-7BD4-53FB-2C20-7325E8AE8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D</a:t>
            </a:r>
            <a:endParaRPr lang="en-US" sz="2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9C0644-E05D-11D1-C1BA-F090CFC1890B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837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707476" y="856211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Orchestrator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3D008-FC7F-58C4-CCCA-63931FC6FDC4}"/>
              </a:ext>
            </a:extLst>
          </p:cNvPr>
          <p:cNvSpPr/>
          <p:nvPr/>
        </p:nvSpPr>
        <p:spPr>
          <a:xfrm>
            <a:off x="5573683" y="4688378"/>
            <a:ext cx="764772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5648498" y="5220393"/>
            <a:ext cx="307571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5956069" y="5220393"/>
            <a:ext cx="1878676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cxnSpLocks/>
            <a:stCxn id="55" idx="2"/>
            <a:endCxn id="5" idx="0"/>
          </p:cNvCxnSpPr>
          <p:nvPr/>
        </p:nvCxnSpPr>
        <p:spPr>
          <a:xfrm flipH="1">
            <a:off x="2506287" y="5220393"/>
            <a:ext cx="528705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A2032-D173-2EFE-A3A8-BE562C2E02A0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2044931" y="2635135"/>
            <a:ext cx="40275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AA5EFD-D1BE-63A8-D38A-8DD96E499DDD}"/>
              </a:ext>
            </a:extLst>
          </p:cNvPr>
          <p:cNvSpPr txBox="1"/>
          <p:nvPr/>
        </p:nvSpPr>
        <p:spPr>
          <a:xfrm>
            <a:off x="2187232" y="361425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CF9CDA-861A-4527-049A-C16AE6E7BC5A}"/>
              </a:ext>
            </a:extLst>
          </p:cNvPr>
          <p:cNvCxnSpPr>
            <a:cxnSpLocks/>
          </p:cNvCxnSpPr>
          <p:nvPr/>
        </p:nvCxnSpPr>
        <p:spPr>
          <a:xfrm flipV="1">
            <a:off x="5264034" y="2635135"/>
            <a:ext cx="115235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3CE549-13B4-7B75-A1C4-A90919601274}"/>
              </a:ext>
            </a:extLst>
          </p:cNvPr>
          <p:cNvSpPr txBox="1"/>
          <p:nvPr/>
        </p:nvSpPr>
        <p:spPr>
          <a:xfrm>
            <a:off x="5592387" y="3743098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069CC7-C27C-79F7-C582-6E82C1A08F5C}"/>
              </a:ext>
            </a:extLst>
          </p:cNvPr>
          <p:cNvSpPr/>
          <p:nvPr/>
        </p:nvSpPr>
        <p:spPr>
          <a:xfrm>
            <a:off x="9466809" y="4688378"/>
            <a:ext cx="566653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stCxn id="40" idx="2"/>
            <a:endCxn id="9" idx="0"/>
          </p:cNvCxnSpPr>
          <p:nvPr/>
        </p:nvCxnSpPr>
        <p:spPr>
          <a:xfrm>
            <a:off x="9750136" y="5220393"/>
            <a:ext cx="12468" cy="665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A1490-8F00-F24F-A1B9-6BEA21F71B3E}"/>
              </a:ext>
            </a:extLst>
          </p:cNvPr>
          <p:cNvCxnSpPr>
            <a:endCxn id="40" idx="0"/>
          </p:cNvCxnSpPr>
          <p:nvPr/>
        </p:nvCxnSpPr>
        <p:spPr>
          <a:xfrm>
            <a:off x="6417425" y="2635135"/>
            <a:ext cx="3332711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6A67EC-4ED3-3505-398F-7ABA60B57DAA}"/>
              </a:ext>
            </a:extLst>
          </p:cNvPr>
          <p:cNvSpPr txBox="1"/>
          <p:nvPr/>
        </p:nvSpPr>
        <p:spPr>
          <a:xfrm>
            <a:off x="9367287" y="3971697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6E3C4-3029-326C-AFB2-02D34F7E5781}"/>
              </a:ext>
            </a:extLst>
          </p:cNvPr>
          <p:cNvSpPr/>
          <p:nvPr/>
        </p:nvSpPr>
        <p:spPr>
          <a:xfrm>
            <a:off x="651933" y="4688378"/>
            <a:ext cx="4766118" cy="532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IP&amp;P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E13413-F8F5-A089-EA95-5B19907F4A3E}"/>
              </a:ext>
            </a:extLst>
          </p:cNvPr>
          <p:cNvCxnSpPr>
            <a:cxnSpLocks/>
            <a:stCxn id="6" idx="0"/>
            <a:endCxn id="55" idx="2"/>
          </p:cNvCxnSpPr>
          <p:nvPr/>
        </p:nvCxnSpPr>
        <p:spPr>
          <a:xfrm flipH="1" flipV="1">
            <a:off x="3034992" y="5220393"/>
            <a:ext cx="718204" cy="689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A325A0-8A3A-E494-587A-D61D53FAC0DB}"/>
              </a:ext>
            </a:extLst>
          </p:cNvPr>
          <p:cNvCxnSpPr>
            <a:stCxn id="11" idx="0"/>
          </p:cNvCxnSpPr>
          <p:nvPr/>
        </p:nvCxnSpPr>
        <p:spPr>
          <a:xfrm flipV="1">
            <a:off x="5956069" y="2635135"/>
            <a:ext cx="460316" cy="2053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61">
            <a:extLst>
              <a:ext uri="{FF2B5EF4-FFF2-40B4-BE49-F238E27FC236}">
                <a16:creationId xmlns:a16="http://schemas.microsoft.com/office/drawing/2014/main" id="{8D92A310-E4B4-66E1-1148-BF89024D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FC1320-2266-DB95-7C96-1095EF24069A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447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07632-C0CF-D34D-53C8-F797ABCA18AD}"/>
              </a:ext>
            </a:extLst>
          </p:cNvPr>
          <p:cNvSpPr/>
          <p:nvPr/>
        </p:nvSpPr>
        <p:spPr>
          <a:xfrm>
            <a:off x="3848792" y="2635135"/>
            <a:ext cx="4729942" cy="1778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Controller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5E616-539D-2134-09A4-2E6FD7D0767D}"/>
              </a:ext>
            </a:extLst>
          </p:cNvPr>
          <p:cNvSpPr/>
          <p:nvPr/>
        </p:nvSpPr>
        <p:spPr>
          <a:xfrm>
            <a:off x="2252749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E3C16-C007-4E82-6F00-2139A7FF1125}"/>
              </a:ext>
            </a:extLst>
          </p:cNvPr>
          <p:cNvSpPr/>
          <p:nvPr/>
        </p:nvSpPr>
        <p:spPr>
          <a:xfrm>
            <a:off x="3499658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IP&amp;P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9463F-AAFC-0157-F866-9A2A2039FC86}"/>
              </a:ext>
            </a:extLst>
          </p:cNvPr>
          <p:cNvSpPr/>
          <p:nvPr/>
        </p:nvSpPr>
        <p:spPr>
          <a:xfrm>
            <a:off x="5394960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783D-7817-25BE-C2B5-2D53DE1F6BDE}"/>
              </a:ext>
            </a:extLst>
          </p:cNvPr>
          <p:cNvSpPr/>
          <p:nvPr/>
        </p:nvSpPr>
        <p:spPr>
          <a:xfrm>
            <a:off x="7581207" y="5910349"/>
            <a:ext cx="507076" cy="2992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48B4-8F56-6636-AFFC-ACA5E1626DA5}"/>
              </a:ext>
            </a:extLst>
          </p:cNvPr>
          <p:cNvSpPr/>
          <p:nvPr/>
        </p:nvSpPr>
        <p:spPr>
          <a:xfrm>
            <a:off x="9466810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37785-CCE6-3EC9-607C-AA10C13A746A}"/>
              </a:ext>
            </a:extLst>
          </p:cNvPr>
          <p:cNvSpPr/>
          <p:nvPr/>
        </p:nvSpPr>
        <p:spPr>
          <a:xfrm>
            <a:off x="10480962" y="5885411"/>
            <a:ext cx="591588" cy="3491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IP</a:t>
            </a:r>
            <a:endParaRPr lang="en-US" sz="9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B30271-04B5-CE98-140A-41E78DA41C9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5648498" y="4414059"/>
            <a:ext cx="565265" cy="1496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E4D3C4-0F6B-1317-73D3-E5C1E6358FBF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213763" y="4414059"/>
            <a:ext cx="1620982" cy="1496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1115BF-C020-C93B-C573-EF3F8FFA9CE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506287" y="4414059"/>
            <a:ext cx="3707476" cy="1496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14108C-A540-EF9A-2FE5-C2ECAD07CC2C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6213763" y="4414059"/>
            <a:ext cx="3548841" cy="14713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E13413-F8F5-A089-EA95-5B19907F4A3E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3753196" y="4414059"/>
            <a:ext cx="2460567" cy="1496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A48C2B9-00DC-1B68-F5FA-59E6D632A17F}"/>
              </a:ext>
            </a:extLst>
          </p:cNvPr>
          <p:cNvSpPr txBox="1"/>
          <p:nvPr/>
        </p:nvSpPr>
        <p:spPr>
          <a:xfrm>
            <a:off x="5394960" y="509570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OC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808FF4-6BBE-C024-C7F8-0AF727A39565}"/>
              </a:ext>
            </a:extLst>
          </p:cNvPr>
          <p:cNvSpPr/>
          <p:nvPr/>
        </p:nvSpPr>
        <p:spPr>
          <a:xfrm>
            <a:off x="3499658" y="648393"/>
            <a:ext cx="1837113" cy="673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Service</a:t>
            </a:r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D173C7-FF4E-2960-0962-70C8F54C33BD}"/>
              </a:ext>
            </a:extLst>
          </p:cNvPr>
          <p:cNvCxnSpPr>
            <a:stCxn id="25" idx="2"/>
            <a:endCxn id="4" idx="0"/>
          </p:cNvCxnSpPr>
          <p:nvPr/>
        </p:nvCxnSpPr>
        <p:spPr>
          <a:xfrm>
            <a:off x="4418215" y="1321724"/>
            <a:ext cx="1795548" cy="1313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D16B85-68D3-A725-9A2F-F18FFDE9B5F9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6213763" y="1321724"/>
            <a:ext cx="1620982" cy="1313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61">
            <a:extLst>
              <a:ext uri="{FF2B5EF4-FFF2-40B4-BE49-F238E27FC236}">
                <a16:creationId xmlns:a16="http://schemas.microsoft.com/office/drawing/2014/main" id="{7359C8F5-9B85-565F-ADBD-10ECA0A7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950"/>
            <a:ext cx="2759825" cy="1325563"/>
          </a:xfrm>
        </p:spPr>
        <p:txBody>
          <a:bodyPr>
            <a:noAutofit/>
          </a:bodyPr>
          <a:lstStyle/>
          <a:p>
            <a:r>
              <a:rPr lang="en-GB" sz="2800" dirty="0"/>
              <a:t>Solution Architecture Option F</a:t>
            </a:r>
            <a:endParaRPr lang="en-US" sz="28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1C46BB-BE39-6927-5D12-281A294505D0}"/>
              </a:ext>
            </a:extLst>
          </p:cNvPr>
          <p:cNvCxnSpPr/>
          <p:nvPr/>
        </p:nvCxnSpPr>
        <p:spPr>
          <a:xfrm flipH="1">
            <a:off x="6916188" y="1321724"/>
            <a:ext cx="1620982" cy="1313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F083C-6F12-9390-174E-C1DDD3339329}"/>
              </a:ext>
            </a:extLst>
          </p:cNvPr>
          <p:cNvSpPr/>
          <p:nvPr/>
        </p:nvSpPr>
        <p:spPr>
          <a:xfrm>
            <a:off x="7267401" y="648393"/>
            <a:ext cx="1837113" cy="673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Planning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BAA3E7-9770-A987-3E29-CC8458894CB9}"/>
              </a:ext>
            </a:extLst>
          </p:cNvPr>
          <p:cNvSpPr txBox="1"/>
          <p:nvPr/>
        </p:nvSpPr>
        <p:spPr>
          <a:xfrm>
            <a:off x="6783186" y="1680048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IETF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F78012-995D-34B3-D46D-7A75C27AD4B3}"/>
              </a:ext>
            </a:extLst>
          </p:cNvPr>
          <p:cNvSpPr txBox="1"/>
          <p:nvPr/>
        </p:nvSpPr>
        <p:spPr>
          <a:xfrm>
            <a:off x="7369038" y="1808896"/>
            <a:ext cx="112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TAPI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DA33C6-E128-B4B9-6815-D1E99B700493}"/>
              </a:ext>
            </a:extLst>
          </p:cNvPr>
          <p:cNvSpPr txBox="1"/>
          <p:nvPr/>
        </p:nvSpPr>
        <p:spPr>
          <a:xfrm>
            <a:off x="9367288" y="1008668"/>
            <a:ext cx="2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Covered by the proposal in this .pptx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605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35709</TotalTime>
  <Words>2077</Words>
  <Application>Microsoft Office PowerPoint</Application>
  <PresentationFormat>Widescreen</PresentationFormat>
  <Paragraphs>313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SFMono-Regular</vt:lpstr>
      <vt:lpstr>Verdana</vt:lpstr>
      <vt:lpstr>Office Theme</vt:lpstr>
      <vt:lpstr>Microsoft PowerPoint Slide</vt:lpstr>
      <vt:lpstr>Brief analysis of TAPI-IETF model linkage</vt:lpstr>
      <vt:lpstr>Content</vt:lpstr>
      <vt:lpstr>Introduction</vt:lpstr>
      <vt:lpstr>RFC8345 Model sketch</vt:lpstr>
      <vt:lpstr>Diagram Key and rough notes</vt:lpstr>
      <vt:lpstr>Pictorial view of IETF/TAPI controlled network fragment</vt:lpstr>
      <vt:lpstr>YANG fragments</vt:lpstr>
      <vt:lpstr>Using shared value</vt:lpstr>
      <vt:lpstr>Using explicit foreign reference</vt:lpstr>
      <vt:lpstr>Further notes working towards additional associations</vt:lpstr>
      <vt:lpstr>Background</vt:lpstr>
      <vt:lpstr>Solution Architecture Option A</vt:lpstr>
      <vt:lpstr>Solution Architecture Option B</vt:lpstr>
      <vt:lpstr>Solution Architecture Option C</vt:lpstr>
      <vt:lpstr>Solution Architecture Option D</vt:lpstr>
      <vt:lpstr>Solution Architecture Option E</vt:lpstr>
      <vt:lpstr>Solution Architecture Option 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analysis of TAPI-IETF model linkage</dc:title>
  <dc:creator>Davis, Nigel</dc:creator>
  <cp:lastModifiedBy>Davis, Nigel</cp:lastModifiedBy>
  <cp:revision>8</cp:revision>
  <dcterms:created xsi:type="dcterms:W3CDTF">2023-01-24T12:29:02Z</dcterms:created>
  <dcterms:modified xsi:type="dcterms:W3CDTF">2025-05-27T14:33:55Z</dcterms:modified>
</cp:coreProperties>
</file>