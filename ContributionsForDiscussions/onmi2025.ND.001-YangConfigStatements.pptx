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1" r:id="rId6"/>
    <p:sldId id="262" r:id="rId7"/>
    <p:sldId id="260"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p:cViewPr varScale="1">
        <p:scale>
          <a:sx n="115" d="100"/>
          <a:sy n="115" d="100"/>
        </p:scale>
        <p:origin x="120"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18223-82AC-B119-964F-F9A4217B4D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C5AD681-E3B7-EEBF-59C8-2A8F71F8AE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A00C7B2B-DA99-86C7-37C5-1F527E258EE1}"/>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5" name="Footer Placeholder 4">
            <a:extLst>
              <a:ext uri="{FF2B5EF4-FFF2-40B4-BE49-F238E27FC236}">
                <a16:creationId xmlns:a16="http://schemas.microsoft.com/office/drawing/2014/main" id="{72581549-EAF1-BEB3-BF33-263D55E9A6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9408D1-0A8E-3A96-DFE2-F3BBEE94E5A9}"/>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3705555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4F94E-8DFE-338D-D643-80C34DCCC12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708EF48-8F9D-A1B4-AFCA-26E1777D2F9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251F1E4-39E6-316F-7BFA-176008C88989}"/>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5" name="Footer Placeholder 4">
            <a:extLst>
              <a:ext uri="{FF2B5EF4-FFF2-40B4-BE49-F238E27FC236}">
                <a16:creationId xmlns:a16="http://schemas.microsoft.com/office/drawing/2014/main" id="{8B3D4360-14A2-D866-FB98-42F648B3B2D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FE057A-FED8-3791-78C1-4CE062C368C9}"/>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2095160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7073-77DD-1BE7-0E98-EB052D6FEA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C6F59C9-A6E8-00E7-BE71-22F7C06E78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3B11589-D101-C38E-2B08-911F2887B1C9}"/>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5" name="Footer Placeholder 4">
            <a:extLst>
              <a:ext uri="{FF2B5EF4-FFF2-40B4-BE49-F238E27FC236}">
                <a16:creationId xmlns:a16="http://schemas.microsoft.com/office/drawing/2014/main" id="{D1C7FF99-3D7C-C008-50FF-D483A8CF16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26ABD1-34A7-C8C2-3E63-66776837FE14}"/>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2969723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58168-F86E-5075-A01F-8E5C5C7EA40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83424A1-6F24-0606-43DA-DCA54C341A8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7266C00-596C-4B39-2646-16809505630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3B9AC7C-2067-9F6B-4390-73AB23760F50}"/>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6" name="Footer Placeholder 5">
            <a:extLst>
              <a:ext uri="{FF2B5EF4-FFF2-40B4-BE49-F238E27FC236}">
                <a16:creationId xmlns:a16="http://schemas.microsoft.com/office/drawing/2014/main" id="{E2C9ED5B-35C1-B19E-3B80-72336A9E9C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90D90EF-D8FE-D3F7-B941-848807E7175A}"/>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338096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DCFFF-5238-815E-3DFA-0D201FE5956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0650EE5-0E33-167A-C9D1-6D065E409A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951DA6-1DC9-ECC6-5565-4694BB46C6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7729F8E-2F2D-EE11-373F-A638A4E8E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AE131BA-DB8C-7855-153A-6E542E0FCC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B8EFD74-D92B-7375-FC61-A6B5D4722A8E}"/>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8" name="Footer Placeholder 7">
            <a:extLst>
              <a:ext uri="{FF2B5EF4-FFF2-40B4-BE49-F238E27FC236}">
                <a16:creationId xmlns:a16="http://schemas.microsoft.com/office/drawing/2014/main" id="{FE9A84A9-398E-5315-4659-03C452E79E4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F575636-F90D-02B5-96C9-A26481E8BD17}"/>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2696838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9252-3A40-ABBE-D322-152323CBFAE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AAB6015-56BB-3C60-A4BD-2DFB1BFB7841}"/>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4" name="Footer Placeholder 3">
            <a:extLst>
              <a:ext uri="{FF2B5EF4-FFF2-40B4-BE49-F238E27FC236}">
                <a16:creationId xmlns:a16="http://schemas.microsoft.com/office/drawing/2014/main" id="{08EFD215-C9A0-CCB8-3B17-16A141201EA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B307A8C-D0AA-AA74-D665-64CF5AC0574F}"/>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1341488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43A91A-DFCA-1CFF-7272-5621EF2E1ED5}"/>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3" name="Footer Placeholder 2">
            <a:extLst>
              <a:ext uri="{FF2B5EF4-FFF2-40B4-BE49-F238E27FC236}">
                <a16:creationId xmlns:a16="http://schemas.microsoft.com/office/drawing/2014/main" id="{EB5D87A8-57B4-FDF7-19CE-FEE34F0B093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ECE34D1-37B3-7B40-86B1-541B660BA422}"/>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1698499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0DD07-973C-AD72-EA1F-F272355F005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3A346E9-E50E-ED86-615D-38C4D19F62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EA47978-D94E-3BFD-85CD-1AA99F391A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FA0B9D-AF75-2A08-5038-714EFD0674D5}"/>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6" name="Footer Placeholder 5">
            <a:extLst>
              <a:ext uri="{FF2B5EF4-FFF2-40B4-BE49-F238E27FC236}">
                <a16:creationId xmlns:a16="http://schemas.microsoft.com/office/drawing/2014/main" id="{23AD4462-225A-1BE8-9570-984A5BBA2B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356648-0F00-B8D9-FE21-0BC5A821192E}"/>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120800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1C75-8E94-C211-D748-95AD36CA40D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9722C9E-3C91-4BE0-E8C4-56C5D76CC9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ED8269A-C3E0-F59F-48AA-94A2CAA88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66367E-33E4-B5EE-5629-8928081EEB77}"/>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6" name="Footer Placeholder 5">
            <a:extLst>
              <a:ext uri="{FF2B5EF4-FFF2-40B4-BE49-F238E27FC236}">
                <a16:creationId xmlns:a16="http://schemas.microsoft.com/office/drawing/2014/main" id="{9A6ACD53-1C4A-3FA7-6654-B03D6FDFAF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5ED841-AEE8-960C-324F-47268B7959B7}"/>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4216894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2FDDD-A6E2-D109-E7DD-ACD01EAAB606}"/>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EBB77E4-9745-1ED2-36DB-6794399057D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3B1F0E3-0FC2-CF01-D900-809FBF7133EB}"/>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5" name="Footer Placeholder 4">
            <a:extLst>
              <a:ext uri="{FF2B5EF4-FFF2-40B4-BE49-F238E27FC236}">
                <a16:creationId xmlns:a16="http://schemas.microsoft.com/office/drawing/2014/main" id="{2C2908EA-881C-6843-CABA-661FA42861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37A566-84B0-8FBD-8AF6-A5C8402517DF}"/>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1113900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89107E-EB4A-69B9-9400-58D2EBFEF448}"/>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E68F4C8B-F2CB-D671-BFA3-8585BA7F740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09F53EF-D0BB-FD70-786D-D0C9F68B48C0}"/>
              </a:ext>
            </a:extLst>
          </p:cNvPr>
          <p:cNvSpPr>
            <a:spLocks noGrp="1"/>
          </p:cNvSpPr>
          <p:nvPr>
            <p:ph type="dt" sz="half" idx="10"/>
          </p:nvPr>
        </p:nvSpPr>
        <p:spPr/>
        <p:txBody>
          <a:bodyPr/>
          <a:lstStyle/>
          <a:p>
            <a:fld id="{CB1557D1-D403-4525-AE88-91E6F055F8B0}" type="datetimeFigureOut">
              <a:rPr lang="en-GB" smtClean="0"/>
              <a:t>07/04/2025</a:t>
            </a:fld>
            <a:endParaRPr lang="en-GB"/>
          </a:p>
        </p:txBody>
      </p:sp>
      <p:sp>
        <p:nvSpPr>
          <p:cNvPr id="5" name="Footer Placeholder 4">
            <a:extLst>
              <a:ext uri="{FF2B5EF4-FFF2-40B4-BE49-F238E27FC236}">
                <a16:creationId xmlns:a16="http://schemas.microsoft.com/office/drawing/2014/main" id="{8B021BEE-2F4E-D3B6-C295-C42B78430A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3AFF567-AF15-994B-EBE9-65EF626AFF76}"/>
              </a:ext>
            </a:extLst>
          </p:cNvPr>
          <p:cNvSpPr>
            <a:spLocks noGrp="1"/>
          </p:cNvSpPr>
          <p:nvPr>
            <p:ph type="sldNum" sz="quarter" idx="12"/>
          </p:nvPr>
        </p:nvSpPr>
        <p:spPr/>
        <p:txBody>
          <a:bodyPr/>
          <a:lstStyle/>
          <a:p>
            <a:fld id="{C1F02CDC-3CD1-4627-A38E-7938FE912C87}" type="slidenum">
              <a:rPr lang="en-GB" smtClean="0"/>
              <a:t>‹#›</a:t>
            </a:fld>
            <a:endParaRPr lang="en-GB"/>
          </a:p>
        </p:txBody>
      </p:sp>
    </p:spTree>
    <p:extLst>
      <p:ext uri="{BB962C8B-B14F-4D97-AF65-F5344CB8AC3E}">
        <p14:creationId xmlns:p14="http://schemas.microsoft.com/office/powerpoint/2010/main" val="352120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821D00-9809-1518-1305-6C8614A7D3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02E7274C-DFD8-C795-552A-79C8661B88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E587485-0570-E1F0-CAF3-D424A5D5CB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1557D1-D403-4525-AE88-91E6F055F8B0}" type="datetimeFigureOut">
              <a:rPr lang="en-GB" smtClean="0"/>
              <a:t>07/04/2025</a:t>
            </a:fld>
            <a:endParaRPr lang="en-GB"/>
          </a:p>
        </p:txBody>
      </p:sp>
      <p:sp>
        <p:nvSpPr>
          <p:cNvPr id="5" name="Footer Placeholder 4">
            <a:extLst>
              <a:ext uri="{FF2B5EF4-FFF2-40B4-BE49-F238E27FC236}">
                <a16:creationId xmlns:a16="http://schemas.microsoft.com/office/drawing/2014/main" id="{69DB886C-5768-C9FE-81A1-CDE122F12C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8ED8EA3-A88F-046E-CA29-180269DDC1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02CDC-3CD1-4627-A38E-7938FE912C87}" type="slidenum">
              <a:rPr lang="en-GB" smtClean="0"/>
              <a:t>‹#›</a:t>
            </a:fld>
            <a:endParaRPr lang="en-GB"/>
          </a:p>
        </p:txBody>
      </p:sp>
    </p:spTree>
    <p:extLst>
      <p:ext uri="{BB962C8B-B14F-4D97-AF65-F5344CB8AC3E}">
        <p14:creationId xmlns:p14="http://schemas.microsoft.com/office/powerpoint/2010/main" val="4205039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Open-Network-Models-and-Interfaces-ONMI/TAPI/issues/604" TargetMode="External"/><Relationship Id="rId2" Type="http://schemas.openxmlformats.org/officeDocument/2006/relationships/hyperlink" Target="https://github.com/Open-Network-Models-and-Interfaces-ONMI/TAPI/issues/620" TargetMode="External"/><Relationship Id="rId1" Type="http://schemas.openxmlformats.org/officeDocument/2006/relationships/slideLayout" Target="../slideLayouts/slideLayout2.xml"/><Relationship Id="rId4" Type="http://schemas.openxmlformats.org/officeDocument/2006/relationships/hyperlink" Target="https://github.com/Open-Network-Models-and-Interfaces-ONMI/TAPI/issues/61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atatracker.ietf.org/doc/draft-davis-netmod-modelling-boundari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CC1FE-BE03-FE36-2F16-42755EF1FEA8}"/>
              </a:ext>
            </a:extLst>
          </p:cNvPr>
          <p:cNvSpPr>
            <a:spLocks noGrp="1"/>
          </p:cNvSpPr>
          <p:nvPr>
            <p:ph type="ctrTitle"/>
          </p:nvPr>
        </p:nvSpPr>
        <p:spPr/>
        <p:txBody>
          <a:bodyPr/>
          <a:lstStyle/>
          <a:p>
            <a:r>
              <a:rPr lang="en-GB" dirty="0"/>
              <a:t>Config statements</a:t>
            </a:r>
          </a:p>
        </p:txBody>
      </p:sp>
      <p:sp>
        <p:nvSpPr>
          <p:cNvPr id="3" name="Subtitle 2">
            <a:extLst>
              <a:ext uri="{FF2B5EF4-FFF2-40B4-BE49-F238E27FC236}">
                <a16:creationId xmlns:a16="http://schemas.microsoft.com/office/drawing/2014/main" id="{AC4241E3-C2D5-CDFB-2AD7-1B407FDF2B93}"/>
              </a:ext>
            </a:extLst>
          </p:cNvPr>
          <p:cNvSpPr>
            <a:spLocks noGrp="1"/>
          </p:cNvSpPr>
          <p:nvPr>
            <p:ph type="subTitle" idx="1"/>
          </p:nvPr>
        </p:nvSpPr>
        <p:spPr/>
        <p:txBody>
          <a:bodyPr/>
          <a:lstStyle/>
          <a:p>
            <a:r>
              <a:rPr lang="en-GB" dirty="0"/>
              <a:t>Nigel Davis</a:t>
            </a:r>
          </a:p>
          <a:p>
            <a:r>
              <a:rPr lang="en-GB"/>
              <a:t>2025040</a:t>
            </a:r>
            <a:r>
              <a:rPr lang="en-GB" dirty="0"/>
              <a:t>7</a:t>
            </a:r>
          </a:p>
        </p:txBody>
      </p:sp>
    </p:spTree>
    <p:extLst>
      <p:ext uri="{BB962C8B-B14F-4D97-AF65-F5344CB8AC3E}">
        <p14:creationId xmlns:p14="http://schemas.microsoft.com/office/powerpoint/2010/main" val="1435282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121E0-1BEC-58F1-C5E5-AC689C476F16}"/>
              </a:ext>
            </a:extLst>
          </p:cNvPr>
          <p:cNvSpPr>
            <a:spLocks noGrp="1"/>
          </p:cNvSpPr>
          <p:nvPr>
            <p:ph type="title"/>
          </p:nvPr>
        </p:nvSpPr>
        <p:spPr/>
        <p:txBody>
          <a:bodyPr/>
          <a:lstStyle/>
          <a:p>
            <a:r>
              <a:rPr lang="en-GB" dirty="0"/>
              <a:t>Issue</a:t>
            </a:r>
          </a:p>
        </p:txBody>
      </p:sp>
      <p:sp>
        <p:nvSpPr>
          <p:cNvPr id="3" name="Content Placeholder 2">
            <a:extLst>
              <a:ext uri="{FF2B5EF4-FFF2-40B4-BE49-F238E27FC236}">
                <a16:creationId xmlns:a16="http://schemas.microsoft.com/office/drawing/2014/main" id="{C2418877-A543-BBAA-D156-B597661610FF}"/>
              </a:ext>
            </a:extLst>
          </p:cNvPr>
          <p:cNvSpPr>
            <a:spLocks noGrp="1"/>
          </p:cNvSpPr>
          <p:nvPr>
            <p:ph idx="1"/>
          </p:nvPr>
        </p:nvSpPr>
        <p:spPr/>
        <p:txBody>
          <a:bodyPr/>
          <a:lstStyle/>
          <a:p>
            <a:r>
              <a:rPr lang="en-GB" dirty="0">
                <a:hlinkClick r:id="rId2"/>
              </a:rPr>
              <a:t>#620</a:t>
            </a:r>
            <a:r>
              <a:rPr lang="en-GB" u="sng" dirty="0">
                <a:latin typeface="-apple-system"/>
              </a:rPr>
              <a:t> </a:t>
            </a:r>
            <a:r>
              <a:rPr lang="en-GB" dirty="0"/>
              <a:t>describes the general problem and references:</a:t>
            </a:r>
            <a:endParaRPr lang="en-GB" b="0" i="0" u="sng" dirty="0">
              <a:effectLst/>
              <a:latin typeface="-apple-system"/>
              <a:hlinkClick r:id="rId3"/>
            </a:endParaRPr>
          </a:p>
          <a:p>
            <a:pPr lvl="1"/>
            <a:r>
              <a:rPr lang="en-GB" b="0" i="0" u="sng" dirty="0">
                <a:effectLst/>
                <a:latin typeface="-apple-system"/>
                <a:hlinkClick r:id="rId3"/>
              </a:rPr>
              <a:t>#604</a:t>
            </a:r>
            <a:endParaRPr lang="en-GB" b="0" i="0" u="sng" dirty="0">
              <a:effectLst/>
              <a:latin typeface="-apple-system"/>
            </a:endParaRPr>
          </a:p>
          <a:p>
            <a:pPr lvl="1"/>
            <a:r>
              <a:rPr lang="en-GB" b="0" i="0" u="sng" dirty="0">
                <a:effectLst/>
                <a:latin typeface="-apple-system"/>
                <a:hlinkClick r:id="rId4"/>
              </a:rPr>
              <a:t>#616</a:t>
            </a:r>
            <a:r>
              <a:rPr lang="en-GB" b="0" i="0" u="sng" dirty="0">
                <a:effectLst/>
                <a:latin typeface="-apple-system"/>
              </a:rPr>
              <a:t> </a:t>
            </a:r>
            <a:r>
              <a:rPr lang="en-GB" b="0" i="0" dirty="0">
                <a:effectLst/>
                <a:latin typeface="-apple-system"/>
              </a:rPr>
              <a:t>which highlights errors in 2.5 regarding “config false”</a:t>
            </a:r>
            <a:endParaRPr lang="en-GB" b="0" i="0" u="sng" dirty="0">
              <a:effectLst/>
              <a:latin typeface="-apple-system"/>
            </a:endParaRPr>
          </a:p>
          <a:p>
            <a:r>
              <a:rPr lang="en-GB" dirty="0">
                <a:latin typeface="-apple-system"/>
              </a:rPr>
              <a:t>Note that the config true/false approach has had issues for several TAPI releases</a:t>
            </a:r>
            <a:endParaRPr lang="en-GB" b="0" i="0" u="sng" dirty="0">
              <a:effectLst/>
              <a:latin typeface="-apple-system"/>
            </a:endParaRPr>
          </a:p>
        </p:txBody>
      </p:sp>
    </p:spTree>
    <p:extLst>
      <p:ext uri="{BB962C8B-B14F-4D97-AF65-F5344CB8AC3E}">
        <p14:creationId xmlns:p14="http://schemas.microsoft.com/office/powerpoint/2010/main" val="1640639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741E8-47EA-3EBD-6BF6-BD652592D779}"/>
              </a:ext>
            </a:extLst>
          </p:cNvPr>
          <p:cNvSpPr>
            <a:spLocks noGrp="1"/>
          </p:cNvSpPr>
          <p:nvPr>
            <p:ph type="title"/>
          </p:nvPr>
        </p:nvSpPr>
        <p:spPr/>
        <p:txBody>
          <a:bodyPr/>
          <a:lstStyle/>
          <a:p>
            <a:r>
              <a:rPr lang="en-GB" dirty="0"/>
              <a:t>RFC6020</a:t>
            </a:r>
          </a:p>
        </p:txBody>
      </p:sp>
      <p:sp>
        <p:nvSpPr>
          <p:cNvPr id="3" name="Content Placeholder 2">
            <a:extLst>
              <a:ext uri="{FF2B5EF4-FFF2-40B4-BE49-F238E27FC236}">
                <a16:creationId xmlns:a16="http://schemas.microsoft.com/office/drawing/2014/main" id="{AD792D8A-03C6-D1AC-81F5-29C310E20EF1}"/>
              </a:ext>
            </a:extLst>
          </p:cNvPr>
          <p:cNvSpPr>
            <a:spLocks noGrp="1"/>
          </p:cNvSpPr>
          <p:nvPr>
            <p:ph idx="1"/>
          </p:nvPr>
        </p:nvSpPr>
        <p:spPr/>
        <p:txBody>
          <a:bodyPr/>
          <a:lstStyle/>
          <a:p>
            <a:pPr marL="0" indent="0" algn="l">
              <a:buNone/>
            </a:pPr>
            <a:r>
              <a:rPr lang="en-GB" b="0" i="0" dirty="0">
                <a:solidFill>
                  <a:srgbClr val="1F2328"/>
                </a:solidFill>
                <a:effectLst/>
                <a:latin typeface="-apple-system"/>
              </a:rPr>
              <a:t>RFC6020 has some explanation:</a:t>
            </a:r>
          </a:p>
          <a:p>
            <a:r>
              <a:rPr lang="en-GB" b="0" i="0" dirty="0">
                <a:solidFill>
                  <a:srgbClr val="1F2328"/>
                </a:solidFill>
                <a:effectLst/>
                <a:latin typeface="-apple-system"/>
              </a:rPr>
              <a:t>If "config" is not specified, the default is the same as the parent</a:t>
            </a:r>
            <a:br>
              <a:rPr lang="en-GB" b="0" i="0" dirty="0">
                <a:solidFill>
                  <a:srgbClr val="1F2328"/>
                </a:solidFill>
                <a:effectLst/>
                <a:latin typeface="-apple-system"/>
              </a:rPr>
            </a:br>
            <a:r>
              <a:rPr lang="en-GB" b="0" i="0" dirty="0">
                <a:solidFill>
                  <a:srgbClr val="1F2328"/>
                </a:solidFill>
                <a:effectLst/>
                <a:latin typeface="-apple-system"/>
              </a:rPr>
              <a:t>schema node's "config" value. </a:t>
            </a:r>
          </a:p>
          <a:p>
            <a:r>
              <a:rPr lang="en-GB" b="0" i="0" dirty="0">
                <a:solidFill>
                  <a:srgbClr val="1F2328"/>
                </a:solidFill>
                <a:effectLst/>
                <a:latin typeface="-apple-system"/>
              </a:rPr>
              <a:t>If the top node does not specify a "config" statement, the default is</a:t>
            </a:r>
            <a:br>
              <a:rPr lang="en-GB" b="0" i="0" dirty="0">
                <a:solidFill>
                  <a:srgbClr val="1F2328"/>
                </a:solidFill>
                <a:effectLst/>
                <a:latin typeface="-apple-system"/>
              </a:rPr>
            </a:br>
            <a:r>
              <a:rPr lang="en-GB" b="0" i="0" dirty="0">
                <a:solidFill>
                  <a:srgbClr val="1F2328"/>
                </a:solidFill>
                <a:effectLst/>
                <a:latin typeface="-apple-system"/>
              </a:rPr>
              <a:t>"true".</a:t>
            </a:r>
          </a:p>
          <a:p>
            <a:pPr algn="l"/>
            <a:r>
              <a:rPr lang="en-GB" b="0" i="0" dirty="0">
                <a:solidFill>
                  <a:srgbClr val="1F2328"/>
                </a:solidFill>
                <a:effectLst/>
                <a:latin typeface="-apple-system"/>
              </a:rPr>
              <a:t>If a node has "config" set to "false", no node underneath it can have</a:t>
            </a:r>
            <a:br>
              <a:rPr lang="en-GB" b="0" i="0" dirty="0">
                <a:solidFill>
                  <a:srgbClr val="1F2328"/>
                </a:solidFill>
                <a:effectLst/>
                <a:latin typeface="-apple-system"/>
              </a:rPr>
            </a:br>
            <a:r>
              <a:rPr lang="en-GB" b="0" i="0" dirty="0">
                <a:solidFill>
                  <a:srgbClr val="1F2328"/>
                </a:solidFill>
                <a:effectLst/>
                <a:latin typeface="-apple-system"/>
              </a:rPr>
              <a:t>"config" set to "true".</a:t>
            </a:r>
          </a:p>
          <a:p>
            <a:pPr marL="0" indent="0" algn="l">
              <a:buNone/>
            </a:pPr>
            <a:r>
              <a:rPr lang="en-GB" dirty="0">
                <a:solidFill>
                  <a:srgbClr val="1F2328"/>
                </a:solidFill>
                <a:latin typeface="-apple-system"/>
              </a:rPr>
              <a:t>Note that this appears problematic as it is clearly possible to have a property that can be modified in a structure that cannot be modified.</a:t>
            </a:r>
            <a:endParaRPr lang="en-GB" b="0" i="0" dirty="0">
              <a:solidFill>
                <a:srgbClr val="1F2328"/>
              </a:solidFill>
              <a:effectLst/>
              <a:latin typeface="-apple-system"/>
            </a:endParaRPr>
          </a:p>
          <a:p>
            <a:endParaRPr lang="en-GB" dirty="0"/>
          </a:p>
        </p:txBody>
      </p:sp>
    </p:spTree>
    <p:extLst>
      <p:ext uri="{BB962C8B-B14F-4D97-AF65-F5344CB8AC3E}">
        <p14:creationId xmlns:p14="http://schemas.microsoft.com/office/powerpoint/2010/main" val="4214224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2E0E-978C-3F8D-F241-8F140F17BC23}"/>
              </a:ext>
            </a:extLst>
          </p:cNvPr>
          <p:cNvSpPr>
            <a:spLocks noGrp="1"/>
          </p:cNvSpPr>
          <p:nvPr>
            <p:ph type="title"/>
          </p:nvPr>
        </p:nvSpPr>
        <p:spPr/>
        <p:txBody>
          <a:bodyPr/>
          <a:lstStyle/>
          <a:p>
            <a:r>
              <a:rPr lang="en-GB" dirty="0"/>
              <a:t>Examining 2.6-RC1 </a:t>
            </a:r>
          </a:p>
        </p:txBody>
      </p:sp>
      <p:sp>
        <p:nvSpPr>
          <p:cNvPr id="3" name="Content Placeholder 2">
            <a:extLst>
              <a:ext uri="{FF2B5EF4-FFF2-40B4-BE49-F238E27FC236}">
                <a16:creationId xmlns:a16="http://schemas.microsoft.com/office/drawing/2014/main" id="{DD80FADE-86D5-0CB5-AC0D-572E4C7A14CD}"/>
              </a:ext>
            </a:extLst>
          </p:cNvPr>
          <p:cNvSpPr>
            <a:spLocks noGrp="1"/>
          </p:cNvSpPr>
          <p:nvPr>
            <p:ph idx="1"/>
          </p:nvPr>
        </p:nvSpPr>
        <p:spPr/>
        <p:txBody>
          <a:bodyPr>
            <a:normAutofit lnSpcReduction="10000"/>
          </a:bodyPr>
          <a:lstStyle/>
          <a:p>
            <a:r>
              <a:rPr lang="en-GB" dirty="0"/>
              <a:t>Equipment: Uses config-false at every level</a:t>
            </a:r>
          </a:p>
          <a:p>
            <a:r>
              <a:rPr lang="en-GB" dirty="0"/>
              <a:t>Topology: </a:t>
            </a:r>
          </a:p>
          <a:p>
            <a:pPr lvl="1"/>
            <a:r>
              <a:rPr lang="en-GB" dirty="0"/>
              <a:t>Uses config-false at every levels</a:t>
            </a:r>
          </a:p>
          <a:p>
            <a:pPr lvl="2"/>
            <a:r>
              <a:rPr lang="en-GB" dirty="0"/>
              <a:t>Topology has config-false for all leaves including node</a:t>
            </a:r>
          </a:p>
          <a:p>
            <a:pPr lvl="2"/>
            <a:r>
              <a:rPr lang="en-GB" dirty="0"/>
              <a:t>Link has config-false for all leaves</a:t>
            </a:r>
          </a:p>
          <a:p>
            <a:pPr lvl="2"/>
            <a:r>
              <a:rPr lang="en-GB" dirty="0"/>
              <a:t>Etc.</a:t>
            </a:r>
          </a:p>
          <a:p>
            <a:pPr lvl="1"/>
            <a:r>
              <a:rPr lang="en-GB" dirty="0"/>
              <a:t>This was problematic when it came to modifying link parameters…</a:t>
            </a:r>
          </a:p>
          <a:p>
            <a:r>
              <a:rPr lang="en-GB" dirty="0"/>
              <a:t>Connectivity: Has existing errors from 2.5, identified by </a:t>
            </a:r>
            <a:r>
              <a:rPr lang="en-GB" dirty="0" err="1"/>
              <a:t>pyang</a:t>
            </a:r>
            <a:r>
              <a:rPr lang="en-GB" dirty="0"/>
              <a:t>, that relate to several ids as a result of needing to have config true for some parts of the model due to connectivity-service creation/modification</a:t>
            </a:r>
          </a:p>
        </p:txBody>
      </p:sp>
    </p:spTree>
    <p:extLst>
      <p:ext uri="{BB962C8B-B14F-4D97-AF65-F5344CB8AC3E}">
        <p14:creationId xmlns:p14="http://schemas.microsoft.com/office/powerpoint/2010/main" val="3746525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B2898-E013-4FEA-2E58-0E0D5E45E283}"/>
              </a:ext>
            </a:extLst>
          </p:cNvPr>
          <p:cNvSpPr>
            <a:spLocks noGrp="1"/>
          </p:cNvSpPr>
          <p:nvPr>
            <p:ph type="title"/>
          </p:nvPr>
        </p:nvSpPr>
        <p:spPr/>
        <p:txBody>
          <a:bodyPr/>
          <a:lstStyle/>
          <a:p>
            <a:r>
              <a:rPr lang="en-GB" dirty="0"/>
              <a:t>Config variability per use case</a:t>
            </a:r>
          </a:p>
        </p:txBody>
      </p:sp>
      <p:sp>
        <p:nvSpPr>
          <p:cNvPr id="3" name="Content Placeholder 2">
            <a:extLst>
              <a:ext uri="{FF2B5EF4-FFF2-40B4-BE49-F238E27FC236}">
                <a16:creationId xmlns:a16="http://schemas.microsoft.com/office/drawing/2014/main" id="{B78B6AB3-5B9C-477B-CD97-8B745734EA60}"/>
              </a:ext>
            </a:extLst>
          </p:cNvPr>
          <p:cNvSpPr>
            <a:spLocks noGrp="1"/>
          </p:cNvSpPr>
          <p:nvPr>
            <p:ph idx="1"/>
          </p:nvPr>
        </p:nvSpPr>
        <p:spPr/>
        <p:txBody>
          <a:bodyPr>
            <a:normAutofit fontScale="77500" lnSpcReduction="20000"/>
          </a:bodyPr>
          <a:lstStyle/>
          <a:p>
            <a:r>
              <a:rPr lang="en-GB" dirty="0"/>
              <a:t>A property that can be modified in one use case may be fixed in another</a:t>
            </a:r>
          </a:p>
          <a:p>
            <a:pPr lvl="1"/>
            <a:r>
              <a:rPr lang="en-GB" dirty="0"/>
              <a:t>This is an extension of the conditionality considerations</a:t>
            </a:r>
          </a:p>
          <a:p>
            <a:r>
              <a:rPr lang="en-GB" dirty="0"/>
              <a:t>Conditionality for a property on a per case basis:</a:t>
            </a:r>
          </a:p>
          <a:p>
            <a:pPr lvl="1"/>
            <a:r>
              <a:rPr lang="en-GB" dirty="0"/>
              <a:t>Presence</a:t>
            </a:r>
          </a:p>
          <a:p>
            <a:pPr lvl="2"/>
            <a:r>
              <a:rPr lang="en-GB" dirty="0"/>
              <a:t>Irrelevant</a:t>
            </a:r>
          </a:p>
          <a:p>
            <a:pPr lvl="2"/>
            <a:r>
              <a:rPr lang="en-GB" dirty="0"/>
              <a:t>Optional</a:t>
            </a:r>
          </a:p>
          <a:p>
            <a:pPr lvl="2"/>
            <a:r>
              <a:rPr lang="en-GB" dirty="0"/>
              <a:t>Mandatory under certain circumstances</a:t>
            </a:r>
          </a:p>
          <a:p>
            <a:pPr lvl="2"/>
            <a:r>
              <a:rPr lang="en-GB" dirty="0"/>
              <a:t>Mandatory under all conditions</a:t>
            </a:r>
          </a:p>
          <a:p>
            <a:pPr lvl="1"/>
            <a:r>
              <a:rPr lang="en-GB" dirty="0"/>
              <a:t>Access</a:t>
            </a:r>
          </a:p>
          <a:p>
            <a:pPr lvl="2"/>
            <a:r>
              <a:rPr lang="en-GB" dirty="0"/>
              <a:t>When present is read only</a:t>
            </a:r>
          </a:p>
          <a:p>
            <a:pPr lvl="2"/>
            <a:r>
              <a:rPr lang="en-GB" dirty="0"/>
              <a:t>When present is writable under certain circumstances</a:t>
            </a:r>
          </a:p>
          <a:p>
            <a:pPr lvl="2"/>
            <a:r>
              <a:rPr lang="en-GB" dirty="0"/>
              <a:t>When present is optionally writable on create but not during other parts of the lifecycle</a:t>
            </a:r>
          </a:p>
          <a:p>
            <a:pPr lvl="2"/>
            <a:r>
              <a:rPr lang="en-GB" dirty="0"/>
              <a:t>When present can be changed at any point in the lifecycle</a:t>
            </a:r>
          </a:p>
          <a:p>
            <a:pPr lvl="2"/>
            <a:r>
              <a:rPr lang="en-GB" dirty="0"/>
              <a:t>When present can be initialized but will change through the lifecycle</a:t>
            </a:r>
          </a:p>
          <a:p>
            <a:pPr lvl="2"/>
            <a:r>
              <a:rPr lang="en-GB" dirty="0"/>
              <a:t>Etc.</a:t>
            </a:r>
          </a:p>
          <a:p>
            <a:r>
              <a:rPr lang="en-GB" dirty="0"/>
              <a:t>Currently TR-547 provides this level of subtle control</a:t>
            </a:r>
          </a:p>
        </p:txBody>
      </p:sp>
    </p:spTree>
    <p:extLst>
      <p:ext uri="{BB962C8B-B14F-4D97-AF65-F5344CB8AC3E}">
        <p14:creationId xmlns:p14="http://schemas.microsoft.com/office/powerpoint/2010/main" val="769059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3B8A5-4E67-AC35-580C-A7E522498E37}"/>
              </a:ext>
            </a:extLst>
          </p:cNvPr>
          <p:cNvSpPr>
            <a:spLocks noGrp="1"/>
          </p:cNvSpPr>
          <p:nvPr>
            <p:ph type="title"/>
          </p:nvPr>
        </p:nvSpPr>
        <p:spPr/>
        <p:txBody>
          <a:bodyPr/>
          <a:lstStyle/>
          <a:p>
            <a:r>
              <a:rPr lang="en-GB" dirty="0"/>
              <a:t>Further notes</a:t>
            </a:r>
          </a:p>
        </p:txBody>
      </p:sp>
      <p:sp>
        <p:nvSpPr>
          <p:cNvPr id="3" name="Content Placeholder 2">
            <a:extLst>
              <a:ext uri="{FF2B5EF4-FFF2-40B4-BE49-F238E27FC236}">
                <a16:creationId xmlns:a16="http://schemas.microsoft.com/office/drawing/2014/main" id="{C02C95DF-E409-8ED8-224B-0E8E86C214E7}"/>
              </a:ext>
            </a:extLst>
          </p:cNvPr>
          <p:cNvSpPr>
            <a:spLocks noGrp="1"/>
          </p:cNvSpPr>
          <p:nvPr>
            <p:ph idx="1"/>
          </p:nvPr>
        </p:nvSpPr>
        <p:spPr/>
        <p:txBody>
          <a:bodyPr/>
          <a:lstStyle/>
          <a:p>
            <a:r>
              <a:rPr lang="en-GB" dirty="0"/>
              <a:t>Whether a property can be adjusted depends upon viewpoint</a:t>
            </a:r>
          </a:p>
          <a:p>
            <a:pPr lvl="1"/>
            <a:r>
              <a:rPr lang="en-GB" dirty="0"/>
              <a:t>All properties are adjusted by something</a:t>
            </a:r>
          </a:p>
          <a:p>
            <a:r>
              <a:rPr lang="en-GB" dirty="0"/>
              <a:t>Considering TAPI viewpoints there are some properties that appear read-only such as:</a:t>
            </a:r>
          </a:p>
          <a:p>
            <a:pPr lvl="1"/>
            <a:r>
              <a:rPr lang="en-GB" dirty="0"/>
              <a:t>Operational state which is a reflection of the network behaviour and is set by a solution components below the TAPI responsibility (Note that a solution structure can be envisaged where a component interacting via TAPI analyses the alarms and determines operational state that is then set)</a:t>
            </a:r>
          </a:p>
          <a:p>
            <a:pPr lvl="1"/>
            <a:r>
              <a:rPr lang="en-GB" dirty="0"/>
              <a:t>Receive trace values is exactly what is present in the network</a:t>
            </a:r>
          </a:p>
          <a:p>
            <a:endParaRPr lang="en-GB" dirty="0"/>
          </a:p>
        </p:txBody>
      </p:sp>
    </p:spTree>
    <p:extLst>
      <p:ext uri="{BB962C8B-B14F-4D97-AF65-F5344CB8AC3E}">
        <p14:creationId xmlns:p14="http://schemas.microsoft.com/office/powerpoint/2010/main" val="607401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01B1-0B0A-EE9B-EF3F-BB0765BA9F74}"/>
              </a:ext>
            </a:extLst>
          </p:cNvPr>
          <p:cNvSpPr>
            <a:spLocks noGrp="1"/>
          </p:cNvSpPr>
          <p:nvPr>
            <p:ph type="title"/>
          </p:nvPr>
        </p:nvSpPr>
        <p:spPr/>
        <p:txBody>
          <a:bodyPr>
            <a:normAutofit/>
          </a:bodyPr>
          <a:lstStyle/>
          <a:p>
            <a:r>
              <a:rPr lang="en-GB" sz="4000" dirty="0"/>
              <a:t>What is the “correct” approach to modification?</a:t>
            </a:r>
          </a:p>
        </p:txBody>
      </p:sp>
      <p:sp>
        <p:nvSpPr>
          <p:cNvPr id="3" name="Content Placeholder 2">
            <a:extLst>
              <a:ext uri="{FF2B5EF4-FFF2-40B4-BE49-F238E27FC236}">
                <a16:creationId xmlns:a16="http://schemas.microsoft.com/office/drawing/2014/main" id="{1EDE6D77-9DEF-B030-1EA3-17A27BC16FBE}"/>
              </a:ext>
            </a:extLst>
          </p:cNvPr>
          <p:cNvSpPr>
            <a:spLocks noGrp="1"/>
          </p:cNvSpPr>
          <p:nvPr>
            <p:ph idx="1"/>
          </p:nvPr>
        </p:nvSpPr>
        <p:spPr/>
        <p:txBody>
          <a:bodyPr>
            <a:normAutofit fontScale="62500" lnSpcReduction="20000"/>
          </a:bodyPr>
          <a:lstStyle/>
          <a:p>
            <a:r>
              <a:rPr lang="en-GB" dirty="0"/>
              <a:t>There seem to be two distinct alternatives</a:t>
            </a:r>
          </a:p>
          <a:p>
            <a:pPr lvl="1"/>
            <a:r>
              <a:rPr lang="en-GB" dirty="0"/>
              <a:t>The service approach</a:t>
            </a:r>
          </a:p>
          <a:p>
            <a:pPr lvl="2"/>
            <a:r>
              <a:rPr lang="en-GB" dirty="0"/>
              <a:t>Any property to be set or modified must be dealt with through a service structure</a:t>
            </a:r>
          </a:p>
          <a:p>
            <a:pPr lvl="2"/>
            <a:r>
              <a:rPr lang="en-GB" dirty="0"/>
              <a:t>In the end this will lead to every entity in TAPI having a both a read-only discovery structure and a mirror service structure</a:t>
            </a:r>
          </a:p>
          <a:p>
            <a:pPr lvl="1"/>
            <a:r>
              <a:rPr lang="en-GB" dirty="0"/>
              <a:t>The direct approach</a:t>
            </a:r>
          </a:p>
          <a:p>
            <a:pPr lvl="2"/>
            <a:r>
              <a:rPr lang="en-GB" dirty="0"/>
              <a:t>Any property to be set or modified can be dealt with directly (this is the approach we have use for Link properties)</a:t>
            </a:r>
          </a:p>
          <a:p>
            <a:r>
              <a:rPr lang="en-GB" dirty="0"/>
              <a:t>The service approach is essentially an “intent” approach</a:t>
            </a:r>
          </a:p>
          <a:p>
            <a:pPr lvl="1"/>
            <a:r>
              <a:rPr lang="en-GB" dirty="0"/>
              <a:t>A desired outcome is defined in terms of a set of constraints </a:t>
            </a:r>
          </a:p>
          <a:p>
            <a:pPr lvl="1"/>
            <a:r>
              <a:rPr lang="en-GB" dirty="0"/>
              <a:t>Those constraints can be absolute values or ranges or any other form of loose definition that when met will achieve the desired outcome</a:t>
            </a:r>
          </a:p>
          <a:p>
            <a:pPr lvl="1"/>
            <a:r>
              <a:rPr lang="en-GB" dirty="0"/>
              <a:t>This “outcome-oriented constraint-based” interaction style appears</a:t>
            </a:r>
          </a:p>
          <a:p>
            <a:pPr lvl="2"/>
            <a:r>
              <a:rPr lang="en-GB" dirty="0"/>
              <a:t>Most appropriate for complex operations </a:t>
            </a:r>
          </a:p>
          <a:p>
            <a:pPr lvl="2"/>
            <a:r>
              <a:rPr lang="en-GB" dirty="0"/>
              <a:t>To add significant weight for simple set-like operations primarily because of the current definition approach in YANG</a:t>
            </a:r>
          </a:p>
          <a:p>
            <a:pPr lvl="1"/>
            <a:r>
              <a:rPr lang="en-GB" dirty="0"/>
              <a:t>If we were to take a service approach throughout, for many properties there would be an “intent” shadow with complex definition which would have to be hand-crafted per definition</a:t>
            </a:r>
          </a:p>
          <a:p>
            <a:pPr lvl="2"/>
            <a:r>
              <a:rPr lang="en-GB" dirty="0"/>
              <a:t>We would probably need to at least allow this complexity for all properties just in case (so even when the first usage had an absolute value, the definition would need to allow for complexity</a:t>
            </a:r>
          </a:p>
          <a:p>
            <a:pPr lvl="1"/>
            <a:r>
              <a:rPr lang="en-GB" dirty="0"/>
              <a:t>ONF Core/G.7711 offers some direction here in the sections on “interaction” but the essence of the approach is not readily achievable with YANG as it is defined today</a:t>
            </a:r>
          </a:p>
          <a:p>
            <a:pPr lvl="2"/>
            <a:r>
              <a:rPr lang="en-GB" dirty="0"/>
              <a:t>A draft, </a:t>
            </a:r>
            <a:r>
              <a:rPr lang="en-GB" dirty="0">
                <a:hlinkClick r:id="rId2"/>
              </a:rPr>
              <a:t>modelling boundaries</a:t>
            </a:r>
            <a:r>
              <a:rPr lang="en-GB" dirty="0"/>
              <a:t>, was taken to IETF to set out the challenges (primarily driven by the challenges in definition of capability specifications, but equally relevant to intent). This has expired, but the issues are still real!</a:t>
            </a:r>
          </a:p>
          <a:p>
            <a:pPr marL="0" indent="0">
              <a:buNone/>
            </a:pPr>
            <a:endParaRPr lang="en-GB" dirty="0"/>
          </a:p>
          <a:p>
            <a:pPr lvl="1"/>
            <a:endParaRPr lang="en-GB" dirty="0"/>
          </a:p>
          <a:p>
            <a:endParaRPr lang="en-GB" dirty="0"/>
          </a:p>
          <a:p>
            <a:pPr lvl="2"/>
            <a:endParaRPr lang="en-GB" dirty="0"/>
          </a:p>
        </p:txBody>
      </p:sp>
    </p:spTree>
    <p:extLst>
      <p:ext uri="{BB962C8B-B14F-4D97-AF65-F5344CB8AC3E}">
        <p14:creationId xmlns:p14="http://schemas.microsoft.com/office/powerpoint/2010/main" val="2500786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3BD36-66B7-2FDA-34A4-D54F5A042E16}"/>
              </a:ext>
            </a:extLst>
          </p:cNvPr>
          <p:cNvSpPr>
            <a:spLocks noGrp="1"/>
          </p:cNvSpPr>
          <p:nvPr>
            <p:ph type="title"/>
          </p:nvPr>
        </p:nvSpPr>
        <p:spPr/>
        <p:txBody>
          <a:bodyPr/>
          <a:lstStyle/>
          <a:p>
            <a:r>
              <a:rPr lang="en-GB" dirty="0"/>
              <a:t>Service approach complexity</a:t>
            </a:r>
          </a:p>
        </p:txBody>
      </p:sp>
      <p:sp>
        <p:nvSpPr>
          <p:cNvPr id="3" name="Content Placeholder 2">
            <a:extLst>
              <a:ext uri="{FF2B5EF4-FFF2-40B4-BE49-F238E27FC236}">
                <a16:creationId xmlns:a16="http://schemas.microsoft.com/office/drawing/2014/main" id="{092D327B-9CDB-EE5D-59DB-C39A857903D4}"/>
              </a:ext>
            </a:extLst>
          </p:cNvPr>
          <p:cNvSpPr>
            <a:spLocks noGrp="1"/>
          </p:cNvSpPr>
          <p:nvPr>
            <p:ph idx="1"/>
          </p:nvPr>
        </p:nvSpPr>
        <p:spPr/>
        <p:txBody>
          <a:bodyPr/>
          <a:lstStyle/>
          <a:p>
            <a:pPr marL="0" indent="0">
              <a:buNone/>
            </a:pPr>
            <a:r>
              <a:rPr lang="en-GB" dirty="0"/>
              <a:t>Considering connectivity-service</a:t>
            </a:r>
          </a:p>
          <a:p>
            <a:r>
              <a:rPr lang="en-GB" dirty="0"/>
              <a:t>The current structure references SIPs to select the ends</a:t>
            </a:r>
          </a:p>
          <a:p>
            <a:r>
              <a:rPr lang="en-GB" dirty="0"/>
              <a:t>It is not unreasonable to imagine a case where a building or city was the reference for the ends</a:t>
            </a:r>
          </a:p>
          <a:p>
            <a:r>
              <a:rPr lang="en-GB" dirty="0"/>
              <a:t>The current structure does not allow for this (whereas a more generalized constraint modelling approach would)</a:t>
            </a:r>
          </a:p>
          <a:p>
            <a:endParaRPr lang="en-GB" dirty="0"/>
          </a:p>
          <a:p>
            <a:endParaRPr lang="en-GB" dirty="0"/>
          </a:p>
          <a:p>
            <a:pPr lvl="1"/>
            <a:endParaRPr lang="en-GB" dirty="0"/>
          </a:p>
        </p:txBody>
      </p:sp>
    </p:spTree>
    <p:extLst>
      <p:ext uri="{BB962C8B-B14F-4D97-AF65-F5344CB8AC3E}">
        <p14:creationId xmlns:p14="http://schemas.microsoft.com/office/powerpoint/2010/main" val="1684365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EDE4-9261-AC06-8155-B5521EB9AA47}"/>
              </a:ext>
            </a:extLst>
          </p:cNvPr>
          <p:cNvSpPr>
            <a:spLocks noGrp="1"/>
          </p:cNvSpPr>
          <p:nvPr>
            <p:ph type="title"/>
          </p:nvPr>
        </p:nvSpPr>
        <p:spPr/>
        <p:txBody>
          <a:bodyPr/>
          <a:lstStyle/>
          <a:p>
            <a:r>
              <a:rPr lang="en-GB" dirty="0"/>
              <a:t>Where to go next….</a:t>
            </a:r>
          </a:p>
        </p:txBody>
      </p:sp>
      <p:sp>
        <p:nvSpPr>
          <p:cNvPr id="3" name="Content Placeholder 2">
            <a:extLst>
              <a:ext uri="{FF2B5EF4-FFF2-40B4-BE49-F238E27FC236}">
                <a16:creationId xmlns:a16="http://schemas.microsoft.com/office/drawing/2014/main" id="{ECD7DE0F-218C-4031-3FCE-CF79B4AF5939}"/>
              </a:ext>
            </a:extLst>
          </p:cNvPr>
          <p:cNvSpPr>
            <a:spLocks noGrp="1"/>
          </p:cNvSpPr>
          <p:nvPr>
            <p:ph idx="1"/>
          </p:nvPr>
        </p:nvSpPr>
        <p:spPr/>
        <p:txBody>
          <a:bodyPr>
            <a:normAutofit fontScale="92500" lnSpcReduction="10000"/>
          </a:bodyPr>
          <a:lstStyle/>
          <a:p>
            <a:r>
              <a:rPr lang="en-GB" dirty="0"/>
              <a:t>Everything is config true…</a:t>
            </a:r>
          </a:p>
          <a:p>
            <a:pPr lvl="1"/>
            <a:r>
              <a:rPr lang="en-GB" dirty="0"/>
              <a:t>This is essentially not sufficient as it is not writable properties that are required – we require constraint statements</a:t>
            </a:r>
          </a:p>
          <a:p>
            <a:pPr lvl="1"/>
            <a:r>
              <a:rPr lang="en-GB" dirty="0"/>
              <a:t>In addition, every list would require an index</a:t>
            </a:r>
          </a:p>
          <a:p>
            <a:r>
              <a:rPr lang="en-GB" dirty="0"/>
              <a:t>Every modification is carried out through a service</a:t>
            </a:r>
          </a:p>
          <a:p>
            <a:pPr lvl="1"/>
            <a:r>
              <a:rPr lang="en-GB" dirty="0"/>
              <a:t>Even a simple set would be conducted through the intent of a service</a:t>
            </a:r>
          </a:p>
          <a:p>
            <a:pPr lvl="2"/>
            <a:r>
              <a:rPr lang="en-GB" dirty="0"/>
              <a:t>We would need a link-service, a device-service, a node-service etc.</a:t>
            </a:r>
          </a:p>
          <a:p>
            <a:pPr lvl="1"/>
            <a:r>
              <a:rPr lang="en-GB" dirty="0"/>
              <a:t>This is closer, but would require all entities to be available via either broad services or specific services</a:t>
            </a:r>
          </a:p>
          <a:p>
            <a:pPr lvl="2"/>
            <a:r>
              <a:rPr lang="en-GB" dirty="0"/>
              <a:t>For example, a CEP may be modified via the service that references it</a:t>
            </a:r>
          </a:p>
          <a:p>
            <a:pPr lvl="1"/>
            <a:r>
              <a:rPr lang="en-GB" dirty="0"/>
              <a:t>The current constraint definitions are rather crude</a:t>
            </a:r>
          </a:p>
          <a:p>
            <a:r>
              <a:rPr lang="en-GB" dirty="0"/>
              <a:t>Hence the modelling boundaries draft!</a:t>
            </a:r>
          </a:p>
        </p:txBody>
      </p:sp>
    </p:spTree>
    <p:extLst>
      <p:ext uri="{BB962C8B-B14F-4D97-AF65-F5344CB8AC3E}">
        <p14:creationId xmlns:p14="http://schemas.microsoft.com/office/powerpoint/2010/main" val="3176161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A7B6B-EEEF-B58B-6710-84B52FFA431A}"/>
              </a:ext>
            </a:extLst>
          </p:cNvPr>
          <p:cNvSpPr>
            <a:spLocks noGrp="1"/>
          </p:cNvSpPr>
          <p:nvPr>
            <p:ph type="title"/>
          </p:nvPr>
        </p:nvSpPr>
        <p:spPr/>
        <p:txBody>
          <a:bodyPr/>
          <a:lstStyle/>
          <a:p>
            <a:r>
              <a:rPr lang="en-GB" dirty="0"/>
              <a:t>Further challenges</a:t>
            </a:r>
          </a:p>
        </p:txBody>
      </p:sp>
      <p:sp>
        <p:nvSpPr>
          <p:cNvPr id="3" name="Content Placeholder 2">
            <a:extLst>
              <a:ext uri="{FF2B5EF4-FFF2-40B4-BE49-F238E27FC236}">
                <a16:creationId xmlns:a16="http://schemas.microsoft.com/office/drawing/2014/main" id="{5F4827F7-EF88-4B9F-8A33-87A2EC4FCF4A}"/>
              </a:ext>
            </a:extLst>
          </p:cNvPr>
          <p:cNvSpPr>
            <a:spLocks noGrp="1"/>
          </p:cNvSpPr>
          <p:nvPr>
            <p:ph idx="1"/>
          </p:nvPr>
        </p:nvSpPr>
        <p:spPr/>
        <p:txBody>
          <a:bodyPr/>
          <a:lstStyle/>
          <a:p>
            <a:r>
              <a:rPr lang="en-GB" dirty="0"/>
              <a:t>Regardless of the approach, there are cases where properties expressed in the intent classes are not relevant or not available</a:t>
            </a:r>
          </a:p>
          <a:p>
            <a:r>
              <a:rPr lang="en-GB" dirty="0"/>
              <a:t>There is a need for further profiling to remove irrelevant properties from the property opportunities</a:t>
            </a:r>
          </a:p>
          <a:p>
            <a:pPr lvl="1"/>
            <a:r>
              <a:rPr lang="en-GB" dirty="0"/>
              <a:t>Of course, it is more complex… it could be an </a:t>
            </a:r>
            <a:r>
              <a:rPr lang="en-GB" dirty="0" err="1"/>
              <a:t>enum</a:t>
            </a:r>
            <a:r>
              <a:rPr lang="en-GB" dirty="0"/>
              <a:t> literal that is not relevant or a range that is narrower than the absolute etc.</a:t>
            </a:r>
          </a:p>
          <a:p>
            <a:r>
              <a:rPr lang="en-GB" dirty="0"/>
              <a:t>These challenges and more were covered in the modelling boundaries draft</a:t>
            </a:r>
          </a:p>
          <a:p>
            <a:endParaRPr lang="en-GB" dirty="0"/>
          </a:p>
        </p:txBody>
      </p:sp>
    </p:spTree>
    <p:extLst>
      <p:ext uri="{BB962C8B-B14F-4D97-AF65-F5344CB8AC3E}">
        <p14:creationId xmlns:p14="http://schemas.microsoft.com/office/powerpoint/2010/main" val="4082407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5501-D79A-95A5-7C13-9D315735067C}"/>
              </a:ext>
            </a:extLst>
          </p:cNvPr>
          <p:cNvSpPr>
            <a:spLocks noGrp="1"/>
          </p:cNvSpPr>
          <p:nvPr>
            <p:ph type="title"/>
          </p:nvPr>
        </p:nvSpPr>
        <p:spPr/>
        <p:txBody>
          <a:bodyPr/>
          <a:lstStyle/>
          <a:p>
            <a:r>
              <a:rPr lang="en-GB" dirty="0"/>
              <a:t>So….</a:t>
            </a:r>
          </a:p>
        </p:txBody>
      </p:sp>
      <p:sp>
        <p:nvSpPr>
          <p:cNvPr id="3" name="Content Placeholder 2">
            <a:extLst>
              <a:ext uri="{FF2B5EF4-FFF2-40B4-BE49-F238E27FC236}">
                <a16:creationId xmlns:a16="http://schemas.microsoft.com/office/drawing/2014/main" id="{4E4E0F27-DB2A-87CB-C03F-3F1E27DBAC8A}"/>
              </a:ext>
            </a:extLst>
          </p:cNvPr>
          <p:cNvSpPr>
            <a:spLocks noGrp="1"/>
          </p:cNvSpPr>
          <p:nvPr>
            <p:ph idx="1"/>
          </p:nvPr>
        </p:nvSpPr>
        <p:spPr/>
        <p:txBody>
          <a:bodyPr/>
          <a:lstStyle/>
          <a:p>
            <a:r>
              <a:rPr lang="en-GB" dirty="0"/>
              <a:t>We have a difficult choice to make as we cannot go with the “right” approach as it is not readily available with the current technology, mindset and resources of the TAPI team</a:t>
            </a:r>
          </a:p>
          <a:p>
            <a:r>
              <a:rPr lang="en-GB" dirty="0"/>
              <a:t>AND we need to fix the bugs in 2.5</a:t>
            </a:r>
          </a:p>
          <a:p>
            <a:r>
              <a:rPr lang="en-GB" dirty="0"/>
              <a:t>Discuss </a:t>
            </a:r>
            <a:r>
              <a:rPr lang="en-GB" dirty="0">
                <a:sym typeface="Wingdings" panose="05000000000000000000" pitchFamily="2" charset="2"/>
              </a:rPr>
              <a:t></a:t>
            </a:r>
            <a:endParaRPr lang="en-GB" dirty="0"/>
          </a:p>
        </p:txBody>
      </p:sp>
    </p:spTree>
    <p:extLst>
      <p:ext uri="{BB962C8B-B14F-4D97-AF65-F5344CB8AC3E}">
        <p14:creationId xmlns:p14="http://schemas.microsoft.com/office/powerpoint/2010/main" val="195590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735</TotalTime>
  <Words>1027</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vt:lpstr>
      <vt:lpstr>Aptos</vt:lpstr>
      <vt:lpstr>Aptos Display</vt:lpstr>
      <vt:lpstr>Arial</vt:lpstr>
      <vt:lpstr>Wingdings</vt:lpstr>
      <vt:lpstr>Office Theme</vt:lpstr>
      <vt:lpstr>Config statements</vt:lpstr>
      <vt:lpstr>Issue</vt:lpstr>
      <vt:lpstr>RFC6020</vt:lpstr>
      <vt:lpstr>Examining 2.6-RC1 </vt:lpstr>
      <vt:lpstr>Config variability per use case</vt:lpstr>
      <vt:lpstr>Further notes</vt:lpstr>
      <vt:lpstr>What is the “correct” approach to modification?</vt:lpstr>
      <vt:lpstr>Service approach complexity</vt:lpstr>
      <vt:lpstr>Where to go next….</vt:lpstr>
      <vt:lpstr>Further challenges</vt:lpstr>
      <vt:lpstr>So….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Davis, Nigel</dc:creator>
  <cp:lastModifiedBy>Davis, Nigel</cp:lastModifiedBy>
  <cp:revision>2</cp:revision>
  <dcterms:created xsi:type="dcterms:W3CDTF">2025-04-06T23:13:52Z</dcterms:created>
  <dcterms:modified xsi:type="dcterms:W3CDTF">2025-04-07T11:29:08Z</dcterms:modified>
</cp:coreProperties>
</file>