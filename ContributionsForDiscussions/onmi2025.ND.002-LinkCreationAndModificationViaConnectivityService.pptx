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sldx" ContentType="application/vnd.openxmlformats-officedocument.presentationml.slide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71" r:id="rId4"/>
    <p:sldId id="272" r:id="rId5"/>
    <p:sldId id="269" r:id="rId6"/>
    <p:sldId id="260" r:id="rId7"/>
    <p:sldId id="264" r:id="rId8"/>
    <p:sldId id="262" r:id="rId9"/>
    <p:sldId id="261" r:id="rId10"/>
    <p:sldId id="263" r:id="rId11"/>
    <p:sldId id="258" r:id="rId12"/>
    <p:sldId id="25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2A569F2-6D30-4074-83D1-1C83FCD2F229}" v="67" dt="2025-05-27T14:34:20.0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8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49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AF821-874D-77D2-5586-6D451353EA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181927F-CE3E-37D8-9C3B-4B92C4AA7F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A516B5-DA81-3EB1-2285-9C61D4292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390B2C-3E23-46E0-8CF1-426A8FC22060}" type="datetimeFigureOut">
              <a:rPr lang="en-GB" smtClean="0"/>
              <a:t>27/05/2025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8E0563-0198-D2F7-4CE8-4F45A5DF59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206DE7-8B77-FB44-6630-F97B913FC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6B150-26C2-47E8-8E20-92016B6836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94865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7EBAC-3A6F-1D2C-9525-D58E9712C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DDBE3E-D0F5-43A7-646A-8B639F673A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983867-CA73-ECBB-2556-EA948AD6A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390B2C-3E23-46E0-8CF1-426A8FC22060}" type="datetimeFigureOut">
              <a:rPr lang="en-GB" smtClean="0"/>
              <a:t>27/05/2025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E15CEA-D86A-9423-3685-095E89353F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706D55-B8B4-7CC2-6728-D987EBE28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6B150-26C2-47E8-8E20-92016B6836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71898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B2959-1660-D6BE-53BE-345A8121FF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957182-C420-5290-366E-391B0E13B8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CBC9D9-C53A-6103-42AE-34C1A8BEE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390B2C-3E23-46E0-8CF1-426A8FC22060}" type="datetimeFigureOut">
              <a:rPr lang="en-GB" smtClean="0"/>
              <a:t>27/05/2025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4B3417-5941-C39C-9F96-A107654D4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E939EF-AE70-0DE8-138D-5F48D9A56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6B150-26C2-47E8-8E20-92016B6836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81356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2AD2B-50DA-1A0E-1103-0383F6478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57D70D-8394-88E8-5D1D-3337E99C12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68CC62-B61E-FC83-B155-AFB920A507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CB0170-77DA-AF21-B47B-4437AB951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390B2C-3E23-46E0-8CF1-426A8FC22060}" type="datetimeFigureOut">
              <a:rPr lang="en-GB" smtClean="0"/>
              <a:t>27/05/2025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7AA14E-D4D1-AD5C-AD22-147A4C0F8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83469B-6AAD-2E65-A422-BFD25633F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6B150-26C2-47E8-8E20-92016B6836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38597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E5523-2497-1723-58B6-75467B8E10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72BB74-99EE-3AF2-DE06-8B817031FD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B35786-1923-6429-4E3E-8B70488B20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F950A51-E63C-86DE-F94B-B193D8C08E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980A4F-AD56-28A0-AD32-F81D0734196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E7568B-8139-8E8B-56E1-3FAB4D3BE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390B2C-3E23-46E0-8CF1-426A8FC22060}" type="datetimeFigureOut">
              <a:rPr lang="en-GB" smtClean="0"/>
              <a:t>27/05/2025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E716F9C-A6A7-C2B6-FF18-A3D6DD74D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87F200E-6FCC-D060-5C5C-44F67A941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6B150-26C2-47E8-8E20-92016B6836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61329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7DEF0-4F25-5BFD-4BA8-9B38536E3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4765CE-6A3D-0A90-B0D4-606BD3EB8B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390B2C-3E23-46E0-8CF1-426A8FC22060}" type="datetimeFigureOut">
              <a:rPr lang="en-GB" smtClean="0"/>
              <a:t>27/05/2025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94CBCC-46C0-4C0A-FF62-46CF3D47E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FFF5DD-AE65-D355-F9EE-45BAFCECF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6B150-26C2-47E8-8E20-92016B6836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4677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EEF9108-86CA-7C55-9484-26BA67D33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390B2C-3E23-46E0-8CF1-426A8FC22060}" type="datetimeFigureOut">
              <a:rPr lang="en-GB" smtClean="0"/>
              <a:t>27/05/2025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F0AB806-6F0B-0077-DF2E-CB936F944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4EB210-6BAB-2DB7-6139-AF4B84664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6B150-26C2-47E8-8E20-92016B6836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43720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8988F-DC56-A1B0-981F-7FF5F12230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8C54D-8186-A16F-E090-01D05C3479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9AC0DF-DDA1-BE0F-1077-E665E2B521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FE56AC-6F37-2AEB-FD29-90215A5DE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390B2C-3E23-46E0-8CF1-426A8FC22060}" type="datetimeFigureOut">
              <a:rPr lang="en-GB" smtClean="0"/>
              <a:t>27/05/2025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F2D9E5-A01B-2BE9-1455-95A418737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572D98-6502-291B-1322-4AB63A017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6B150-26C2-47E8-8E20-92016B6836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113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25AD5-7E1C-5693-E0FC-F45F7F2A6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2F89AAD-2022-2DAF-EB54-E0805B9D07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738477-F910-9060-0ADD-F18A3A635D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2AE548-6C3E-F267-81DF-38D8C8CBF2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390B2C-3E23-46E0-8CF1-426A8FC22060}" type="datetimeFigureOut">
              <a:rPr lang="en-GB" smtClean="0"/>
              <a:t>27/05/2025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9AC7E4-EDF8-5B85-2F59-C4FE1C3EB3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BA0617-3D97-4216-0FF4-4F0D04F00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6B150-26C2-47E8-8E20-92016B6836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3684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8ACF8-2271-5C22-A384-AEB1F6AA9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B03440-FA71-4F18-7A03-3131DB5DFC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A0FF77-1A7E-FBEE-4BDD-02FE72C8F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390B2C-3E23-46E0-8CF1-426A8FC22060}" type="datetimeFigureOut">
              <a:rPr lang="en-GB" smtClean="0"/>
              <a:t>27/05/2025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28922B-353E-5096-74AA-53A8CF8E9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53F053-77DE-5125-2550-48DADC3C4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6B150-26C2-47E8-8E20-92016B6836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62323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4A79993-A782-9E85-B24B-B618EA8B85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BABE50-25D7-A9A7-0F6A-173AD5D0BF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6F2C14-5D38-D138-5AEC-2224069D1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390B2C-3E23-46E0-8CF1-426A8FC22060}" type="datetimeFigureOut">
              <a:rPr lang="en-GB" smtClean="0"/>
              <a:t>27/05/2025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EF698C-F305-9CEF-4BDA-E4DAE4DB8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0990B-4D90-A8DA-BA4D-66CF19A6F1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6B150-26C2-47E8-8E20-92016B6836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08695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60FFC1-1BF3-E791-7E1A-A288239200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5BB194-A82B-8209-9141-3507D5AE94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C62364-2A99-FC41-0140-0B22669818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390B2C-3E23-46E0-8CF1-426A8FC22060}" type="datetimeFigureOut">
              <a:rPr lang="en-GB" smtClean="0"/>
              <a:t>27/05/2025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B6C90D-C2DC-0C0B-ED62-83C1D51072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1FEEB7-814C-C90F-1080-EB3E806C9F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66B150-26C2-47E8-8E20-92016B6836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64781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package" Target="../embeddings/Microsoft_PowerPoint_Slide.sldx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package" Target="../embeddings/Microsoft_PowerPoint_Slide1.sldx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package" Target="../embeddings/Microsoft_PowerPoint_Slide2.sldx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package" Target="../embeddings/Microsoft_PowerPoint_Slide3.sldx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132903-E947-D235-306C-CAE36D2DD5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Link creation and modification via connectivity-service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C9E870-0E5E-E8CA-BDE2-087B54441B3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Nigel Davis</a:t>
            </a:r>
          </a:p>
          <a:p>
            <a:r>
              <a:rPr lang="en-GB" dirty="0"/>
              <a:t>20250422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DAF5B4D-83C8-91C2-25AF-88F42319B434}"/>
              </a:ext>
            </a:extLst>
          </p:cNvPr>
          <p:cNvSpPr/>
          <p:nvPr/>
        </p:nvSpPr>
        <p:spPr>
          <a:xfrm rot="19164713">
            <a:off x="-636291" y="2478912"/>
            <a:ext cx="6698051" cy="206210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32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This is work in progress</a:t>
            </a:r>
          </a:p>
          <a:p>
            <a:pPr algn="ctr"/>
            <a:r>
              <a:rPr lang="en-GB" sz="32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Provided for background</a:t>
            </a:r>
          </a:p>
          <a:p>
            <a:pPr algn="ctr"/>
            <a:r>
              <a:rPr lang="en-GB" sz="32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The material will be completed </a:t>
            </a:r>
          </a:p>
          <a:p>
            <a:pPr algn="ctr"/>
            <a:r>
              <a:rPr lang="en-GB" sz="32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and presented at a TAPI weekly call</a:t>
            </a:r>
          </a:p>
        </p:txBody>
      </p:sp>
    </p:spTree>
    <p:extLst>
      <p:ext uri="{BB962C8B-B14F-4D97-AF65-F5344CB8AC3E}">
        <p14:creationId xmlns:p14="http://schemas.microsoft.com/office/powerpoint/2010/main" val="3132180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C8836-8C22-9994-20AC-54FD798009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Rough proposal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32FBF4-DFCB-2547-4BC3-C953776F28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Use connectivity-service to create a link between two points to support a connection of the layer-rate identified</a:t>
            </a:r>
          </a:p>
          <a:p>
            <a:pPr lvl="1"/>
            <a:r>
              <a:rPr lang="en-GB" dirty="0"/>
              <a:t>This is essentially requesting the connectivity service below the link and to cause a link of the selected layer with NEPs that support the identified qualifier</a:t>
            </a:r>
          </a:p>
          <a:p>
            <a:pPr lvl="1"/>
            <a:r>
              <a:rPr lang="en-GB" dirty="0"/>
              <a:t>The key layer of concern has a connection in the sub-media layer</a:t>
            </a:r>
          </a:p>
          <a:p>
            <a:r>
              <a:rPr lang="en-GB" dirty="0"/>
              <a:t>The link details would be via “</a:t>
            </a:r>
            <a:r>
              <a:rPr lang="en-GB" dirty="0" err="1"/>
              <a:t>pacs</a:t>
            </a:r>
            <a:r>
              <a:rPr lang="en-GB" dirty="0"/>
              <a:t>” augments, taken from the link details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31577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27412-D46B-A6CC-CF35-38054D71E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6541"/>
            <a:ext cx="10515600" cy="564497"/>
          </a:xfrm>
        </p:spPr>
        <p:txBody>
          <a:bodyPr>
            <a:normAutofit fontScale="90000"/>
          </a:bodyPr>
          <a:lstStyle/>
          <a:p>
            <a:r>
              <a:rPr lang="en-GB" dirty="0"/>
              <a:t>Analysis of TAPI 2.6 – Link</a:t>
            </a:r>
          </a:p>
        </p:txBody>
      </p:sp>
      <p:graphicFrame>
        <p:nvGraphicFramePr>
          <p:cNvPr id="6" name="Object 5">
            <a:extLst>
              <a:ext uri="{FF2B5EF4-FFF2-40B4-BE49-F238E27FC236}">
                <a16:creationId xmlns:a16="http://schemas.microsoft.com/office/drawing/2014/main" id="{389E7DB2-5EF2-1829-7263-7B91D18959A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83685124"/>
              </p:ext>
            </p:extLst>
          </p:nvPr>
        </p:nvGraphicFramePr>
        <p:xfrm>
          <a:off x="219075" y="639763"/>
          <a:ext cx="6145213" cy="6145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" r:id="rId2" imgW="3649952" imgH="3650171" progId="PowerPoint.Slide.12">
                  <p:embed/>
                </p:oleObj>
              </mc:Choice>
              <mc:Fallback>
                <p:oleObj name="Slide" r:id="rId2" imgW="3649952" imgH="3650171" progId="PowerPoint.Slide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19075" y="639763"/>
                        <a:ext cx="6145213" cy="6145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0475FD4-A83A-693A-ED1D-65D268F4AC35}"/>
              </a:ext>
            </a:extLst>
          </p:cNvPr>
          <p:cNvSpPr txBox="1"/>
          <p:nvPr/>
        </p:nvSpPr>
        <p:spPr>
          <a:xfrm>
            <a:off x="6553202" y="855989"/>
            <a:ext cx="48768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Observations – link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/>
              <a:t>Direction missing from node-edge-point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200" dirty="0"/>
              <a:t>Asymmetric links are not possible although asymmetric connections are (according to connectivity-service)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GB" sz="1200" dirty="0"/>
              <a:t>Link should match connection!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/>
              <a:t>Capacity on link is on whole link yet on service it is on endpoint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200" dirty="0"/>
              <a:t>Service is more correct in that in an asymmetric multi-point situation the emergent link would have different capacities at each end (this is not as relevant for photonics as IP)</a:t>
            </a:r>
          </a:p>
        </p:txBody>
      </p:sp>
    </p:spTree>
    <p:extLst>
      <p:ext uri="{BB962C8B-B14F-4D97-AF65-F5344CB8AC3E}">
        <p14:creationId xmlns:p14="http://schemas.microsoft.com/office/powerpoint/2010/main" val="2321124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DCD98-60C8-3E67-7C58-075C6FC8F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44C52-FCE2-D902-9F88-AF5BE767E7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6541"/>
            <a:ext cx="10515600" cy="564497"/>
          </a:xfrm>
        </p:spPr>
        <p:txBody>
          <a:bodyPr>
            <a:normAutofit fontScale="90000"/>
          </a:bodyPr>
          <a:lstStyle/>
          <a:p>
            <a:r>
              <a:rPr lang="en-GB" dirty="0"/>
              <a:t>Analysis of TAPI 2.6 – connectivity-service</a:t>
            </a:r>
          </a:p>
        </p:txBody>
      </p:sp>
      <p:graphicFrame>
        <p:nvGraphicFramePr>
          <p:cNvPr id="3" name="Object 2">
            <a:extLst>
              <a:ext uri="{FF2B5EF4-FFF2-40B4-BE49-F238E27FC236}">
                <a16:creationId xmlns:a16="http://schemas.microsoft.com/office/drawing/2014/main" id="{EABBB842-C195-C44C-DFF0-82E5CB83DB4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20341826"/>
              </p:ext>
            </p:extLst>
          </p:nvPr>
        </p:nvGraphicFramePr>
        <p:xfrm>
          <a:off x="706438" y="582613"/>
          <a:ext cx="4013200" cy="6021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" r:id="rId2" imgW="3624030" imgH="5436195" progId="PowerPoint.Slide.12">
                  <p:embed/>
                </p:oleObj>
              </mc:Choice>
              <mc:Fallback>
                <p:oleObj name="Slide" r:id="rId2" imgW="3624030" imgH="5436195" progId="PowerPoint.Slide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06438" y="582613"/>
                        <a:ext cx="4013200" cy="6021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52FA858D-697E-13A9-5C53-0F246A305BA7}"/>
              </a:ext>
            </a:extLst>
          </p:cNvPr>
          <p:cNvSpPr txBox="1"/>
          <p:nvPr/>
        </p:nvSpPr>
        <p:spPr>
          <a:xfrm>
            <a:off x="7109014" y="916311"/>
            <a:ext cx="48768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Observations – connectivity-service and connection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/>
              <a:t>Routing constraints cost etc are absolute values. These should be ranges etc!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200" dirty="0"/>
              <a:t>There are secondary properties that provide ranges, but these seem to be rather hacky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200" dirty="0"/>
              <a:t>There could be property values that are required to be presented that are independent of the computation constraint and the computation result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/>
              <a:t>Link validation mechanism is really a connectivity-service validation mechanism and should be reported on the connection (and the link)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200" dirty="0"/>
          </a:p>
          <a:p>
            <a:r>
              <a:rPr lang="en-GB" sz="1200" dirty="0"/>
              <a:t>Use for Link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/>
              <a:t>Add link reference (in same way as connection)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C71F7A-5A0A-C9E7-7A8B-A2E546C8E251}"/>
              </a:ext>
            </a:extLst>
          </p:cNvPr>
          <p:cNvSpPr txBox="1"/>
          <p:nvPr/>
        </p:nvSpPr>
        <p:spPr>
          <a:xfrm>
            <a:off x="4446496" y="820131"/>
            <a:ext cx="2070845" cy="2316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spcBef>
                <a:spcPts val="300"/>
              </a:spcBef>
              <a:buNone/>
            </a:pPr>
            <a:r>
              <a:rPr lang="en-GB" sz="800" dirty="0">
                <a:solidFill>
                  <a:srgbClr val="FF0000"/>
                </a:solidFill>
              </a:rPr>
              <a:t>layer-protocol-name 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GB" sz="800" dirty="0">
                <a:solidFill>
                  <a:srgbClr val="FF0000"/>
                </a:solidFill>
              </a:rPr>
              <a:t>layer-protocol-qualifier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GB" sz="800" dirty="0">
                <a:solidFill>
                  <a:srgbClr val="FF0000"/>
                </a:solidFill>
              </a:rPr>
              <a:t>leaf direction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GB" sz="800" dirty="0">
                <a:solidFill>
                  <a:schemeClr val="bg1"/>
                </a:solidFill>
                <a:highlight>
                  <a:srgbClr val="FF0000"/>
                </a:highlight>
              </a:rPr>
              <a:t>end-point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GB" sz="800" dirty="0">
                <a:solidFill>
                  <a:schemeClr val="bg1"/>
                </a:solidFill>
                <a:highlight>
                  <a:srgbClr val="0000FF"/>
                </a:highlight>
              </a:rPr>
              <a:t>connectivity-constraint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GB" sz="800" dirty="0"/>
              <a:t>	</a:t>
            </a:r>
            <a:r>
              <a:rPr lang="en-GB" sz="800" dirty="0">
                <a:highlight>
                  <a:srgbClr val="FFFF00"/>
                </a:highlight>
              </a:rPr>
              <a:t>Includes schedule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GB" sz="800" dirty="0">
                <a:solidFill>
                  <a:srgbClr val="FF0000"/>
                </a:solidFill>
                <a:highlight>
                  <a:srgbClr val="00FFFF"/>
                </a:highlight>
              </a:rPr>
              <a:t>routing-constraint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GB" sz="800" dirty="0">
                <a:solidFill>
                  <a:schemeClr val="bg1">
                    <a:lumMod val="75000"/>
                  </a:schemeClr>
                </a:solidFill>
              </a:rPr>
              <a:t>topology-constraint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GB" sz="800" dirty="0">
                <a:solidFill>
                  <a:srgbClr val="FF0000"/>
                </a:solidFill>
              </a:rPr>
              <a:t>resilience-constraint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GB" sz="800" dirty="0">
                <a:solidFill>
                  <a:schemeClr val="bg1">
                    <a:lumMod val="75000"/>
                  </a:schemeClr>
                </a:solidFill>
              </a:rPr>
              <a:t>connection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GB" sz="800" dirty="0">
                <a:solidFill>
                  <a:schemeClr val="bg1">
                    <a:lumMod val="75000"/>
                  </a:schemeClr>
                </a:solidFill>
              </a:rPr>
              <a:t>connectivity-service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GB" sz="800" dirty="0">
                <a:solidFill>
                  <a:schemeClr val="bg1">
                    <a:lumMod val="75000"/>
                  </a:schemeClr>
                </a:solidFill>
              </a:rPr>
              <a:t>internal-point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GB" sz="800" dirty="0"/>
              <a:t>global-class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GB" sz="800" dirty="0"/>
              <a:t>admin-state-</a:t>
            </a:r>
            <a:r>
              <a:rPr lang="en-GB" sz="800" dirty="0" err="1"/>
              <a:t>pac</a:t>
            </a:r>
            <a:endParaRPr lang="en-GB" sz="800" dirty="0"/>
          </a:p>
        </p:txBody>
      </p:sp>
    </p:spTree>
    <p:extLst>
      <p:ext uri="{BB962C8B-B14F-4D97-AF65-F5344CB8AC3E}">
        <p14:creationId xmlns:p14="http://schemas.microsoft.com/office/powerpoint/2010/main" val="20109853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FF1D15D-48C9-CBF1-C6E8-C5D0154A8E9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Other connectivity-service and connection adjustments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9B0649FD-DF6C-6878-275E-D2D328BC59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23756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677B2B-D4AB-43D3-6697-5E0C7425F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Other connectivity-service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04F9B-DC1B-E354-BAE9-2FB915798E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GB" dirty="0"/>
              <a:t>Multiple services in parallel (service-set) – usually two</a:t>
            </a:r>
          </a:p>
          <a:p>
            <a:pPr lvl="1"/>
            <a:r>
              <a:rPr lang="en-GB" dirty="0"/>
              <a:t>May simply be parallel creation with no subsequent association</a:t>
            </a:r>
          </a:p>
          <a:p>
            <a:pPr lvl="1"/>
            <a:r>
              <a:rPr lang="en-GB" dirty="0"/>
              <a:t>May be associated in a set or other more complex structure</a:t>
            </a:r>
          </a:p>
          <a:p>
            <a:pPr lvl="1"/>
            <a:r>
              <a:rPr lang="en-GB" dirty="0"/>
              <a:t>Where the services form part of an externally applied protection scheme</a:t>
            </a:r>
          </a:p>
          <a:p>
            <a:r>
              <a:rPr lang="en-GB" dirty="0"/>
              <a:t>Service with adjacency creation as a constraint</a:t>
            </a:r>
          </a:p>
          <a:p>
            <a:pPr lvl="1"/>
            <a:r>
              <a:rPr lang="en-GB" dirty="0"/>
              <a:t>Where the service is to be built across foreign network</a:t>
            </a:r>
          </a:p>
          <a:p>
            <a:pPr lvl="1"/>
            <a:r>
              <a:rPr lang="en-GB" dirty="0"/>
              <a:t>Where an undiscoverable physical adjacency is to be built as part of the overall work order</a:t>
            </a:r>
          </a:p>
          <a:p>
            <a:r>
              <a:rPr lang="en-GB" dirty="0"/>
              <a:t>Trial service returned details via streaming but not committed to the network</a:t>
            </a:r>
          </a:p>
          <a:p>
            <a:pPr lvl="1"/>
            <a:r>
              <a:rPr lang="en-GB" dirty="0"/>
              <a:t>Temporary reserve of resources until service either committed to network or deleted</a:t>
            </a:r>
          </a:p>
          <a:p>
            <a:pPr lvl="1"/>
            <a:r>
              <a:rPr lang="en-GB" dirty="0"/>
              <a:t>No reserve of resources beyond calculation activity (so auto delete of service)</a:t>
            </a:r>
          </a:p>
          <a:p>
            <a:pPr lvl="2"/>
            <a:r>
              <a:rPr lang="en-GB" dirty="0"/>
              <a:t>Note that during the computation the resources may be acquired and then released after computation</a:t>
            </a:r>
          </a:p>
          <a:p>
            <a:pPr lvl="1"/>
            <a:r>
              <a:rPr lang="en-GB" dirty="0"/>
              <a:t>Service(s) with alternative routes presented but not provisioned</a:t>
            </a:r>
          </a:p>
          <a:p>
            <a:pPr lvl="2"/>
            <a:r>
              <a:rPr lang="en-GB" dirty="0"/>
              <a:t>In a multi-level controller environment, where the controller has access to only a portion of the network and there is a complex multi-controller arrangement </a:t>
            </a:r>
          </a:p>
          <a:p>
            <a:pPr lvl="3"/>
            <a:r>
              <a:rPr lang="en-GB" dirty="0"/>
              <a:t>The higher controller is taking advantage of the lower controller PCE</a:t>
            </a:r>
          </a:p>
          <a:p>
            <a:pPr lvl="3"/>
            <a:r>
              <a:rPr lang="en-GB" dirty="0"/>
              <a:t>The resources are not reserved</a:t>
            </a:r>
          </a:p>
          <a:p>
            <a:r>
              <a:rPr lang="en-GB" dirty="0"/>
              <a:t>Timed service creation</a:t>
            </a:r>
          </a:p>
          <a:p>
            <a:pPr lvl="1"/>
            <a:r>
              <a:rPr lang="en-GB" dirty="0"/>
              <a:t>With delayed commit to the network</a:t>
            </a:r>
          </a:p>
          <a:p>
            <a:pPr lvl="1"/>
            <a:r>
              <a:rPr lang="en-GB" dirty="0"/>
              <a:t>With a fully fledged temporal model</a:t>
            </a:r>
          </a:p>
          <a:p>
            <a:pPr lvl="1"/>
            <a:r>
              <a:rPr lang="en-GB" dirty="0"/>
              <a:t>Service creation in a temporal topology</a:t>
            </a:r>
          </a:p>
          <a:p>
            <a:pPr lvl="2"/>
            <a:r>
              <a:rPr lang="en-GB" dirty="0"/>
              <a:t>Where services have start and end time specification</a:t>
            </a:r>
          </a:p>
          <a:p>
            <a:pPr lvl="2"/>
            <a:r>
              <a:rPr lang="en-GB" dirty="0"/>
              <a:t>Where the network resource model has availability with a temporal dimension</a:t>
            </a:r>
          </a:p>
          <a:p>
            <a:r>
              <a:rPr lang="en-GB" dirty="0"/>
              <a:t>Deep equivalent of the above cases</a:t>
            </a:r>
          </a:p>
          <a:p>
            <a:r>
              <a:rPr lang="en-GB" dirty="0"/>
              <a:t>Path set creation during service creation</a:t>
            </a:r>
          </a:p>
          <a:p>
            <a:r>
              <a:rPr lang="en-GB" dirty="0"/>
              <a:t>Path set creation during trial service activity</a:t>
            </a:r>
          </a:p>
          <a:p>
            <a:pPr lvl="1"/>
            <a:r>
              <a:rPr lang="en-GB" dirty="0"/>
              <a:t>This may be a proposed path set that is deleted after the trial or is maintained after the trial</a:t>
            </a:r>
          </a:p>
          <a:p>
            <a:r>
              <a:rPr lang="en-GB" dirty="0"/>
              <a:t>Multi-layer service creation (where the NEPs do not exist prior to the creation and are simply implied by the SIPs)</a:t>
            </a:r>
          </a:p>
          <a:p>
            <a:r>
              <a:rPr lang="en-GB" dirty="0"/>
              <a:t>Enhanced connection lifecycle state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429723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0414D-561A-F9FB-BF54-91E4CAB2F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Multiple connectivity services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AF3D60-BB8B-A21B-B51B-F57A8AD665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1600" dirty="0"/>
              <a:t>Connectivity-service allows for subordinate parts</a:t>
            </a:r>
            <a:endParaRPr lang="en-GB" sz="1100" dirty="0"/>
          </a:p>
          <a:p>
            <a:pPr marL="457200" lvl="1" indent="0">
              <a:buNone/>
            </a:pPr>
            <a:r>
              <a:rPr lang="en-GB" sz="1200" dirty="0"/>
              <a:t> grouping connectivity-services {</a:t>
            </a:r>
          </a:p>
          <a:p>
            <a:pPr marL="457200" lvl="1" indent="0">
              <a:buNone/>
            </a:pPr>
            <a:r>
              <a:rPr lang="en-GB" sz="1200" dirty="0"/>
              <a:t>….</a:t>
            </a:r>
          </a:p>
          <a:p>
            <a:pPr marL="457200" lvl="1" indent="0">
              <a:buNone/>
            </a:pPr>
            <a:r>
              <a:rPr lang="en-GB" sz="1200" dirty="0"/>
              <a:t>        list connectivity-service {</a:t>
            </a:r>
          </a:p>
          <a:p>
            <a:pPr marL="457200" lvl="1" indent="0">
              <a:buNone/>
            </a:pPr>
            <a:r>
              <a:rPr lang="en-GB" sz="1200" dirty="0"/>
              <a:t>            uses connectivity-service;</a:t>
            </a:r>
          </a:p>
          <a:p>
            <a:pPr marL="457200" lvl="1" indent="0">
              <a:buNone/>
            </a:pPr>
            <a:r>
              <a:rPr lang="en-GB" sz="1200" dirty="0"/>
              <a:t>            key 'connectivity-service-</a:t>
            </a:r>
            <a:r>
              <a:rPr lang="en-GB" sz="1200" dirty="0" err="1"/>
              <a:t>uuid</a:t>
            </a:r>
            <a:r>
              <a:rPr lang="en-GB" sz="1200" dirty="0"/>
              <a:t>';</a:t>
            </a:r>
          </a:p>
          <a:p>
            <a:pPr marL="457200" lvl="1" indent="0">
              <a:buNone/>
            </a:pPr>
            <a:r>
              <a:rPr lang="en-GB" sz="1200" dirty="0"/>
              <a:t>            description “Collection of </a:t>
            </a:r>
            <a:r>
              <a:rPr lang="en-GB" sz="1200" dirty="0" err="1"/>
              <a:t>ConnectivityService</a:t>
            </a:r>
            <a:r>
              <a:rPr lang="en-GB" sz="1200" dirty="0"/>
              <a:t> instances for complex connectivity provisioning.";</a:t>
            </a:r>
          </a:p>
          <a:p>
            <a:pPr marL="457200" lvl="1" indent="0">
              <a:buNone/>
            </a:pPr>
            <a:r>
              <a:rPr lang="en-GB" sz="1200" dirty="0"/>
              <a:t>        }</a:t>
            </a:r>
          </a:p>
          <a:p>
            <a:r>
              <a:rPr lang="en-GB" sz="1600" dirty="0"/>
              <a:t>The structure posted will not be persistent</a:t>
            </a:r>
          </a:p>
          <a:p>
            <a:pPr lvl="1"/>
            <a:r>
              <a:rPr lang="en-GB" sz="1200" dirty="0"/>
              <a:t>The structure is intended to simply carry multiple services, they do not need to relate as a single thing beyond creation as they will be interrelated by diversity references</a:t>
            </a:r>
          </a:p>
          <a:p>
            <a:pPr lvl="1"/>
            <a:r>
              <a:rPr lang="en-GB" sz="1200" dirty="0"/>
              <a:t>The grouping is only for co-creation, once created, the services naturally co-exist hence the grouping can be forgotten.</a:t>
            </a:r>
          </a:p>
          <a:p>
            <a:r>
              <a:rPr lang="en-GB" sz="1600" dirty="0"/>
              <a:t>Further work required</a:t>
            </a:r>
          </a:p>
          <a:p>
            <a:pPr lvl="1"/>
            <a:endParaRPr lang="en-GB" sz="1200" dirty="0"/>
          </a:p>
          <a:p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8788453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6DB24-E5E6-6FFF-5327-04F975A1D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Complex workflows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6EDC27-57AA-C793-EA4F-2DCF6648D0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Parallel simultaneous need to be built in one coherent operation</a:t>
            </a:r>
          </a:p>
          <a:p>
            <a:pPr lvl="1"/>
            <a:r>
              <a:rPr lang="en-GB" dirty="0"/>
              <a:t>Choices for multi-layer build workflow are primarily proprietary</a:t>
            </a:r>
          </a:p>
          <a:p>
            <a:r>
              <a:rPr lang="en-GB" dirty="0"/>
              <a:t>For alternative, first alternative needs to be built then removed prior to next alternative</a:t>
            </a:r>
          </a:p>
          <a:p>
            <a:pPr lvl="1"/>
            <a:r>
              <a:rPr lang="en-GB" dirty="0"/>
              <a:t>Alternatives will be streamed as built and then deleted </a:t>
            </a:r>
          </a:p>
          <a:p>
            <a:pPr lvl="2"/>
            <a:r>
              <a:rPr lang="en-GB" dirty="0"/>
              <a:t>There needs to be some form of progress indication (this is essentially the progress of the task – perhaps take/enhance </a:t>
            </a:r>
            <a:r>
              <a:rPr lang="en-GB" dirty="0" err="1"/>
              <a:t>oam</a:t>
            </a:r>
            <a:r>
              <a:rPr lang="en-GB" dirty="0"/>
              <a:t>-job state and maybe even add an optional </a:t>
            </a:r>
            <a:r>
              <a:rPr lang="en-GB" dirty="0" err="1"/>
              <a:t>oam</a:t>
            </a:r>
            <a:r>
              <a:rPr lang="en-GB" dirty="0"/>
              <a:t>-jobs to connectivity-service operation)</a:t>
            </a:r>
          </a:p>
          <a:p>
            <a:r>
              <a:rPr lang="en-GB" dirty="0"/>
              <a:t>The “context” of the build is challenging especially where some services are expected to have been deleted prior to the requirement for the new services</a:t>
            </a:r>
          </a:p>
          <a:p>
            <a:r>
              <a:rPr lang="en-GB" dirty="0"/>
              <a:t>For full support</a:t>
            </a:r>
          </a:p>
          <a:p>
            <a:pPr lvl="1"/>
            <a:r>
              <a:rPr lang="en-GB" dirty="0"/>
              <a:t>Needs to have temporal+ model</a:t>
            </a:r>
          </a:p>
          <a:p>
            <a:pPr lvl="1"/>
            <a:r>
              <a:rPr lang="en-GB" dirty="0"/>
              <a:t>May need to provide indication of which infrastructure to use</a:t>
            </a:r>
          </a:p>
        </p:txBody>
      </p:sp>
    </p:spTree>
    <p:extLst>
      <p:ext uri="{BB962C8B-B14F-4D97-AF65-F5344CB8AC3E}">
        <p14:creationId xmlns:p14="http://schemas.microsoft.com/office/powerpoint/2010/main" val="19930113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75426-646B-F699-1844-786BF3CF3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35CFB-64CE-79F9-0DF1-29E3B85B7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F34A2CB1-38D8-5E6D-637B-18487855905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58867842"/>
              </p:ext>
            </p:extLst>
          </p:nvPr>
        </p:nvGraphicFramePr>
        <p:xfrm>
          <a:off x="293688" y="411163"/>
          <a:ext cx="11387137" cy="6405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" r:id="rId2" imgW="6068613" imgH="3415443" progId="PowerPoint.Slide.12">
                  <p:embed/>
                </p:oleObj>
              </mc:Choice>
              <mc:Fallback>
                <p:oleObj name="Slide" r:id="rId2" imgW="6068613" imgH="3415443" progId="PowerPoint.Slide.12">
                  <p:embed/>
                  <p:pic>
                    <p:nvPicPr>
                      <p:cNvPr id="4" name="Object 3">
                        <a:extLst>
                          <a:ext uri="{FF2B5EF4-FFF2-40B4-BE49-F238E27FC236}">
                            <a16:creationId xmlns:a16="http://schemas.microsoft.com/office/drawing/2014/main" id="{F34A2CB1-38D8-5E6D-637B-18487855905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93688" y="411163"/>
                        <a:ext cx="11387137" cy="64055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445E1D0-E659-0A64-542D-1B2AEBE7A4D9}"/>
              </a:ext>
            </a:extLst>
          </p:cNvPr>
          <p:cNvSpPr txBox="1"/>
          <p:nvPr/>
        </p:nvSpPr>
        <p:spPr>
          <a:xfrm>
            <a:off x="0" y="14744"/>
            <a:ext cx="1200200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rgbClr val="FF0000"/>
                </a:solidFill>
              </a:rPr>
              <a:t>From otcc2020.ND.010_TAPI-ConnectivityServiceComputationService </a:t>
            </a:r>
          </a:p>
          <a:p>
            <a:r>
              <a:rPr lang="en-GB" sz="1100" dirty="0">
                <a:solidFill>
                  <a:srgbClr val="FF0000"/>
                </a:solidFill>
              </a:rPr>
              <a:t>at https://github.com/Open-Network-Models-and-Interfaces-ONMI/TAPI-Activities/blob/main/ContributionsForDiscussions/otcc2020.ND.010_TAPI-ConnectivityServiceComputationService.pptx </a:t>
            </a:r>
          </a:p>
        </p:txBody>
      </p:sp>
    </p:spTree>
    <p:extLst>
      <p:ext uri="{BB962C8B-B14F-4D97-AF65-F5344CB8AC3E}">
        <p14:creationId xmlns:p14="http://schemas.microsoft.com/office/powerpoint/2010/main" val="17659170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B213BAC-FD0B-742F-EA9C-DFB5F3EB1A4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Diagrams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6F9DD1D1-67F9-77DB-E2F5-30E5D856B91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59492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5ACEA-9348-8738-5A05-7B19D158A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9C9613-DE78-1736-9C02-44E264FD0E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7C99F4E6-1CE9-968D-29E8-26BAC428E33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6320221"/>
              </p:ext>
            </p:extLst>
          </p:nvPr>
        </p:nvGraphicFramePr>
        <p:xfrm>
          <a:off x="-620485" y="277586"/>
          <a:ext cx="11823166" cy="665463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Slide" r:id="rId2" imgW="4571981" imgH="2572652" progId="PowerPoint.Slide.12">
                  <p:embed/>
                </p:oleObj>
              </mc:Choice>
              <mc:Fallback>
                <p:oleObj name="Slide" r:id="rId2" imgW="4571981" imgH="2572652" progId="PowerPoint.Slide.12">
                  <p:embed/>
                  <p:pic>
                    <p:nvPicPr>
                      <p:cNvPr id="4" name="Object 3">
                        <a:extLst>
                          <a:ext uri="{FF2B5EF4-FFF2-40B4-BE49-F238E27FC236}">
                            <a16:creationId xmlns:a16="http://schemas.microsoft.com/office/drawing/2014/main" id="{7C99F4E6-1CE9-968D-29E8-26BAC428E33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-620485" y="277586"/>
                        <a:ext cx="11823166" cy="665463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640005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5838E-B1A9-DCE6-111B-557EC9F91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EC34529-A37E-052E-F6EE-56C243EA90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925" y="1825625"/>
            <a:ext cx="9142150" cy="435133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464898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BFA27E-E077-8A0A-389A-66EF78FFB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Sketch of states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42815C-93D2-DF8E-BFAC-04B663B7E8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>
              <a:lnSpc>
                <a:spcPct val="120000"/>
              </a:lnSpc>
              <a:spcBef>
                <a:spcPts val="100"/>
              </a:spcBef>
              <a:spcAft>
                <a:spcPts val="800"/>
              </a:spcAft>
              <a:buNone/>
            </a:pPr>
            <a:r>
              <a:rPr lang="en-GB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PARTIALLY_DEFINED – Path computation has not run, is running or has run but viability validation is required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800"/>
              </a:spcAft>
              <a:buNone/>
            </a:pPr>
            <a:r>
              <a:rPr lang="en-GB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DEFINED_AND_VIABLE – Path computation has run and viability has been validated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800"/>
              </a:spcAft>
              <a:buNone/>
            </a:pPr>
            <a:r>
              <a:rPr lang="en-GB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READY_TO_DEPLOY – All connections and termination properties have been prepared, and deployment can now take place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800"/>
              </a:spcAft>
              <a:buNone/>
            </a:pPr>
            <a:r>
              <a:rPr lang="en-GB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DEPLOYMENT_IN_PROGRESS – Network provisioning is underway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800"/>
              </a:spcAft>
              <a:buNone/>
            </a:pPr>
            <a:r>
              <a:rPr lang="en-GB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INCOMPLETE_DEPLOYMENT – Deployment was not successful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800"/>
              </a:spcAft>
              <a:buNone/>
            </a:pPr>
            <a:r>
              <a:rPr lang="en-GB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INCOMPLETE_NOT_READY – Deployment was successful but something else is preventing completion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800"/>
              </a:spcAft>
              <a:buNone/>
            </a:pPr>
            <a:r>
              <a:rPr lang="en-GB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INCOMPLETE_NOT_READY_CONFLICT – Deployment conflicts with other services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800"/>
              </a:spcAft>
              <a:buNone/>
            </a:pPr>
            <a:r>
              <a:rPr lang="en-GB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INCOMPLETE_READY_BEST_EFFORT – something </a:t>
            </a:r>
            <a:r>
              <a:rPr lang="en-GB" sz="18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did not complete but sufficient is in place to carry traffic</a:t>
            </a:r>
            <a:endParaRPr lang="en-GB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800"/>
              </a:spcAft>
              <a:buNone/>
            </a:pPr>
            <a:r>
              <a:rPr lang="en-GB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COMPLETE_FULLY_READY – Ready to carry traffic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800"/>
              </a:spcAft>
              <a:buNone/>
            </a:pPr>
            <a:r>
              <a:rPr lang="en-GB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UNDEPLOYMENT_IN_PROGRESS – removal of connections from the network is underway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800"/>
              </a:spcAft>
              <a:buNone/>
            </a:pPr>
            <a:r>
              <a:rPr lang="en-GB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INCOMPLETE_UNDEPLOYMENT – some connections could not be removed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800"/>
              </a:spcAft>
              <a:buNone/>
            </a:pPr>
            <a:r>
              <a:rPr lang="en-GB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UNDEPLOYED – there are no connections in the network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800"/>
              </a:spcAft>
              <a:buNone/>
            </a:pPr>
            <a:r>
              <a:rPr lang="en-GB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WAITING_TO_ADOPT </a:t>
            </a:r>
          </a:p>
        </p:txBody>
      </p:sp>
    </p:spTree>
    <p:extLst>
      <p:ext uri="{BB962C8B-B14F-4D97-AF65-F5344CB8AC3E}">
        <p14:creationId xmlns:p14="http://schemas.microsoft.com/office/powerpoint/2010/main" val="820911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680</TotalTime>
  <Words>1018</Words>
  <Application>Microsoft Office PowerPoint</Application>
  <PresentationFormat>Widescreen</PresentationFormat>
  <Paragraphs>111</Paragraphs>
  <Slides>13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Microsoft PowerPoint Slide</vt:lpstr>
      <vt:lpstr>Slide</vt:lpstr>
      <vt:lpstr>Link creation and modification via connectivity-service</vt:lpstr>
      <vt:lpstr>Rough proposal</vt:lpstr>
      <vt:lpstr>Analysis of TAPI 2.6 – Link</vt:lpstr>
      <vt:lpstr>Analysis of TAPI 2.6 – connectivity-service</vt:lpstr>
      <vt:lpstr>Other connectivity-service and connection adjustments</vt:lpstr>
      <vt:lpstr>Other connectivity-service considerations</vt:lpstr>
      <vt:lpstr>Multiple connectivity services</vt:lpstr>
      <vt:lpstr>Complex workflows</vt:lpstr>
      <vt:lpstr>PowerPoint Presentation</vt:lpstr>
      <vt:lpstr>Diagrams</vt:lpstr>
      <vt:lpstr>PowerPoint Presentation</vt:lpstr>
      <vt:lpstr>PowerPoint Presentation</vt:lpstr>
      <vt:lpstr>Sketch of states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Davis, Nigel</dc:creator>
  <cp:lastModifiedBy>Davis, Nigel</cp:lastModifiedBy>
  <cp:revision>2</cp:revision>
  <dcterms:created xsi:type="dcterms:W3CDTF">2025-04-22T09:46:34Z</dcterms:created>
  <dcterms:modified xsi:type="dcterms:W3CDTF">2025-05-27T14:38:17Z</dcterms:modified>
</cp:coreProperties>
</file>