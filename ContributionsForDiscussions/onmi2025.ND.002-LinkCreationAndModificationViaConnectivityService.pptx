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ldx" ContentType="application/vnd.openxmlformats-officedocument.presentationml.slide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58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3" autoAdjust="0"/>
    <p:restoredTop sz="94660"/>
  </p:normalViewPr>
  <p:slideViewPr>
    <p:cSldViewPr snapToGrid="0">
      <p:cViewPr varScale="1">
        <p:scale>
          <a:sx n="95" d="100"/>
          <a:sy n="95" d="100"/>
        </p:scale>
        <p:origin x="78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AF821-874D-77D2-5586-6D451353E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81927F-CE3E-37D8-9C3B-4B92C4AA7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516B5-DA81-3EB1-2285-9C61D4292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90B2C-3E23-46E0-8CF1-426A8FC22060}" type="datetimeFigureOut">
              <a:rPr lang="en-GB" smtClean="0"/>
              <a:t>22/04/2025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E0563-0198-D2F7-4CE8-4F45A5DF5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06DE7-8B77-FB44-6630-F97B913F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B150-26C2-47E8-8E20-92016B683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486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7EBAC-3A6F-1D2C-9525-D58E9712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DBE3E-D0F5-43A7-646A-8B639F673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83867-CA73-ECBB-2556-EA948AD6A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90B2C-3E23-46E0-8CF1-426A8FC22060}" type="datetimeFigureOut">
              <a:rPr lang="en-GB" smtClean="0"/>
              <a:t>22/04/2025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15CEA-D86A-9423-3685-095E89353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06D55-B8B4-7CC2-6728-D987EBE28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B150-26C2-47E8-8E20-92016B683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18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2959-1660-D6BE-53BE-345A8121F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57182-C420-5290-366E-391B0E13B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BC9D9-C53A-6103-42AE-34C1A8BE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90B2C-3E23-46E0-8CF1-426A8FC22060}" type="datetimeFigureOut">
              <a:rPr lang="en-GB" smtClean="0"/>
              <a:t>22/04/2025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B3417-5941-C39C-9F96-A107654D4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939EF-AE70-0DE8-138D-5F48D9A56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B150-26C2-47E8-8E20-92016B683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135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AD2B-50DA-1A0E-1103-0383F6478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7D70D-8394-88E8-5D1D-3337E99C1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8CC62-B61E-FC83-B155-AFB920A50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B0170-77DA-AF21-B47B-4437AB95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90B2C-3E23-46E0-8CF1-426A8FC22060}" type="datetimeFigureOut">
              <a:rPr lang="en-GB" smtClean="0"/>
              <a:t>22/04/2025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AA14E-D4D1-AD5C-AD22-147A4C0F8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3469B-6AAD-2E65-A422-BFD25633F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B150-26C2-47E8-8E20-92016B683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859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5523-2497-1723-58B6-75467B8E1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2BB74-99EE-3AF2-DE06-8B817031F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35786-1923-6429-4E3E-8B70488B2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950A51-E63C-86DE-F94B-B193D8C08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980A4F-AD56-28A0-AD32-F81D07341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E7568B-8139-8E8B-56E1-3FAB4D3B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90B2C-3E23-46E0-8CF1-426A8FC22060}" type="datetimeFigureOut">
              <a:rPr lang="en-GB" smtClean="0"/>
              <a:t>22/04/2025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716F9C-A6A7-C2B6-FF18-A3D6DD74D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7F200E-6FCC-D060-5C5C-44F67A94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B150-26C2-47E8-8E20-92016B683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132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7DEF0-4F25-5BFD-4BA8-9B38536E3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4765CE-6A3D-0A90-B0D4-606BD3EB8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90B2C-3E23-46E0-8CF1-426A8FC22060}" type="datetimeFigureOut">
              <a:rPr lang="en-GB" smtClean="0"/>
              <a:t>22/04/2025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94CBCC-46C0-4C0A-FF62-46CF3D47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FF5DD-AE65-D355-F9EE-45BAFCEC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B150-26C2-47E8-8E20-92016B683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467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F9108-86CA-7C55-9484-26BA67D33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90B2C-3E23-46E0-8CF1-426A8FC22060}" type="datetimeFigureOut">
              <a:rPr lang="en-GB" smtClean="0"/>
              <a:t>22/04/2025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0AB806-6F0B-0077-DF2E-CB936F944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EB210-6BAB-2DB7-6139-AF4B8466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B150-26C2-47E8-8E20-92016B683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372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8988F-DC56-A1B0-981F-7FF5F1223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C54D-8186-A16F-E090-01D05C347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AC0DF-DDA1-BE0F-1077-E665E2B52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E56AC-6F37-2AEB-FD29-90215A5D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90B2C-3E23-46E0-8CF1-426A8FC22060}" type="datetimeFigureOut">
              <a:rPr lang="en-GB" smtClean="0"/>
              <a:t>22/04/2025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2D9E5-A01B-2BE9-1455-95A418737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72D98-6502-291B-1322-4AB63A017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B150-26C2-47E8-8E20-92016B683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113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25AD5-7E1C-5693-E0FC-F45F7F2A6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F89AAD-2022-2DAF-EB54-E0805B9D07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38477-F910-9060-0ADD-F18A3A635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AE548-6C3E-F267-81DF-38D8C8CBF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90B2C-3E23-46E0-8CF1-426A8FC22060}" type="datetimeFigureOut">
              <a:rPr lang="en-GB" smtClean="0"/>
              <a:t>22/04/2025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AC7E4-EDF8-5B85-2F59-C4FE1C3EB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A0617-3D97-4216-0FF4-4F0D04F00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B150-26C2-47E8-8E20-92016B683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6368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ACF8-2271-5C22-A384-AEB1F6AA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B03440-FA71-4F18-7A03-3131DB5DF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0FF77-1A7E-FBEE-4BDD-02FE72C8F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90B2C-3E23-46E0-8CF1-426A8FC22060}" type="datetimeFigureOut">
              <a:rPr lang="en-GB" smtClean="0"/>
              <a:t>22/04/2025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8922B-353E-5096-74AA-53A8CF8E9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3F053-77DE-5125-2550-48DADC3C4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B150-26C2-47E8-8E20-92016B683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232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A79993-A782-9E85-B24B-B618EA8B85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ABE50-25D7-A9A7-0F6A-173AD5D0B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F2C14-5D38-D138-5AEC-2224069D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90B2C-3E23-46E0-8CF1-426A8FC22060}" type="datetimeFigureOut">
              <a:rPr lang="en-GB" smtClean="0"/>
              <a:t>22/04/2025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F698C-F305-9CEF-4BDA-E4DAE4DB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0990B-4D90-A8DA-BA4D-66CF19A6F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B150-26C2-47E8-8E20-92016B683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869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60FFC1-1BF3-E791-7E1A-A28823920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BB194-A82B-8209-9141-3507D5AE9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62364-2A99-FC41-0140-0B22669818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90B2C-3E23-46E0-8CF1-426A8FC22060}" type="datetimeFigureOut">
              <a:rPr lang="en-GB" smtClean="0"/>
              <a:t>22/04/2025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6C90D-C2DC-0C0B-ED62-83C1D5107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FEEB7-814C-C90F-1080-EB3E806C9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6B150-26C2-47E8-8E20-92016B683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478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PowerPoint_Slide.sldx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PowerPoint_Slide1.sldx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32903-E947-D235-306C-CAE36D2DD5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Link creation and modification via connectivity-service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C9E870-0E5E-E8CA-BDE2-087B54441B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Nigel Davis</a:t>
            </a:r>
          </a:p>
          <a:p>
            <a:r>
              <a:rPr lang="en-GB" dirty="0"/>
              <a:t>20250422</a:t>
            </a:r>
          </a:p>
        </p:txBody>
      </p:sp>
    </p:spTree>
    <p:extLst>
      <p:ext uri="{BB962C8B-B14F-4D97-AF65-F5344CB8AC3E}">
        <p14:creationId xmlns:p14="http://schemas.microsoft.com/office/powerpoint/2010/main" val="3132180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C8836-8C22-9994-20AC-54FD7980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Rough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2FBF4-DFCB-2547-4BC3-C953776F2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connectivity-service to create a link between two points to support a connection of the layer-rate identified</a:t>
            </a:r>
          </a:p>
          <a:p>
            <a:pPr lvl="1"/>
            <a:r>
              <a:rPr lang="en-GB" dirty="0"/>
              <a:t>This is essentially requesting the connectivity service below the link and to cause a link of the selected layer with NEPs that support the identified qualifier</a:t>
            </a:r>
          </a:p>
          <a:p>
            <a:pPr lvl="1"/>
            <a:r>
              <a:rPr lang="en-GB" dirty="0"/>
              <a:t>The key layer of concern has a connection in the sub-media layer</a:t>
            </a:r>
          </a:p>
          <a:p>
            <a:r>
              <a:rPr lang="en-GB" dirty="0"/>
              <a:t>The link details would be via “</a:t>
            </a:r>
            <a:r>
              <a:rPr lang="en-GB" dirty="0" err="1"/>
              <a:t>pacs</a:t>
            </a:r>
            <a:r>
              <a:rPr lang="en-GB" dirty="0"/>
              <a:t>” augments, taken from the link details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3157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77B2B-D4AB-43D3-6697-5E0C7425F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connectivity-service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04F9B-DC1B-E354-BAE9-2FB915798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Multiple services in parallel (service-set)</a:t>
            </a:r>
          </a:p>
          <a:p>
            <a:pPr lvl="1"/>
            <a:r>
              <a:rPr lang="en-GB" dirty="0"/>
              <a:t>May simply be parallel creation with no subsequent association</a:t>
            </a:r>
          </a:p>
          <a:p>
            <a:pPr lvl="1"/>
            <a:r>
              <a:rPr lang="en-GB" dirty="0"/>
              <a:t>May be associated in a set or other more complex structure</a:t>
            </a:r>
          </a:p>
          <a:p>
            <a:r>
              <a:rPr lang="en-GB" dirty="0"/>
              <a:t>Trial service returned details via streaming but not committed to the network</a:t>
            </a:r>
          </a:p>
          <a:p>
            <a:pPr lvl="1"/>
            <a:r>
              <a:rPr lang="en-GB" dirty="0"/>
              <a:t>Temporary reserve of resources until service either committed to network or deleted</a:t>
            </a:r>
          </a:p>
          <a:p>
            <a:pPr lvl="1"/>
            <a:r>
              <a:rPr lang="en-GB" dirty="0"/>
              <a:t>No reserve of resources beyond calculation activity (so auto delete of service)</a:t>
            </a:r>
          </a:p>
          <a:p>
            <a:pPr lvl="2"/>
            <a:r>
              <a:rPr lang="en-GB" dirty="0"/>
              <a:t>Note that during the computation the resources may be acquired and then released after computation</a:t>
            </a:r>
          </a:p>
          <a:p>
            <a:r>
              <a:rPr lang="en-GB" dirty="0"/>
              <a:t>Timed service creation</a:t>
            </a:r>
          </a:p>
          <a:p>
            <a:pPr lvl="1"/>
            <a:r>
              <a:rPr lang="en-GB" dirty="0"/>
              <a:t>With delayed commit to the network</a:t>
            </a:r>
          </a:p>
          <a:p>
            <a:pPr lvl="1"/>
            <a:r>
              <a:rPr lang="en-GB" dirty="0"/>
              <a:t>With a fully fledged temporal model</a:t>
            </a:r>
          </a:p>
          <a:p>
            <a:r>
              <a:rPr lang="en-GB" dirty="0"/>
              <a:t>Path set creation during service creation</a:t>
            </a:r>
          </a:p>
          <a:p>
            <a:r>
              <a:rPr lang="en-GB" dirty="0"/>
              <a:t>Path set creation during trial service activity</a:t>
            </a:r>
          </a:p>
          <a:p>
            <a:pPr lvl="1"/>
            <a:r>
              <a:rPr lang="en-GB" dirty="0"/>
              <a:t>This may be a proposed path set that is deleted after the trial or is maintained after the trial</a:t>
            </a:r>
          </a:p>
          <a:p>
            <a:r>
              <a:rPr lang="en-GB" dirty="0"/>
              <a:t>Multi-layer service creation (where the NEPs do not exist prior to the creation and are simply implied by the SIPs)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2972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5426-646B-F699-1844-786BF3CF3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35CFB-64CE-79F9-0DF1-29E3B85B7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34A2CB1-38D8-5E6D-637B-1848785590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638835"/>
              </p:ext>
            </p:extLst>
          </p:nvPr>
        </p:nvGraphicFramePr>
        <p:xfrm>
          <a:off x="168828" y="340836"/>
          <a:ext cx="11636729" cy="6545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" r:id="rId2" imgW="6202903" imgH="3489965" progId="PowerPoint.Slide.12">
                  <p:embed/>
                </p:oleObj>
              </mc:Choice>
              <mc:Fallback>
                <p:oleObj name="Slide" r:id="rId2" imgW="6202903" imgH="3489965" progId="PowerPoint.Slide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8828" y="340836"/>
                        <a:ext cx="11636729" cy="6545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445E1D0-E659-0A64-542D-1B2AEBE7A4D9}"/>
              </a:ext>
            </a:extLst>
          </p:cNvPr>
          <p:cNvSpPr txBox="1"/>
          <p:nvPr/>
        </p:nvSpPr>
        <p:spPr>
          <a:xfrm>
            <a:off x="0" y="14744"/>
            <a:ext cx="120020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rgbClr val="FF0000"/>
                </a:solidFill>
              </a:rPr>
              <a:t>From otcc2020.ND.010_TAPI-ConnectivityServiceComputationService </a:t>
            </a:r>
          </a:p>
          <a:p>
            <a:r>
              <a:rPr lang="en-GB" sz="1100" dirty="0">
                <a:solidFill>
                  <a:srgbClr val="FF0000"/>
                </a:solidFill>
              </a:rPr>
              <a:t>at https://github.com/Open-Network-Models-and-Interfaces-ONMI/TAPI-Activities/blob/main/ContributionsForDiscussions/otcc2020.ND.010_TAPI-ConnectivityServiceComputationService.pptx </a:t>
            </a:r>
          </a:p>
        </p:txBody>
      </p:sp>
    </p:spTree>
    <p:extLst>
      <p:ext uri="{BB962C8B-B14F-4D97-AF65-F5344CB8AC3E}">
        <p14:creationId xmlns:p14="http://schemas.microsoft.com/office/powerpoint/2010/main" val="1765917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DB24-E5E6-6FFF-5327-04F975A1D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 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EDC27-57AA-C793-EA4F-2DCF6648D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Parallel simultaneous need to be built in one coherent operation</a:t>
            </a:r>
          </a:p>
          <a:p>
            <a:pPr lvl="1"/>
            <a:r>
              <a:rPr lang="en-GB" dirty="0"/>
              <a:t>Choices for multi-layer build workflow are primarily proprietary</a:t>
            </a:r>
          </a:p>
          <a:p>
            <a:r>
              <a:rPr lang="en-GB" dirty="0"/>
              <a:t>For alternative, first alternative needs to be built then removed prior to next alternative</a:t>
            </a:r>
          </a:p>
          <a:p>
            <a:pPr lvl="1"/>
            <a:r>
              <a:rPr lang="en-GB" dirty="0"/>
              <a:t>Alternatives will be streamed as built and then deleted </a:t>
            </a:r>
          </a:p>
          <a:p>
            <a:pPr lvl="2"/>
            <a:r>
              <a:rPr lang="en-GB" dirty="0"/>
              <a:t>There needs to be some form of progress indication (this is essentially the progress of the task – perhaps take/enhance </a:t>
            </a:r>
            <a:r>
              <a:rPr lang="en-GB" dirty="0" err="1"/>
              <a:t>oam</a:t>
            </a:r>
            <a:r>
              <a:rPr lang="en-GB" dirty="0"/>
              <a:t>-job state and maybe even add an optional </a:t>
            </a:r>
            <a:r>
              <a:rPr lang="en-GB" dirty="0" err="1"/>
              <a:t>oam</a:t>
            </a:r>
            <a:r>
              <a:rPr lang="en-GB" dirty="0"/>
              <a:t>-jobs to connectivity-service operation)</a:t>
            </a:r>
          </a:p>
          <a:p>
            <a:r>
              <a:rPr lang="en-GB" dirty="0"/>
              <a:t>The “context” of the build is challenging especially where some services are expected to have been deleted prior to the requirement for the new services</a:t>
            </a:r>
          </a:p>
          <a:p>
            <a:r>
              <a:rPr lang="en-GB" dirty="0"/>
              <a:t>For full support</a:t>
            </a:r>
          </a:p>
          <a:p>
            <a:pPr lvl="1"/>
            <a:r>
              <a:rPr lang="en-GB" dirty="0"/>
              <a:t>Needs to have temporal+ model</a:t>
            </a:r>
          </a:p>
          <a:p>
            <a:pPr lvl="1"/>
            <a:r>
              <a:rPr lang="en-GB" dirty="0"/>
              <a:t>May need to provide indication of which infrastructure to use</a:t>
            </a:r>
          </a:p>
        </p:txBody>
      </p:sp>
    </p:spTree>
    <p:extLst>
      <p:ext uri="{BB962C8B-B14F-4D97-AF65-F5344CB8AC3E}">
        <p14:creationId xmlns:p14="http://schemas.microsoft.com/office/powerpoint/2010/main" val="1993011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213BAC-FD0B-742F-EA9C-DFB5F3EB1A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Diagrams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F9DD1D1-67F9-77DB-E2F5-30E5D856B9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94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5ACEA-9348-8738-5A05-7B19D158A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C9613-DE78-1736-9C02-44E264FD0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C99F4E6-1CE9-968D-29E8-26BAC428E3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20221"/>
              </p:ext>
            </p:extLst>
          </p:nvPr>
        </p:nvGraphicFramePr>
        <p:xfrm>
          <a:off x="-620485" y="277586"/>
          <a:ext cx="11823166" cy="6654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" r:id="rId2" imgW="4571981" imgH="2572652" progId="PowerPoint.Slide.12">
                  <p:embed/>
                </p:oleObj>
              </mc:Choice>
              <mc:Fallback>
                <p:oleObj name="Slide" r:id="rId2" imgW="4571981" imgH="2572652" progId="PowerPoint.Slide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620485" y="277586"/>
                        <a:ext cx="11823166" cy="6654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000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838E-B1A9-DCE6-111B-557EC9F9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C34529-A37E-052E-F6EE-56C243EA9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925" y="1825625"/>
            <a:ext cx="9142150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6489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395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Microsoft PowerPoint Slide</vt:lpstr>
      <vt:lpstr>Link creation and modification via connectivity-service</vt:lpstr>
      <vt:lpstr>Rough proposal</vt:lpstr>
      <vt:lpstr>Other connectivity-service considerations</vt:lpstr>
      <vt:lpstr>PowerPoint Presentation</vt:lpstr>
      <vt:lpstr>Complex workflows</vt:lpstr>
      <vt:lpstr>Diagrams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Davis, Nigel</dc:creator>
  <cp:lastModifiedBy>Davis, Nigel</cp:lastModifiedBy>
  <cp:revision>1</cp:revision>
  <dcterms:created xsi:type="dcterms:W3CDTF">2025-04-22T09:46:34Z</dcterms:created>
  <dcterms:modified xsi:type="dcterms:W3CDTF">2025-04-22T16:18:57Z</dcterms:modified>
</cp:coreProperties>
</file>