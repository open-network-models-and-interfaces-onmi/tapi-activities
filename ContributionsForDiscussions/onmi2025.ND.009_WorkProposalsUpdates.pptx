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64" r:id="rId7"/>
    <p:sldId id="261" r:id="rId8"/>
    <p:sldId id="265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3763C6-657E-438C-8246-2A924CF13C13}" v="20" dt="2025-09-09T22:58:52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76" autoAdjust="0"/>
    <p:restoredTop sz="96449" autoAdjust="0"/>
  </p:normalViewPr>
  <p:slideViewPr>
    <p:cSldViewPr snapToGrid="0">
      <p:cViewPr varScale="1">
        <p:scale>
          <a:sx n="113" d="100"/>
          <a:sy n="113" d="100"/>
        </p:scale>
        <p:origin x="8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DE6C-9391-BC52-65E0-AB077635B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763BA-1784-A285-1485-FEFFE45AC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0DBC5-331D-47C7-3265-153C2129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D231-0863-76D6-B8E6-C31BCC4E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B91C9-6F45-B84A-1935-027EEA7C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44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1CB8F-B222-3BD8-1F41-B5DE9310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9858-8267-F512-DB9A-25894F1EC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16D5C-68C1-CFD0-7F0E-682B29927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F0C18-DEB5-7DA2-2AE4-943CEF28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B886-FC6B-C184-B63B-894DC98E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63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3E46-9CB7-8B58-4B42-A7A0671C8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C974C-6C9A-D44E-8A27-E125FED77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7B20C-E6C7-6F9F-82C5-8825DACF5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A49A0-291D-A347-1ED9-30C9ED93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32DB-E57C-9DEE-1D57-62C8A397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59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C298-5A69-82EE-8747-E1A9BD5A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0FEF-6152-74FF-8C83-8EEB16B01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3D539-8592-B2DE-3E1A-F3BB8F1EC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C27C8-3CAE-9EA4-D689-6A92D068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E1DA4-676E-294F-0D02-F6F4C590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E9B1A-C460-1C62-E532-27967280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38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12AE-4BA2-CA55-2210-2E051BC9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BE489-A325-FD55-6366-B505C9550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9D063-30CF-24C4-F457-B0A071775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3912E-70EB-E59E-BBF3-AD27F11F4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9779-D996-DECF-AB8F-D47CE8F3E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D8E3AB-A8EF-75CE-8175-60B07C01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BF55C9-0549-C697-FDA9-08B3D7D1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64445-3943-7546-61CC-BB2295CD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43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6B14-44AA-C551-FFCC-91458CDB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534E1E-93F2-612A-3DD7-F647F67C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7DF74-4DF7-A6A4-7524-B5F3CED2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79858-302C-91A3-6E52-CAC87291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79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7B038-802C-9994-4751-F5FF7105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87156-E0BB-FA1D-E4A6-D401D361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FD37E-8A5F-AEEB-8A02-515C4A94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5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7560-6954-BFE6-DACA-5C716E646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DA3AA-7BB8-166C-DAA1-7334003B9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FE8CF-5AD8-1A23-3089-A42454A3E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11A2B-3DB5-395E-BA3B-C5F1D073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42F82-60A1-7010-B78B-3514AC9F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149AE-BFF5-FA4D-C695-9C5BC108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04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F401-1294-B770-504F-D852EAA8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0BF66-B7EC-6BDE-87EB-A73C88B8B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EEC0-7AE7-D5B7-EB87-1733A6366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EB32D-2416-518A-4FE9-F60F77CD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16798-2337-8BAA-4035-13C6C90C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68426-22E2-7200-7CB6-5C00B2DF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8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2BEF4-0A70-852F-43ED-91DFDBFF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521BC-18EC-E88D-BEFB-4583501E8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DFFF6-BE6E-292A-E634-DBFB8EA5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D7F47-B597-5FA1-E4F7-060AA063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23B8-3D39-3B31-1257-74951F69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34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04A07D-AB6E-DDC8-BB8F-A39FA4178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E199F-6208-B954-E97D-CF508B219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F618B-9B67-8513-D232-991CF428E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50A58-3017-4A80-94B1-5A1CB2C4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50888-A14D-8C27-C122-615E841A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0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E87413-AD7A-F63A-33F7-97768526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AB60A-5AEE-45B5-DAAD-76C3D1022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4D2EA-B477-A02E-30EB-A607AF0FE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0ECD3-AEA2-7C20-8DB7-90C541AA8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E7FE-1F36-37B1-861A-1A14DC665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42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/tree/tapi-2.1.3-fix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gel-r-davis/TAPI-Documentation/tree/tapi-2.5.0-fixes/ReferenceImplementationAgreements/TR-547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nigel-r-davis/TAPI/tree/tapi-2.1.3-fixe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gel-r-davis/TAPI-Documentation/tree/tapi-2.5.0-fixes/ReferenceImplementationAgreements/TR-54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nmi2025.ND.007_StreamingTestPlan-FirstDraft.doc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CAEB-1991-384F-7CAE-2214264DDF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TAPI Work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9B9FE-F929-CFB1-6A04-97ED608AE4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Nigel Davis</a:t>
            </a:r>
          </a:p>
          <a:p>
            <a:r>
              <a:rPr lang="en-GB" dirty="0"/>
              <a:t>20250909</a:t>
            </a:r>
          </a:p>
          <a:p>
            <a:endParaRPr lang="en-GB" noProof="0" dirty="0"/>
          </a:p>
          <a:p>
            <a:r>
              <a:rPr lang="en-GB" dirty="0"/>
              <a:t>Note all work is being carried out in my forks…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2924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4D40-30E3-3856-722C-4EA97DBC8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Updates to 2.1.3 and 2.5.x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DE5F-EA03-F8EE-8359-DD4D4C946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Updates to 2.1.3 will be based on 2.1.4 and go to 2.1.5</a:t>
            </a:r>
          </a:p>
          <a:p>
            <a:pPr lvl="1"/>
            <a:r>
              <a:rPr lang="en-GB" dirty="0"/>
              <a:t>2.1.4 has a fixed OAS that are rolled into </a:t>
            </a:r>
            <a:r>
              <a:rPr lang="en-GB" dirty="0">
                <a:hlinkClick r:id="rId2"/>
              </a:rPr>
              <a:t>tapi-2.1.3-fixes</a:t>
            </a:r>
            <a:r>
              <a:rPr lang="en-GB" dirty="0"/>
              <a:t> directly</a:t>
            </a:r>
            <a:endParaRPr lang="en-GB" noProof="0" dirty="0"/>
          </a:p>
          <a:p>
            <a:r>
              <a:rPr lang="en-GB" dirty="0"/>
              <a:t>Updates to 2.5.0 will be based on 2.5.1 and go to 2.5.2</a:t>
            </a:r>
          </a:p>
          <a:p>
            <a:pPr lvl="1"/>
            <a:r>
              <a:rPr lang="en-GB" noProof="0" dirty="0"/>
              <a:t>There are YANG patches in 2.5.0-fixes (from 2.5.1), should they be rolled into the formal YANG of 2.5.2 (i.e., update the YANG (backward compatible))?</a:t>
            </a:r>
          </a:p>
          <a:p>
            <a:pPr lvl="1"/>
            <a:r>
              <a:rPr lang="en-GB" dirty="0"/>
              <a:t>There is a corrected OAS in the patches, should this replace the OAS such that there is no confusion in 2.5.2 and be compatible with the 2.1.3 approach?</a:t>
            </a:r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3123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7E22D-66B0-3740-2397-71BCB2A6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Protobuf</a:t>
            </a:r>
            <a:r>
              <a:rPr lang="en-GB" dirty="0"/>
              <a:t> file to 2.5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93EF-4E3C-EAFD-FD51-C337888BC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 </a:t>
            </a:r>
            <a:r>
              <a:rPr lang="en-GB" dirty="0" err="1"/>
              <a:t>protobuf</a:t>
            </a:r>
            <a:r>
              <a:rPr lang="en-GB" dirty="0"/>
              <a:t> file to 2.5 (issue 619 work item 65)</a:t>
            </a:r>
          </a:p>
          <a:p>
            <a:pPr lvl="1"/>
            <a:r>
              <a:rPr lang="en-GB" noProof="0" dirty="0"/>
              <a:t>Prepared the file and update to TR-548 in working 2.5 branch for call </a:t>
            </a:r>
            <a:r>
              <a:rPr lang="en-GB" noProof="0" dirty="0">
                <a:solidFill>
                  <a:srgbClr val="FF0000"/>
                </a:solidFill>
                <a:highlight>
                  <a:srgbClr val="FFFF00"/>
                </a:highlight>
              </a:rPr>
              <a:t>20250909</a:t>
            </a:r>
          </a:p>
          <a:p>
            <a:pPr lvl="1"/>
            <a:r>
              <a:rPr lang="en-GB" noProof="0" dirty="0" err="1"/>
              <a:t>Protobuf</a:t>
            </a:r>
            <a:r>
              <a:rPr lang="en-GB" noProof="0" dirty="0"/>
              <a:t> file added </a:t>
            </a:r>
            <a:r>
              <a:rPr lang="en-GB" noProof="0"/>
              <a:t>to </a:t>
            </a:r>
            <a:r>
              <a:rPr lang="en-GB" noProof="0">
                <a:hlinkClick r:id="rId2"/>
              </a:rPr>
              <a:t>2.5.0-fixesTR-547-ND</a:t>
            </a:r>
            <a:r>
              <a:rPr lang="en-GB" noProof="0"/>
              <a:t>.</a:t>
            </a:r>
            <a:endParaRPr lang="en-GB" noProof="0" dirty="0"/>
          </a:p>
          <a:p>
            <a:pPr lvl="1"/>
            <a:r>
              <a:rPr lang="en-GB" dirty="0"/>
              <a:t>TR folder structure changed</a:t>
            </a:r>
          </a:p>
          <a:p>
            <a:pPr lvl="1"/>
            <a:r>
              <a:rPr lang="en-GB" dirty="0"/>
              <a:t>TR-548 initial updates made in documentation </a:t>
            </a:r>
            <a:r>
              <a:rPr lang="en-GB" dirty="0" err="1"/>
              <a:t>nd</a:t>
            </a:r>
            <a:r>
              <a:rPr lang="en-GB" dirty="0"/>
              <a:t> fork v3.1.1</a:t>
            </a:r>
            <a:endParaRPr lang="en-GB" noProof="0" dirty="0"/>
          </a:p>
          <a:p>
            <a:r>
              <a:rPr lang="en-GB" noProof="0" dirty="0"/>
              <a:t>Follow-on actions</a:t>
            </a:r>
          </a:p>
          <a:p>
            <a:pPr lvl="1"/>
            <a:r>
              <a:rPr lang="en-GB" dirty="0"/>
              <a:t>Review updates</a:t>
            </a:r>
          </a:p>
          <a:p>
            <a:pPr lvl="1"/>
            <a:r>
              <a:rPr lang="en-GB" noProof="0" dirty="0"/>
              <a:t>Prepare delivery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1658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3210-5588-F747-C2C3-78F2CCA9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physical-route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EF330-0E76-4E19-CF59-5E4DC1C8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4120" cy="4351338"/>
          </a:xfrm>
        </p:spPr>
        <p:txBody>
          <a:bodyPr>
            <a:normAutofit fontScale="85000" lnSpcReduction="20000"/>
          </a:bodyPr>
          <a:lstStyle/>
          <a:p>
            <a:r>
              <a:rPr lang="en-GB" noProof="0" dirty="0"/>
              <a:t>physical-route to 2.1.3 (issue 628 work item 63)</a:t>
            </a:r>
          </a:p>
          <a:p>
            <a:pPr lvl="1"/>
            <a:r>
              <a:rPr lang="en-GB" noProof="0" dirty="0"/>
              <a:t>UML/YANG draft generated </a:t>
            </a:r>
            <a:r>
              <a:rPr lang="en-GB" noProof="0" dirty="0">
                <a:solidFill>
                  <a:srgbClr val="FF0000"/>
                </a:solidFill>
                <a:highlight>
                  <a:srgbClr val="FFFF00"/>
                </a:highlight>
              </a:rPr>
              <a:t>20250909</a:t>
            </a:r>
          </a:p>
          <a:p>
            <a:pPr lvl="2"/>
            <a:r>
              <a:rPr lang="en-GB" noProof="0" dirty="0"/>
              <a:t>Available at </a:t>
            </a:r>
            <a:r>
              <a:rPr lang="en-GB" dirty="0">
                <a:hlinkClick r:id="rId2"/>
              </a:rPr>
              <a:t>2.1.3-fixes-ND</a:t>
            </a:r>
            <a:endParaRPr lang="en-GB" noProof="0" dirty="0"/>
          </a:p>
          <a:p>
            <a:pPr lvl="1"/>
            <a:r>
              <a:rPr lang="en-GB" noProof="0" dirty="0"/>
              <a:t>Challenges </a:t>
            </a:r>
            <a:r>
              <a:rPr lang="en-GB" dirty="0"/>
              <a:t>in streaming and especially notification</a:t>
            </a:r>
          </a:p>
          <a:p>
            <a:pPr lvl="2"/>
            <a:r>
              <a:rPr lang="en-GB" dirty="0"/>
              <a:t>Streaming hybrid augment proposed where ANY_CLASS is used to carry the objects</a:t>
            </a:r>
          </a:p>
          <a:p>
            <a:pPr lvl="2"/>
            <a:r>
              <a:rPr lang="en-GB" dirty="0"/>
              <a:t>No clear solution for notification other than modifying the </a:t>
            </a:r>
            <a:r>
              <a:rPr lang="en-GB" dirty="0" err="1"/>
              <a:t>enum</a:t>
            </a:r>
            <a:r>
              <a:rPr lang="en-GB" dirty="0"/>
              <a:t> for object type</a:t>
            </a:r>
          </a:p>
          <a:p>
            <a:pPr lvl="1"/>
            <a:r>
              <a:rPr lang="en-GB" dirty="0"/>
              <a:t>YANG v1.1 currently used. Could revert to 1.0</a:t>
            </a:r>
          </a:p>
          <a:p>
            <a:pPr lvl="1"/>
            <a:r>
              <a:rPr lang="en-GB" noProof="0" dirty="0"/>
              <a:t>Follow-on actions</a:t>
            </a:r>
          </a:p>
          <a:p>
            <a:pPr lvl="2"/>
            <a:r>
              <a:rPr lang="en-GB" dirty="0"/>
              <a:t>Draft update to TR-547</a:t>
            </a:r>
          </a:p>
          <a:p>
            <a:pPr lvl="2"/>
            <a:r>
              <a:rPr lang="en-GB" noProof="0" dirty="0"/>
              <a:t>Updates to UML and YANG additions if any</a:t>
            </a:r>
          </a:p>
          <a:p>
            <a:pPr lvl="2"/>
            <a:r>
              <a:rPr lang="en-GB" dirty="0"/>
              <a:t>Review solution</a:t>
            </a:r>
          </a:p>
          <a:p>
            <a:pPr lvl="2"/>
            <a:r>
              <a:rPr lang="en-GB" noProof="0" dirty="0"/>
              <a:t>Prepare delivery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F4142-F878-15B9-06E5-9CD96D402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578" y="457199"/>
            <a:ext cx="4540301" cy="3293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E36693-C665-56D5-26EC-0863CAAD4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001293"/>
            <a:ext cx="4931618" cy="2399507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FCD2068-D0D9-BDF5-B836-DF061E88E7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009235"/>
              </p:ext>
            </p:extLst>
          </p:nvPr>
        </p:nvGraphicFramePr>
        <p:xfrm>
          <a:off x="5579745" y="5886450"/>
          <a:ext cx="15525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1552353" imgH="514616" progId="Package">
                  <p:embed/>
                </p:oleObj>
              </mc:Choice>
              <mc:Fallback>
                <p:oleObj name="Packager Shell Object" showAsIcon="1" r:id="rId5" imgW="1552353" imgH="51461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9745" y="5886450"/>
                        <a:ext cx="15525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765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1FE1-B340-2547-5920-BC2E8492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"/>
            <a:ext cx="10515600" cy="602380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String restrictions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B35A3-09B4-8A80-449F-3907F1DEF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495925"/>
          </a:xfrm>
        </p:spPr>
        <p:txBody>
          <a:bodyPr>
            <a:normAutofit/>
          </a:bodyPr>
          <a:lstStyle/>
          <a:p>
            <a:r>
              <a:rPr lang="en-GB" noProof="0" dirty="0"/>
              <a:t>String restrictions (issue 622 work item 62)</a:t>
            </a:r>
          </a:p>
          <a:p>
            <a:pPr lvl="1"/>
            <a:r>
              <a:rPr lang="en-GB" noProof="0" dirty="0"/>
              <a:t>Used worked through changes in TR-547 2.6.0 </a:t>
            </a:r>
          </a:p>
          <a:p>
            <a:pPr lvl="2"/>
            <a:r>
              <a:rPr lang="en-GB" dirty="0"/>
              <a:t>This review also highlighted some conditions we have changed these should be rolled back to 2.5 too (word compare is probably the best method to find these)</a:t>
            </a:r>
          </a:p>
          <a:p>
            <a:pPr lvl="2"/>
            <a:r>
              <a:rPr lang="en-GB" noProof="0" dirty="0"/>
              <a:t>30 chang</a:t>
            </a:r>
            <a:r>
              <a:rPr lang="en-GB" dirty="0"/>
              <a:t>es were made</a:t>
            </a:r>
          </a:p>
          <a:p>
            <a:pPr lvl="3"/>
            <a:r>
              <a:rPr lang="en-GB" noProof="0" dirty="0"/>
              <a:t>We appear to have missed access-port in device in 2.6.0. I have corrected this in 2.5. We can clear that up in 2.7.</a:t>
            </a:r>
          </a:p>
          <a:p>
            <a:pPr lvl="2"/>
            <a:r>
              <a:rPr lang="en-GB" dirty="0"/>
              <a:t>I have updated for Linux Foundation etc.</a:t>
            </a:r>
            <a:endParaRPr lang="en-GB" noProof="0" dirty="0"/>
          </a:p>
          <a:p>
            <a:pPr lvl="1"/>
            <a:r>
              <a:rPr lang="en-GB" noProof="0" dirty="0"/>
              <a:t>I have prepared TR-547 2.5 with all string restrictions removed (at </a:t>
            </a:r>
            <a:r>
              <a:rPr lang="en-GB" noProof="0" dirty="0">
                <a:hlinkClick r:id="rId2"/>
              </a:rPr>
              <a:t>tapi-2.5.0-fixesTR-547-ND</a:t>
            </a:r>
            <a:r>
              <a:rPr lang="en-GB" noProof="0" dirty="0"/>
              <a:t>  as done for 2.6, for the call </a:t>
            </a:r>
            <a:r>
              <a:rPr lang="en-GB" noProof="0" dirty="0">
                <a:solidFill>
                  <a:srgbClr val="FF0000"/>
                </a:solidFill>
                <a:highlight>
                  <a:srgbClr val="FFFF00"/>
                </a:highlight>
              </a:rPr>
              <a:t>20250909</a:t>
            </a:r>
            <a:endParaRPr lang="en-GB" noProof="0" dirty="0"/>
          </a:p>
          <a:p>
            <a:pPr lvl="2"/>
            <a:r>
              <a:rPr lang="en-GB" noProof="0" dirty="0"/>
              <a:t>2.1.3 will be adjusted for next weeks call</a:t>
            </a:r>
          </a:p>
          <a:p>
            <a:pPr lvl="1"/>
            <a:r>
              <a:rPr lang="en-GB" noProof="0" dirty="0"/>
              <a:t>Follow-on actions</a:t>
            </a:r>
          </a:p>
          <a:p>
            <a:pPr lvl="2"/>
            <a:r>
              <a:rPr lang="en-GB" noProof="0" dirty="0"/>
              <a:t>Review as drafts of TR-547 v1.1.1 and v3.1.1</a:t>
            </a:r>
          </a:p>
          <a:p>
            <a:pPr lvl="2"/>
            <a:r>
              <a:rPr lang="en-GB" noProof="0" dirty="0"/>
              <a:t>Publish as new release of 2.5 and 2.1.3  (rearrange folders for docs for TRs so TR-547 and TR-548)</a:t>
            </a:r>
          </a:p>
          <a:p>
            <a:pPr lvl="2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20156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7CE2-7F0C-E0BB-E962-13676C1E6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144B-C8AF-994F-C467-9F047525A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"/>
            <a:ext cx="10515600" cy="602380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Config 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395BF-29C7-DAFA-BDC3-D63623E6E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495925"/>
          </a:xfrm>
        </p:spPr>
        <p:txBody>
          <a:bodyPr>
            <a:normAutofit fontScale="62500" lnSpcReduction="20000"/>
          </a:bodyPr>
          <a:lstStyle/>
          <a:p>
            <a:r>
              <a:rPr lang="en-GB" noProof="0" dirty="0"/>
              <a:t>Config false (issue 620 work item 15)</a:t>
            </a:r>
          </a:p>
          <a:p>
            <a:pPr lvl="1"/>
            <a:r>
              <a:rPr lang="en-GB" dirty="0"/>
              <a:t>I will update the connectivity YANG to LF standard</a:t>
            </a:r>
          </a:p>
          <a:p>
            <a:pPr lvl="1"/>
            <a:r>
              <a:rPr lang="en-GB" noProof="0" dirty="0"/>
              <a:t>I adjusted the connection-end-point-ref (which </a:t>
            </a:r>
            <a:r>
              <a:rPr lang="en-GB" noProof="0" dirty="0" err="1"/>
              <a:t>wa</a:t>
            </a:r>
            <a:r>
              <a:rPr lang="en-GB" dirty="0"/>
              <a:t>s the only remaining error in 2.6.0) as proposed by Ramon (</a:t>
            </a:r>
            <a:r>
              <a:rPr lang="en-GB" noProof="0" dirty="0"/>
              <a:t>Mark all </a:t>
            </a:r>
            <a:r>
              <a:rPr lang="en-GB" noProof="0" dirty="0" err="1"/>
              <a:t>leafrefs</a:t>
            </a:r>
            <a:r>
              <a:rPr lang="en-GB" noProof="0" dirty="0"/>
              <a:t> in config groupings that point to non-config </a:t>
            </a:r>
            <a:r>
              <a:rPr lang="en-GB" noProof="0" dirty="0" err="1"/>
              <a:t>uuids</a:t>
            </a:r>
            <a:r>
              <a:rPr lang="en-GB" noProof="0" dirty="0"/>
              <a:t> as “require-instance false;”</a:t>
            </a:r>
            <a:r>
              <a:rPr lang="en-GB" dirty="0"/>
              <a:t>) and as below…</a:t>
            </a:r>
          </a:p>
          <a:p>
            <a:pPr marL="914400" lvl="2" indent="0">
              <a:buNone/>
            </a:pPr>
            <a:r>
              <a:rPr lang="en-GB" noProof="0" dirty="0"/>
              <a:t>grouping connection-end-point-ref {</a:t>
            </a:r>
          </a:p>
          <a:p>
            <a:pPr marL="914400" lvl="2" indent="0">
              <a:buNone/>
            </a:pPr>
            <a:r>
              <a:rPr lang="en-GB" noProof="0" dirty="0"/>
              <a:t>        uses </a:t>
            </a:r>
            <a:r>
              <a:rPr lang="en-GB" noProof="0" dirty="0" err="1"/>
              <a:t>tapi-topology:node-edge-point-ref</a:t>
            </a:r>
            <a:r>
              <a:rPr lang="en-GB" noProof="0" dirty="0"/>
              <a:t>;</a:t>
            </a:r>
          </a:p>
          <a:p>
            <a:pPr marL="914400" lvl="2" indent="0">
              <a:buNone/>
            </a:pPr>
            <a:r>
              <a:rPr lang="en-GB" noProof="0" dirty="0"/>
              <a:t>        leaf connection-end-point-</a:t>
            </a:r>
            <a:r>
              <a:rPr lang="en-GB" noProof="0" dirty="0" err="1"/>
              <a:t>uuid</a:t>
            </a:r>
            <a:r>
              <a:rPr lang="en-GB" noProof="0" dirty="0"/>
              <a:t> {</a:t>
            </a:r>
          </a:p>
          <a:p>
            <a:pPr marL="914400" lvl="2" indent="0">
              <a:buNone/>
            </a:pPr>
            <a:r>
              <a:rPr lang="en-GB" noProof="0" dirty="0"/>
              <a:t>            type </a:t>
            </a:r>
            <a:r>
              <a:rPr lang="en-GB" noProof="0" dirty="0" err="1"/>
              <a:t>leafref</a:t>
            </a:r>
            <a:r>
              <a:rPr lang="en-GB" noProof="0" dirty="0"/>
              <a:t> {</a:t>
            </a:r>
          </a:p>
          <a:p>
            <a:pPr marL="914400" lvl="2" indent="0">
              <a:buNone/>
            </a:pPr>
            <a:r>
              <a:rPr lang="en-GB" noProof="0" dirty="0"/>
              <a:t>                path '/</a:t>
            </a:r>
            <a:r>
              <a:rPr lang="en-GB" noProof="0" dirty="0" err="1"/>
              <a:t>tapi-common:context</a:t>
            </a:r>
            <a:r>
              <a:rPr lang="en-GB" noProof="0" dirty="0"/>
              <a:t>/</a:t>
            </a:r>
            <a:r>
              <a:rPr lang="en-GB" noProof="0" dirty="0" err="1"/>
              <a:t>tapi-topology:topology-context</a:t>
            </a:r>
            <a:r>
              <a:rPr lang="en-GB" noProof="0" dirty="0"/>
              <a:t>/</a:t>
            </a:r>
            <a:r>
              <a:rPr lang="en-GB" noProof="0" dirty="0" err="1"/>
              <a:t>tapi-topology:topology</a:t>
            </a:r>
            <a:r>
              <a:rPr lang="en-GB" noProof="0" dirty="0"/>
              <a:t>/</a:t>
            </a:r>
            <a:r>
              <a:rPr lang="en-GB" noProof="0" dirty="0" err="1"/>
              <a:t>tapi-topology:node</a:t>
            </a:r>
            <a:r>
              <a:rPr lang="en-GB" noProof="0" dirty="0"/>
              <a:t>/</a:t>
            </a:r>
            <a:r>
              <a:rPr lang="en-GB" noProof="0" dirty="0" err="1"/>
              <a:t>tapi-topology:owned-node-edge-point</a:t>
            </a:r>
            <a:r>
              <a:rPr lang="en-GB" noProof="0" dirty="0"/>
              <a:t>/</a:t>
            </a:r>
            <a:r>
              <a:rPr lang="en-GB" noProof="0" dirty="0" err="1"/>
              <a:t>tapi-connectivity:cep-list</a:t>
            </a:r>
            <a:r>
              <a:rPr lang="en-GB" noProof="0" dirty="0"/>
              <a:t>/</a:t>
            </a:r>
            <a:r>
              <a:rPr lang="en-GB" noProof="0" dirty="0" err="1"/>
              <a:t>tapi-connectivity:connection-end-point</a:t>
            </a:r>
            <a:r>
              <a:rPr lang="en-GB" noProof="0" dirty="0"/>
              <a:t>/</a:t>
            </a:r>
            <a:r>
              <a:rPr lang="en-GB" noProof="0" dirty="0" err="1"/>
              <a:t>tapi-connectivity:uuid</a:t>
            </a:r>
            <a:r>
              <a:rPr lang="en-GB" noProof="0" dirty="0"/>
              <a:t>’;</a:t>
            </a:r>
          </a:p>
          <a:p>
            <a:pPr marL="914400" lvl="2" indent="0">
              <a:buNone/>
            </a:pPr>
            <a:r>
              <a:rPr lang="en-GB" dirty="0"/>
              <a:t>                </a:t>
            </a:r>
            <a:r>
              <a:rPr lang="en-GB" noProof="0" dirty="0">
                <a:solidFill>
                  <a:srgbClr val="FF0000"/>
                </a:solidFill>
              </a:rPr>
              <a:t>require-instance false;</a:t>
            </a:r>
          </a:p>
          <a:p>
            <a:pPr marL="914400" lvl="2" indent="0">
              <a:buNone/>
            </a:pPr>
            <a:r>
              <a:rPr lang="en-GB" noProof="0" dirty="0"/>
              <a:t>            }</a:t>
            </a:r>
          </a:p>
          <a:p>
            <a:pPr marL="914400" lvl="2" indent="0">
              <a:buNone/>
            </a:pPr>
            <a:r>
              <a:rPr lang="en-GB" noProof="0" dirty="0"/>
              <a:t>            description "none";</a:t>
            </a:r>
          </a:p>
          <a:p>
            <a:pPr marL="914400" lvl="2" indent="0">
              <a:buNone/>
            </a:pPr>
            <a:r>
              <a:rPr lang="en-GB" noProof="0" dirty="0"/>
              <a:t>        }</a:t>
            </a:r>
          </a:p>
          <a:p>
            <a:pPr marL="914400" lvl="2" indent="0">
              <a:buNone/>
            </a:pPr>
            <a:r>
              <a:rPr lang="en-GB" noProof="0" dirty="0"/>
              <a:t>        description "none";</a:t>
            </a:r>
          </a:p>
          <a:p>
            <a:pPr marL="914400" lvl="2" indent="0">
              <a:buNone/>
            </a:pPr>
            <a:r>
              <a:rPr lang="en-GB" noProof="0" dirty="0"/>
              <a:t>    }</a:t>
            </a:r>
          </a:p>
          <a:p>
            <a:pPr lvl="1"/>
            <a:r>
              <a:rPr lang="en-GB" noProof="0" dirty="0"/>
              <a:t>The results (as expected) was “no errors”</a:t>
            </a:r>
          </a:p>
          <a:p>
            <a:pPr lvl="1"/>
            <a:r>
              <a:rPr lang="en-GB" noProof="0" dirty="0"/>
              <a:t>Follow-on action:</a:t>
            </a:r>
          </a:p>
          <a:p>
            <a:pPr lvl="2"/>
            <a:r>
              <a:rPr lang="en-GB" noProof="0" dirty="0"/>
              <a:t>Review sample</a:t>
            </a:r>
          </a:p>
          <a:p>
            <a:pPr lvl="2"/>
            <a:r>
              <a:rPr lang="en-GB" noProof="0" dirty="0"/>
              <a:t>Complete work for all identified problems</a:t>
            </a:r>
          </a:p>
          <a:p>
            <a:pPr lvl="2"/>
            <a:r>
              <a:rPr lang="en-GB" noProof="0" dirty="0"/>
              <a:t>Review completed YANG</a:t>
            </a:r>
          </a:p>
          <a:p>
            <a:pPr lvl="2"/>
            <a:r>
              <a:rPr lang="en-GB" noProof="0" dirty="0"/>
              <a:t>Review TR-547 for any changes (suspect none but may be a YANG snippet in the document)</a:t>
            </a:r>
          </a:p>
          <a:p>
            <a:pPr lvl="2"/>
            <a:r>
              <a:rPr lang="en-GB" noProof="0" dirty="0"/>
              <a:t>Plan back propagation to 2.5 and 2.1.3</a:t>
            </a:r>
          </a:p>
          <a:p>
            <a:pPr lvl="2"/>
            <a:r>
              <a:rPr lang="en-GB" noProof="0" dirty="0"/>
              <a:t>Complete and review…</a:t>
            </a:r>
          </a:p>
          <a:p>
            <a:pPr lvl="2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35757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229C-7375-05A4-FFF2-C406C47A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candidate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8A2E8-0A3E-C077-A36F-D3B2D135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 of control plane using standard TAPI classes</a:t>
            </a:r>
          </a:p>
          <a:p>
            <a:pPr lvl="1"/>
            <a:r>
              <a:rPr lang="en-GB" dirty="0"/>
              <a:t>SNPP </a:t>
            </a:r>
            <a:r>
              <a:rPr lang="en-GB" dirty="0">
                <a:sym typeface="Wingdings" panose="05000000000000000000" pitchFamily="2" charset="2"/>
              </a:rPr>
              <a:t> NEP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SNP  CEP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Connection  Connection</a:t>
            </a:r>
          </a:p>
          <a:p>
            <a:pPr lvl="1"/>
            <a:r>
              <a:rPr lang="en-GB" dirty="0" err="1">
                <a:sym typeface="Wingdings" panose="05000000000000000000" pitchFamily="2" charset="2"/>
              </a:rPr>
              <a:t>SNPP_Link</a:t>
            </a:r>
            <a:r>
              <a:rPr lang="en-GB" dirty="0">
                <a:sym typeface="Wingdings" panose="05000000000000000000" pitchFamily="2" charset="2"/>
              </a:rPr>
              <a:t>  Link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Abstraction through new association such that control plane entities reference real entities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Works with TAPI path and path set</a:t>
            </a:r>
          </a:p>
          <a:p>
            <a:r>
              <a:rPr lang="en-GB" dirty="0">
                <a:sym typeface="Wingdings" panose="05000000000000000000" pitchFamily="2" charset="2"/>
              </a:rPr>
              <a:t>This may require more than one level of nesting of lower connection in top level connection… discuss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1509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95ED-282D-CFBE-537E-CC05B6A6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CE000-D819-4FA8-BA47-06B3584DA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322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8029-9C8A-1FFF-7429-82016A14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Streaming test plan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B55C8-C87B-D982-94C8-2DC70971E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noProof="0" dirty="0">
                <a:hlinkClick r:id="rId2" tooltip="onmi2025.ND.007_StreamingTestPlan-FirstDraft.docx"/>
              </a:rPr>
              <a:t>onmi2025.ND.007_StreamingTestPlan-FirstDraft.docx</a:t>
            </a:r>
            <a:endParaRPr lang="en-GB" u="sng" noProof="0" dirty="0"/>
          </a:p>
          <a:p>
            <a:endParaRPr lang="en-GB" u="sng" dirty="0"/>
          </a:p>
          <a:p>
            <a:r>
              <a:rPr lang="en-GB" dirty="0"/>
              <a:t>Deeper dive than last skim on today’s call</a:t>
            </a:r>
          </a:p>
          <a:p>
            <a:r>
              <a:rPr lang="en-GB" dirty="0"/>
              <a:t>Document available for assessment</a:t>
            </a:r>
          </a:p>
          <a:p>
            <a:r>
              <a:rPr lang="en-GB" noProof="0" dirty="0"/>
              <a:t>Comments in two weeks (20250916)</a:t>
            </a:r>
          </a:p>
        </p:txBody>
      </p:sp>
    </p:spTree>
    <p:extLst>
      <p:ext uri="{BB962C8B-B14F-4D97-AF65-F5344CB8AC3E}">
        <p14:creationId xmlns:p14="http://schemas.microsoft.com/office/powerpoint/2010/main" val="1783006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10903</TotalTime>
  <Words>680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Package</vt:lpstr>
      <vt:lpstr>TAPI Work progress</vt:lpstr>
      <vt:lpstr>Updates to 2.1.3 and 2.5.x</vt:lpstr>
      <vt:lpstr>Protobuf file to 2.5</vt:lpstr>
      <vt:lpstr>physical-route</vt:lpstr>
      <vt:lpstr>String restrictions</vt:lpstr>
      <vt:lpstr>Config false</vt:lpstr>
      <vt:lpstr>Additional candidate item</vt:lpstr>
      <vt:lpstr>PowerPoint Presentation</vt:lpstr>
      <vt:lpstr>Streaming test plan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Nigel</dc:creator>
  <cp:lastModifiedBy>Davis, Nigel</cp:lastModifiedBy>
  <cp:revision>4</cp:revision>
  <dcterms:created xsi:type="dcterms:W3CDTF">2025-09-02T09:15:52Z</dcterms:created>
  <dcterms:modified xsi:type="dcterms:W3CDTF">2025-09-09T22:59:13Z</dcterms:modified>
</cp:coreProperties>
</file>