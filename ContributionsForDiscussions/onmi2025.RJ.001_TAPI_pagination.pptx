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7" r:id="rId3"/>
    <p:sldId id="257" r:id="rId4"/>
    <p:sldId id="258" r:id="rId5"/>
    <p:sldId id="259" r:id="rId6"/>
    <p:sldId id="260" r:id="rId7"/>
    <p:sldId id="261" r:id="rId8"/>
    <p:sldId id="262" r:id="rId9"/>
    <p:sldId id="264" r:id="rId10"/>
    <p:sldId id="263"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74C3F4-BC3B-4CA2-90B8-EE07CE595186}" v="4" dt="2025-09-05T05:27:51.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ce, Roshan" userId="42de0764-d99f-4bc9-bb91-484b45138fac" providerId="ADAL" clId="{74400332-FE63-4A0D-A7A3-62625B950B2E}"/>
    <pc:docChg chg="undo custSel addSld modSld">
      <pc:chgData name="Joyce, Roshan" userId="42de0764-d99f-4bc9-bb91-484b45138fac" providerId="ADAL" clId="{74400332-FE63-4A0D-A7A3-62625B950B2E}" dt="2025-09-05T05:40:04.180" v="1119" actId="20577"/>
      <pc:docMkLst>
        <pc:docMk/>
      </pc:docMkLst>
      <pc:sldChg chg="modSp mod">
        <pc:chgData name="Joyce, Roshan" userId="42de0764-d99f-4bc9-bb91-484b45138fac" providerId="ADAL" clId="{74400332-FE63-4A0D-A7A3-62625B950B2E}" dt="2025-09-05T04:30:54.317" v="70" actId="20577"/>
        <pc:sldMkLst>
          <pc:docMk/>
          <pc:sldMk cId="192232846" sldId="258"/>
        </pc:sldMkLst>
        <pc:spChg chg="mod">
          <ac:chgData name="Joyce, Roshan" userId="42de0764-d99f-4bc9-bb91-484b45138fac" providerId="ADAL" clId="{74400332-FE63-4A0D-A7A3-62625B950B2E}" dt="2025-09-05T04:30:54.317" v="70" actId="20577"/>
          <ac:spMkLst>
            <pc:docMk/>
            <pc:sldMk cId="192232846" sldId="258"/>
            <ac:spMk id="3" creationId="{849DC6AD-4BFC-74F2-D2F7-22BA4D20B2FF}"/>
          </ac:spMkLst>
        </pc:spChg>
      </pc:sldChg>
      <pc:sldChg chg="modSp mod">
        <pc:chgData name="Joyce, Roshan" userId="42de0764-d99f-4bc9-bb91-484b45138fac" providerId="ADAL" clId="{74400332-FE63-4A0D-A7A3-62625B950B2E}" dt="2025-09-05T04:31:05.717" v="72" actId="6549"/>
        <pc:sldMkLst>
          <pc:docMk/>
          <pc:sldMk cId="3089786521" sldId="259"/>
        </pc:sldMkLst>
        <pc:spChg chg="mod">
          <ac:chgData name="Joyce, Roshan" userId="42de0764-d99f-4bc9-bb91-484b45138fac" providerId="ADAL" clId="{74400332-FE63-4A0D-A7A3-62625B950B2E}" dt="2025-09-05T04:31:05.717" v="72" actId="6549"/>
          <ac:spMkLst>
            <pc:docMk/>
            <pc:sldMk cId="3089786521" sldId="259"/>
            <ac:spMk id="3" creationId="{77B83657-832E-6DFA-C80A-172A65B68574}"/>
          </ac:spMkLst>
        </pc:spChg>
      </pc:sldChg>
      <pc:sldChg chg="modSp mod">
        <pc:chgData name="Joyce, Roshan" userId="42de0764-d99f-4bc9-bb91-484b45138fac" providerId="ADAL" clId="{74400332-FE63-4A0D-A7A3-62625B950B2E}" dt="2025-09-05T04:39:14.366" v="267" actId="20577"/>
        <pc:sldMkLst>
          <pc:docMk/>
          <pc:sldMk cId="4066502114" sldId="260"/>
        </pc:sldMkLst>
        <pc:spChg chg="mod">
          <ac:chgData name="Joyce, Roshan" userId="42de0764-d99f-4bc9-bb91-484b45138fac" providerId="ADAL" clId="{74400332-FE63-4A0D-A7A3-62625B950B2E}" dt="2025-09-05T04:39:14.366" v="267" actId="20577"/>
          <ac:spMkLst>
            <pc:docMk/>
            <pc:sldMk cId="4066502114" sldId="260"/>
            <ac:spMk id="7" creationId="{023F5A55-2978-7F42-2D86-9F1D800A6810}"/>
          </ac:spMkLst>
        </pc:spChg>
      </pc:sldChg>
      <pc:sldChg chg="modSp mod">
        <pc:chgData name="Joyce, Roshan" userId="42de0764-d99f-4bc9-bb91-484b45138fac" providerId="ADAL" clId="{74400332-FE63-4A0D-A7A3-62625B950B2E}" dt="2025-09-05T05:20:42.364" v="529" actId="207"/>
        <pc:sldMkLst>
          <pc:docMk/>
          <pc:sldMk cId="1716680131" sldId="261"/>
        </pc:sldMkLst>
        <pc:spChg chg="mod">
          <ac:chgData name="Joyce, Roshan" userId="42de0764-d99f-4bc9-bb91-484b45138fac" providerId="ADAL" clId="{74400332-FE63-4A0D-A7A3-62625B950B2E}" dt="2025-09-05T05:20:42.364" v="529" actId="207"/>
          <ac:spMkLst>
            <pc:docMk/>
            <pc:sldMk cId="1716680131" sldId="261"/>
            <ac:spMk id="7" creationId="{B5A83F82-CBA9-3A59-63CD-C5E71186CED5}"/>
          </ac:spMkLst>
        </pc:spChg>
      </pc:sldChg>
      <pc:sldChg chg="modSp mod">
        <pc:chgData name="Joyce, Roshan" userId="42de0764-d99f-4bc9-bb91-484b45138fac" providerId="ADAL" clId="{74400332-FE63-4A0D-A7A3-62625B950B2E}" dt="2025-09-05T05:21:05.802" v="530" actId="207"/>
        <pc:sldMkLst>
          <pc:docMk/>
          <pc:sldMk cId="540966827" sldId="262"/>
        </pc:sldMkLst>
        <pc:spChg chg="mod">
          <ac:chgData name="Joyce, Roshan" userId="42de0764-d99f-4bc9-bb91-484b45138fac" providerId="ADAL" clId="{74400332-FE63-4A0D-A7A3-62625B950B2E}" dt="2025-09-05T05:21:05.802" v="530" actId="207"/>
          <ac:spMkLst>
            <pc:docMk/>
            <pc:sldMk cId="540966827" sldId="262"/>
            <ac:spMk id="7" creationId="{00DD6746-C984-18D8-897C-BC64755694C3}"/>
          </ac:spMkLst>
        </pc:spChg>
      </pc:sldChg>
      <pc:sldChg chg="modSp mod">
        <pc:chgData name="Joyce, Roshan" userId="42de0764-d99f-4bc9-bb91-484b45138fac" providerId="ADAL" clId="{74400332-FE63-4A0D-A7A3-62625B950B2E}" dt="2025-09-05T05:14:10.005" v="370" actId="1076"/>
        <pc:sldMkLst>
          <pc:docMk/>
          <pc:sldMk cId="3979824641" sldId="263"/>
        </pc:sldMkLst>
        <pc:spChg chg="mod">
          <ac:chgData name="Joyce, Roshan" userId="42de0764-d99f-4bc9-bb91-484b45138fac" providerId="ADAL" clId="{74400332-FE63-4A0D-A7A3-62625B950B2E}" dt="2025-09-05T05:14:03.664" v="369" actId="207"/>
          <ac:spMkLst>
            <pc:docMk/>
            <pc:sldMk cId="3979824641" sldId="263"/>
            <ac:spMk id="7" creationId="{5ABFAAAF-6C02-9949-1454-3A5DD0E9419A}"/>
          </ac:spMkLst>
        </pc:spChg>
        <pc:graphicFrameChg chg="mod modGraphic">
          <ac:chgData name="Joyce, Roshan" userId="42de0764-d99f-4bc9-bb91-484b45138fac" providerId="ADAL" clId="{74400332-FE63-4A0D-A7A3-62625B950B2E}" dt="2025-09-05T05:14:10.005" v="370" actId="1076"/>
          <ac:graphicFrameMkLst>
            <pc:docMk/>
            <pc:sldMk cId="3979824641" sldId="263"/>
            <ac:graphicFrameMk id="2" creationId="{C971963A-C1C8-352C-46E8-CDA9E814CBAB}"/>
          </ac:graphicFrameMkLst>
        </pc:graphicFrameChg>
      </pc:sldChg>
      <pc:sldChg chg="modSp mod">
        <pc:chgData name="Joyce, Roshan" userId="42de0764-d99f-4bc9-bb91-484b45138fac" providerId="ADAL" clId="{74400332-FE63-4A0D-A7A3-62625B950B2E}" dt="2025-09-05T05:18:58.577" v="526" actId="207"/>
        <pc:sldMkLst>
          <pc:docMk/>
          <pc:sldMk cId="1371929055" sldId="264"/>
        </pc:sldMkLst>
        <pc:spChg chg="mod">
          <ac:chgData name="Joyce, Roshan" userId="42de0764-d99f-4bc9-bb91-484b45138fac" providerId="ADAL" clId="{74400332-FE63-4A0D-A7A3-62625B950B2E}" dt="2025-09-05T05:18:58.577" v="526" actId="207"/>
          <ac:spMkLst>
            <pc:docMk/>
            <pc:sldMk cId="1371929055" sldId="264"/>
            <ac:spMk id="7" creationId="{B737F65F-4F0C-6E29-4A61-4B0FF6FA9ECB}"/>
          </ac:spMkLst>
        </pc:spChg>
      </pc:sldChg>
      <pc:sldChg chg="modSp mod">
        <pc:chgData name="Joyce, Roshan" userId="42de0764-d99f-4bc9-bb91-484b45138fac" providerId="ADAL" clId="{74400332-FE63-4A0D-A7A3-62625B950B2E}" dt="2025-09-05T05:40:04.180" v="1119" actId="20577"/>
        <pc:sldMkLst>
          <pc:docMk/>
          <pc:sldMk cId="2509089082" sldId="265"/>
        </pc:sldMkLst>
        <pc:spChg chg="mod">
          <ac:chgData name="Joyce, Roshan" userId="42de0764-d99f-4bc9-bb91-484b45138fac" providerId="ADAL" clId="{74400332-FE63-4A0D-A7A3-62625B950B2E}" dt="2025-09-05T05:40:04.180" v="1119" actId="20577"/>
          <ac:spMkLst>
            <pc:docMk/>
            <pc:sldMk cId="2509089082" sldId="265"/>
            <ac:spMk id="5" creationId="{663CBF98-C8AD-BF00-D0CE-5996E8506243}"/>
          </ac:spMkLst>
        </pc:spChg>
      </pc:sldChg>
      <pc:sldChg chg="modSp new mod">
        <pc:chgData name="Joyce, Roshan" userId="42de0764-d99f-4bc9-bb91-484b45138fac" providerId="ADAL" clId="{74400332-FE63-4A0D-A7A3-62625B950B2E}" dt="2025-09-05T05:28:05.781" v="790" actId="20577"/>
        <pc:sldMkLst>
          <pc:docMk/>
          <pc:sldMk cId="1621974605" sldId="266"/>
        </pc:sldMkLst>
        <pc:spChg chg="mod">
          <ac:chgData name="Joyce, Roshan" userId="42de0764-d99f-4bc9-bb91-484b45138fac" providerId="ADAL" clId="{74400332-FE63-4A0D-A7A3-62625B950B2E}" dt="2025-09-05T05:27:14.372" v="748" actId="20577"/>
          <ac:spMkLst>
            <pc:docMk/>
            <pc:sldMk cId="1621974605" sldId="266"/>
            <ac:spMk id="2" creationId="{7612A028-2385-AFB2-7DD7-1DA1E98F4B03}"/>
          </ac:spMkLst>
        </pc:spChg>
        <pc:spChg chg="mod">
          <ac:chgData name="Joyce, Roshan" userId="42de0764-d99f-4bc9-bb91-484b45138fac" providerId="ADAL" clId="{74400332-FE63-4A0D-A7A3-62625B950B2E}" dt="2025-09-05T05:28:05.781" v="790" actId="20577"/>
          <ac:spMkLst>
            <pc:docMk/>
            <pc:sldMk cId="1621974605" sldId="266"/>
            <ac:spMk id="3" creationId="{B83DEA2B-CE68-CCE3-E304-5B6ADC319EA5}"/>
          </ac:spMkLst>
        </pc:spChg>
      </pc:sldChg>
      <pc:sldChg chg="modSp new mod">
        <pc:chgData name="Joyce, Roshan" userId="42de0764-d99f-4bc9-bb91-484b45138fac" providerId="ADAL" clId="{74400332-FE63-4A0D-A7A3-62625B950B2E}" dt="2025-09-05T05:32:11.496" v="1031" actId="20577"/>
        <pc:sldMkLst>
          <pc:docMk/>
          <pc:sldMk cId="3799550066" sldId="267"/>
        </pc:sldMkLst>
        <pc:spChg chg="mod">
          <ac:chgData name="Joyce, Roshan" userId="42de0764-d99f-4bc9-bb91-484b45138fac" providerId="ADAL" clId="{74400332-FE63-4A0D-A7A3-62625B950B2E}" dt="2025-09-05T05:30:02.524" v="1014" actId="20577"/>
          <ac:spMkLst>
            <pc:docMk/>
            <pc:sldMk cId="3799550066" sldId="267"/>
            <ac:spMk id="2" creationId="{EE9D3F0C-7FD1-DBCD-3BC8-87EAFA4C2DFF}"/>
          </ac:spMkLst>
        </pc:spChg>
        <pc:spChg chg="mod">
          <ac:chgData name="Joyce, Roshan" userId="42de0764-d99f-4bc9-bb91-484b45138fac" providerId="ADAL" clId="{74400332-FE63-4A0D-A7A3-62625B950B2E}" dt="2025-09-05T05:32:11.496" v="1031" actId="20577"/>
          <ac:spMkLst>
            <pc:docMk/>
            <pc:sldMk cId="3799550066" sldId="267"/>
            <ac:spMk id="3" creationId="{961E169C-A5E9-25B6-466A-D7EE05D6F91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5411-F38C-BF1E-35B4-14BE56D0F0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001F30-BD5E-966C-914B-CE343EC29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EAE4E4-D03F-77A2-5CA8-8AECECF519A6}"/>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5" name="Footer Placeholder 4">
            <a:extLst>
              <a:ext uri="{FF2B5EF4-FFF2-40B4-BE49-F238E27FC236}">
                <a16:creationId xmlns:a16="http://schemas.microsoft.com/office/drawing/2014/main" id="{F84FC3E9-FB55-BABA-5A68-473C4EAD0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43818C-3654-AF78-1A6E-C66F829E99EF}"/>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2285307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B26F5-E46E-EC7C-AF6E-99408141F4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7B14DA-698F-E120-5A5E-163AC27B1C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973771-C1CE-4A06-F0CA-66F581187AD5}"/>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5" name="Footer Placeholder 4">
            <a:extLst>
              <a:ext uri="{FF2B5EF4-FFF2-40B4-BE49-F238E27FC236}">
                <a16:creationId xmlns:a16="http://schemas.microsoft.com/office/drawing/2014/main" id="{1E1BB459-9D9E-EC24-0AF9-DD7EE3E832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097CE7-1CAB-8DF7-2352-E1B02D0562B3}"/>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501653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37A08-FBD7-D96B-E5A1-93793EAB3C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B6DDD8-02A9-47AE-640F-12AC4E88FE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2E9310-E177-92EC-C793-DF290D153F3F}"/>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5" name="Footer Placeholder 4">
            <a:extLst>
              <a:ext uri="{FF2B5EF4-FFF2-40B4-BE49-F238E27FC236}">
                <a16:creationId xmlns:a16="http://schemas.microsoft.com/office/drawing/2014/main" id="{7C9BEA92-CD0E-749F-41E1-062D01D0D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0B5F9-7EBB-A8F0-F901-8DC0BBF6EA4B}"/>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272877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8E24-E56B-304A-156A-8C69F9C48E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D4DE19-9CAC-1039-7B0D-040F2BFB0E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18ED9C-15C0-BDF3-FE4D-3262D80117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03783B-DD24-5E16-2AA8-0BCC5645B65E}"/>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6" name="Footer Placeholder 5">
            <a:extLst>
              <a:ext uri="{FF2B5EF4-FFF2-40B4-BE49-F238E27FC236}">
                <a16:creationId xmlns:a16="http://schemas.microsoft.com/office/drawing/2014/main" id="{FF6453A6-7542-289C-AD43-D8682FD693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234FB6-C284-F7C0-098F-4FD1ADAE6869}"/>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1711638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FD4BB-7D52-CB35-B774-CDEA8D0F64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BA7D79-B25F-6FCA-1847-0FD5F4911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F8EAC8-FA51-F087-AE81-DDEA87697A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E32CB9-0735-994A-AF0C-7955E92E60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502180-D649-8E0B-8BED-99C13E60B2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3B1499-9C0E-334B-9A02-722F1406B42F}"/>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8" name="Footer Placeholder 7">
            <a:extLst>
              <a:ext uri="{FF2B5EF4-FFF2-40B4-BE49-F238E27FC236}">
                <a16:creationId xmlns:a16="http://schemas.microsoft.com/office/drawing/2014/main" id="{47B82CE4-1323-4637-B7B7-0FCF656A28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16882C-5FC9-D4BD-9F4E-ADEA82BB03CE}"/>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318661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2ECC2-6FE2-43DA-BCC0-B35D10605D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C5685A-7230-E236-7865-6F57526CF0CE}"/>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4" name="Footer Placeholder 3">
            <a:extLst>
              <a:ext uri="{FF2B5EF4-FFF2-40B4-BE49-F238E27FC236}">
                <a16:creationId xmlns:a16="http://schemas.microsoft.com/office/drawing/2014/main" id="{E08D0531-A420-02E8-819E-8B906D64C7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9DEAD8-4A50-2E72-59EC-F0AEB2F5622C}"/>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723209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873430-EC53-D411-01E6-01A2E13D1018}"/>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3" name="Footer Placeholder 2">
            <a:extLst>
              <a:ext uri="{FF2B5EF4-FFF2-40B4-BE49-F238E27FC236}">
                <a16:creationId xmlns:a16="http://schemas.microsoft.com/office/drawing/2014/main" id="{33E9E9D4-2310-0624-E9FC-66F99FF6CC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6E88B7-7B5A-7084-EECC-1530E47335A6}"/>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3154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F3A3-CF40-F460-CF41-19B2846DF7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C4D283-1075-FDBB-32BA-159CA76987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580E77-E4BA-9E7F-12EF-79752DBE17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188F93-778B-EF90-78DD-61A9FDF9BD8D}"/>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6" name="Footer Placeholder 5">
            <a:extLst>
              <a:ext uri="{FF2B5EF4-FFF2-40B4-BE49-F238E27FC236}">
                <a16:creationId xmlns:a16="http://schemas.microsoft.com/office/drawing/2014/main" id="{083BED8F-506A-7DBA-5B5F-AD66725357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D51AB7-59F0-E866-EB7C-6ABCD55A212B}"/>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2010489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8BCB-AA92-70F4-BC24-CDBD3CE8E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B79696-5491-624E-ABD4-8965038408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DDB019-241D-1435-33D9-2B54AEFB3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2AE72D-6D24-3BDD-B69C-794A795FF9B0}"/>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6" name="Footer Placeholder 5">
            <a:extLst>
              <a:ext uri="{FF2B5EF4-FFF2-40B4-BE49-F238E27FC236}">
                <a16:creationId xmlns:a16="http://schemas.microsoft.com/office/drawing/2014/main" id="{9D2453AC-596D-058F-27CC-C248762DF7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4B7412-66F7-0396-A3EB-09C34311E975}"/>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3416983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DB99E-C47A-354D-773B-DFC6F1AB6B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0AE66-BD4C-C032-4ADC-ABE75DE317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866CB8-195F-5228-BD8F-CBB9679E0B7F}"/>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5" name="Footer Placeholder 4">
            <a:extLst>
              <a:ext uri="{FF2B5EF4-FFF2-40B4-BE49-F238E27FC236}">
                <a16:creationId xmlns:a16="http://schemas.microsoft.com/office/drawing/2014/main" id="{F3F69F45-00A1-8C2A-CBE7-5AACE1D6DE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72AAAE-D2E9-B518-BC0A-0DFC925D14BF}"/>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1949995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323315-F346-C230-E69F-6D4EBDF9A4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ECB1DF-2B53-292C-BBD2-FA7F227591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DB29B4-AEB3-F40B-422A-2FA8EAD5C960}"/>
              </a:ext>
            </a:extLst>
          </p:cNvPr>
          <p:cNvSpPr>
            <a:spLocks noGrp="1"/>
          </p:cNvSpPr>
          <p:nvPr>
            <p:ph type="dt" sz="half" idx="10"/>
          </p:nvPr>
        </p:nvSpPr>
        <p:spPr/>
        <p:txBody>
          <a:bodyPr/>
          <a:lstStyle/>
          <a:p>
            <a:fld id="{5883561D-CDEE-4999-8D5E-F0410B5BEC0B}" type="datetimeFigureOut">
              <a:rPr lang="en-US" smtClean="0"/>
              <a:t>9/5/2025</a:t>
            </a:fld>
            <a:endParaRPr lang="en-US"/>
          </a:p>
        </p:txBody>
      </p:sp>
      <p:sp>
        <p:nvSpPr>
          <p:cNvPr id="5" name="Footer Placeholder 4">
            <a:extLst>
              <a:ext uri="{FF2B5EF4-FFF2-40B4-BE49-F238E27FC236}">
                <a16:creationId xmlns:a16="http://schemas.microsoft.com/office/drawing/2014/main" id="{63BE6275-69EF-7701-DC50-52AAF8AF0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E0255-C9E8-01F9-AEF8-8553681B493D}"/>
              </a:ext>
            </a:extLst>
          </p:cNvPr>
          <p:cNvSpPr>
            <a:spLocks noGrp="1"/>
          </p:cNvSpPr>
          <p:nvPr>
            <p:ph type="sldNum" sz="quarter" idx="12"/>
          </p:nvPr>
        </p:nvSpPr>
        <p:spPr/>
        <p:txBody>
          <a:bodyPr/>
          <a:lstStyle/>
          <a:p>
            <a:fld id="{58851D37-E9C4-4AD2-BD3B-0952BEF08AA0}" type="slidenum">
              <a:rPr lang="en-US" smtClean="0"/>
              <a:t>‹#›</a:t>
            </a:fld>
            <a:endParaRPr lang="en-US"/>
          </a:p>
        </p:txBody>
      </p:sp>
    </p:spTree>
    <p:extLst>
      <p:ext uri="{BB962C8B-B14F-4D97-AF65-F5344CB8AC3E}">
        <p14:creationId xmlns:p14="http://schemas.microsoft.com/office/powerpoint/2010/main" val="1389455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4E86DD-DB1D-92A1-F29B-AC3C5026B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5648C6-FAFF-8063-4DBE-C2B6F156D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B3A45-CE19-8E65-F15E-E1548B8C66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83561D-CDEE-4999-8D5E-F0410B5BEC0B}" type="datetimeFigureOut">
              <a:rPr lang="en-US" smtClean="0"/>
              <a:t>9/5/2025</a:t>
            </a:fld>
            <a:endParaRPr lang="en-US"/>
          </a:p>
        </p:txBody>
      </p:sp>
      <p:sp>
        <p:nvSpPr>
          <p:cNvPr id="5" name="Footer Placeholder 4">
            <a:extLst>
              <a:ext uri="{FF2B5EF4-FFF2-40B4-BE49-F238E27FC236}">
                <a16:creationId xmlns:a16="http://schemas.microsoft.com/office/drawing/2014/main" id="{CD267C2F-F2E0-1097-414F-63F8AA5B78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DA5B8C-6CC6-E76B-A930-12E236D5FB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851D37-E9C4-4AD2-BD3B-0952BEF08AA0}" type="slidenum">
              <a:rPr lang="en-US" smtClean="0"/>
              <a:t>‹#›</a:t>
            </a:fld>
            <a:endParaRPr lang="en-US"/>
          </a:p>
        </p:txBody>
      </p:sp>
    </p:spTree>
    <p:extLst>
      <p:ext uri="{BB962C8B-B14F-4D97-AF65-F5344CB8AC3E}">
        <p14:creationId xmlns:p14="http://schemas.microsoft.com/office/powerpoint/2010/main" val="1895901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Open-Network-Models-and-Interfaces-ONMI/TAPI/issues/651"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atatracker.ietf.org/doc/draft-ietf-netconf-list-pagination/"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datatracker.ietf.org/doc/draft-ietf-netconf-list-pagination-rc/" TargetMode="External"/><Relationship Id="rId2" Type="http://schemas.openxmlformats.org/officeDocument/2006/relationships/hyperlink" Target="https://datatracker.ietf.org/doc/draft-ietf-netconf-list-pagination/" TargetMode="Externa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hyperlink" Target="https://datatracker.ietf.org/doc/draft-ietf-netconf-list-pagination-rc/" TargetMode="External"/><Relationship Id="rId2" Type="http://schemas.openxmlformats.org/officeDocument/2006/relationships/hyperlink" Target="https://datatracker.ietf.org/doc/draft-ietf-netconf-list-pagination/" TargetMode="Externa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datatracker.ietf.org/doc/draft-ietf-netconf-list-pagination/"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2A028-2385-AFB2-7DD7-1DA1E98F4B03}"/>
              </a:ext>
            </a:extLst>
          </p:cNvPr>
          <p:cNvSpPr>
            <a:spLocks noGrp="1"/>
          </p:cNvSpPr>
          <p:nvPr>
            <p:ph type="ctrTitle"/>
          </p:nvPr>
        </p:nvSpPr>
        <p:spPr/>
        <p:txBody>
          <a:bodyPr/>
          <a:lstStyle/>
          <a:p>
            <a:r>
              <a:rPr lang="en-US" dirty="0"/>
              <a:t>Pagination Support in TR547</a:t>
            </a:r>
          </a:p>
        </p:txBody>
      </p:sp>
      <p:sp>
        <p:nvSpPr>
          <p:cNvPr id="3" name="Subtitle 2">
            <a:extLst>
              <a:ext uri="{FF2B5EF4-FFF2-40B4-BE49-F238E27FC236}">
                <a16:creationId xmlns:a16="http://schemas.microsoft.com/office/drawing/2014/main" id="{B83DEA2B-CE68-CCE3-E304-5B6ADC319EA5}"/>
              </a:ext>
            </a:extLst>
          </p:cNvPr>
          <p:cNvSpPr>
            <a:spLocks noGrp="1"/>
          </p:cNvSpPr>
          <p:nvPr>
            <p:ph type="subTitle" idx="1"/>
          </p:nvPr>
        </p:nvSpPr>
        <p:spPr/>
        <p:txBody>
          <a:bodyPr/>
          <a:lstStyle/>
          <a:p>
            <a:r>
              <a:rPr lang="en-US" dirty="0"/>
              <a:t>Analysis on </a:t>
            </a:r>
            <a:r>
              <a:rPr lang="en-US" dirty="0">
                <a:hlinkClick r:id="rId2"/>
              </a:rPr>
              <a:t>Issue-651</a:t>
            </a:r>
            <a:endParaRPr lang="en-US" dirty="0"/>
          </a:p>
          <a:p>
            <a:r>
              <a:rPr lang="en-US" dirty="0"/>
              <a:t>ROSHAN JOYCE</a:t>
            </a:r>
          </a:p>
        </p:txBody>
      </p:sp>
    </p:spTree>
    <p:extLst>
      <p:ext uri="{BB962C8B-B14F-4D97-AF65-F5344CB8AC3E}">
        <p14:creationId xmlns:p14="http://schemas.microsoft.com/office/powerpoint/2010/main" val="1621974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D3F0C-7FD1-DBCD-3BC8-87EAFA4C2DFF}"/>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961E169C-A5E9-25B6-466A-D7EE05D6F919}"/>
              </a:ext>
            </a:extLst>
          </p:cNvPr>
          <p:cNvSpPr>
            <a:spLocks noGrp="1"/>
          </p:cNvSpPr>
          <p:nvPr>
            <p:ph idx="1"/>
          </p:nvPr>
        </p:nvSpPr>
        <p:spPr/>
        <p:txBody>
          <a:bodyPr/>
          <a:lstStyle/>
          <a:p>
            <a:r>
              <a:rPr lang="en-US" dirty="0"/>
              <a:t>Current recommendation in TR547 for retrieving list of objects</a:t>
            </a:r>
          </a:p>
          <a:p>
            <a:r>
              <a:rPr lang="en-US" dirty="0"/>
              <a:t>Problems and solutions in TR548</a:t>
            </a:r>
          </a:p>
          <a:p>
            <a:r>
              <a:rPr lang="en-US" dirty="0"/>
              <a:t>Pagination as per recent IETF drafts</a:t>
            </a:r>
          </a:p>
          <a:p>
            <a:r>
              <a:rPr lang="en-US" dirty="0"/>
              <a:t>Applying this to TAPI</a:t>
            </a:r>
          </a:p>
        </p:txBody>
      </p:sp>
    </p:spTree>
    <p:extLst>
      <p:ext uri="{BB962C8B-B14F-4D97-AF65-F5344CB8AC3E}">
        <p14:creationId xmlns:p14="http://schemas.microsoft.com/office/powerpoint/2010/main" val="3799550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60F812-21A3-11CC-135F-E504F221EA21}"/>
              </a:ext>
            </a:extLst>
          </p:cNvPr>
          <p:cNvSpPr>
            <a:spLocks noGrp="1"/>
          </p:cNvSpPr>
          <p:nvPr>
            <p:ph idx="1"/>
          </p:nvPr>
        </p:nvSpPr>
        <p:spPr>
          <a:xfrm>
            <a:off x="838200" y="1035050"/>
            <a:ext cx="10515600" cy="5141913"/>
          </a:xfrm>
        </p:spPr>
        <p:txBody>
          <a:bodyPr>
            <a:normAutofit/>
          </a:bodyPr>
          <a:lstStyle/>
          <a:p>
            <a:r>
              <a:rPr lang="en-US" sz="2000" dirty="0"/>
              <a:t>Get the list of identifiers (uuid or local-id) of the elements in the list</a:t>
            </a:r>
          </a:p>
          <a:p>
            <a:r>
              <a:rPr lang="en-US" sz="2000" dirty="0"/>
              <a:t>Get each element using its identifier</a:t>
            </a:r>
          </a:p>
          <a:p>
            <a:r>
              <a:rPr lang="en-US" sz="2000" dirty="0"/>
              <a:t>TR547 defines uses cases for such retrievals for the following lists and marks these as mandatory:</a:t>
            </a:r>
          </a:p>
        </p:txBody>
      </p:sp>
      <p:sp>
        <p:nvSpPr>
          <p:cNvPr id="4" name="Title 3">
            <a:extLst>
              <a:ext uri="{FF2B5EF4-FFF2-40B4-BE49-F238E27FC236}">
                <a16:creationId xmlns:a16="http://schemas.microsoft.com/office/drawing/2014/main" id="{1C1E0326-3872-F25E-8E1C-C5B5B03A1524}"/>
              </a:ext>
            </a:extLst>
          </p:cNvPr>
          <p:cNvSpPr>
            <a:spLocks noGrp="1"/>
          </p:cNvSpPr>
          <p:nvPr>
            <p:ph type="title"/>
          </p:nvPr>
        </p:nvSpPr>
        <p:spPr>
          <a:xfrm>
            <a:off x="838200" y="365125"/>
            <a:ext cx="10515600" cy="593725"/>
          </a:xfrm>
        </p:spPr>
        <p:txBody>
          <a:bodyPr>
            <a:normAutofit/>
          </a:bodyPr>
          <a:lstStyle/>
          <a:p>
            <a:r>
              <a:rPr lang="en-US" sz="3200" dirty="0"/>
              <a:t>GET of lists of objects - current approach in TR547</a:t>
            </a:r>
          </a:p>
        </p:txBody>
      </p:sp>
      <p:graphicFrame>
        <p:nvGraphicFramePr>
          <p:cNvPr id="5" name="Table 4">
            <a:extLst>
              <a:ext uri="{FF2B5EF4-FFF2-40B4-BE49-F238E27FC236}">
                <a16:creationId xmlns:a16="http://schemas.microsoft.com/office/drawing/2014/main" id="{EB7D077A-1276-C12F-9DA7-E98DDBC17972}"/>
              </a:ext>
            </a:extLst>
          </p:cNvPr>
          <p:cNvGraphicFramePr>
            <a:graphicFrameLocks noGrp="1"/>
          </p:cNvGraphicFramePr>
          <p:nvPr>
            <p:extLst>
              <p:ext uri="{D42A27DB-BD31-4B8C-83A1-F6EECF244321}">
                <p14:modId xmlns:p14="http://schemas.microsoft.com/office/powerpoint/2010/main" val="1054861895"/>
              </p:ext>
            </p:extLst>
          </p:nvPr>
        </p:nvGraphicFramePr>
        <p:xfrm>
          <a:off x="1943100" y="2571750"/>
          <a:ext cx="8881278" cy="3605213"/>
        </p:xfrm>
        <a:graphic>
          <a:graphicData uri="http://schemas.openxmlformats.org/drawingml/2006/table">
            <a:tbl>
              <a:tblPr firstRow="1" firstCol="1" bandRow="1">
                <a:tableStyleId>{2D5ABB26-0587-4C30-8999-92F81FD0307C}</a:tableStyleId>
              </a:tblPr>
              <a:tblGrid>
                <a:gridCol w="6020840">
                  <a:extLst>
                    <a:ext uri="{9D8B030D-6E8A-4147-A177-3AD203B41FA5}">
                      <a16:colId xmlns:a16="http://schemas.microsoft.com/office/drawing/2014/main" val="1770450186"/>
                    </a:ext>
                  </a:extLst>
                </a:gridCol>
                <a:gridCol w="2114550">
                  <a:extLst>
                    <a:ext uri="{9D8B030D-6E8A-4147-A177-3AD203B41FA5}">
                      <a16:colId xmlns:a16="http://schemas.microsoft.com/office/drawing/2014/main" val="1004834748"/>
                    </a:ext>
                  </a:extLst>
                </a:gridCol>
                <a:gridCol w="745888">
                  <a:extLst>
                    <a:ext uri="{9D8B030D-6E8A-4147-A177-3AD203B41FA5}">
                      <a16:colId xmlns:a16="http://schemas.microsoft.com/office/drawing/2014/main" val="2516874630"/>
                    </a:ext>
                  </a:extLst>
                </a:gridCol>
              </a:tblGrid>
              <a:tr h="182880">
                <a:tc>
                  <a:txBody>
                    <a:bodyPr/>
                    <a:lstStyle/>
                    <a:p>
                      <a:pPr marL="0" marR="0" algn="just">
                        <a:lnSpc>
                          <a:spcPct val="115000"/>
                        </a:lnSpc>
                        <a:spcAft>
                          <a:spcPts val="800"/>
                        </a:spcAft>
                        <a:buNone/>
                      </a:pPr>
                      <a:r>
                        <a:rPr lang="en-US" sz="900" b="1" kern="0" dirty="0">
                          <a:solidFill>
                            <a:srgbClr val="147FD0"/>
                          </a:solidFill>
                          <a:effectLst/>
                          <a:latin typeface="Times New Roman" panose="02020603050405020304" pitchFamily="18" charset="0"/>
                          <a:cs typeface="Times New Roman" panose="02020603050405020304" pitchFamily="18" charset="0"/>
                        </a:rPr>
                        <a:t>API Entry</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b="1" kern="0" dirty="0">
                          <a:solidFill>
                            <a:srgbClr val="147FD0"/>
                          </a:solidFill>
                          <a:effectLst/>
                          <a:latin typeface="Times New Roman" panose="02020603050405020304" pitchFamily="18" charset="0"/>
                          <a:cs typeface="Times New Roman" panose="02020603050405020304" pitchFamily="18" charset="0"/>
                        </a:rPr>
                        <a:t>List involved in the GET</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b="1" kern="0">
                          <a:solidFill>
                            <a:srgbClr val="147FD0"/>
                          </a:solidFill>
                          <a:effectLst/>
                          <a:latin typeface="Times New Roman" panose="02020603050405020304" pitchFamily="18" charset="0"/>
                          <a:cs typeface="Times New Roman" panose="02020603050405020304" pitchFamily="18" charset="0"/>
                        </a:rPr>
                        <a:t>Use Case</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193607150"/>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a:t>
                      </a:r>
                      <a:r>
                        <a:rPr lang="en-US" sz="900" kern="0" dirty="0" err="1">
                          <a:solidFill>
                            <a:srgbClr val="000000"/>
                          </a:solidFill>
                          <a:effectLst/>
                          <a:latin typeface="Times New Roman" panose="02020603050405020304" pitchFamily="18" charset="0"/>
                          <a:cs typeface="Times New Roman" panose="02020603050405020304" pitchFamily="18" charset="0"/>
                        </a:rPr>
                        <a:t>tapi-common:context?fields</a:t>
                      </a:r>
                      <a:r>
                        <a:rPr lang="en-US" sz="900" kern="0" dirty="0">
                          <a:solidFill>
                            <a:srgbClr val="000000"/>
                          </a:solidFill>
                          <a:effectLst/>
                          <a:latin typeface="Times New Roman" panose="02020603050405020304" pitchFamily="18" charset="0"/>
                          <a:cs typeface="Times New Roman" panose="02020603050405020304" pitchFamily="18" charset="0"/>
                        </a:rPr>
                        <a:t>=service-interface-point(uuid)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SIP</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0a</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625835096"/>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tapi-topology:topology-context?fields</a:t>
                      </a:r>
                      <a:r>
                        <a:rPr lang="en-US" sz="900" kern="0" dirty="0">
                          <a:solidFill>
                            <a:srgbClr val="000000"/>
                          </a:solidFill>
                          <a:effectLst/>
                          <a:latin typeface="Times New Roman" panose="02020603050405020304" pitchFamily="18" charset="0"/>
                          <a:cs typeface="Times New Roman" panose="02020603050405020304" pitchFamily="18" charset="0"/>
                        </a:rPr>
                        <a:t>=topology(uuid)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Topology</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0b</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058614535"/>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tapi-topology:topology-context</a:t>
                      </a:r>
                      <a:r>
                        <a:rPr lang="en-US" sz="900" kern="0" dirty="0">
                          <a:solidFill>
                            <a:srgbClr val="000000"/>
                          </a:solidFill>
                          <a:effectLst/>
                          <a:latin typeface="Times New Roman" panose="02020603050405020304" pitchFamily="18" charset="0"/>
                          <a:cs typeface="Times New Roman" panose="02020603050405020304" pitchFamily="18" charset="0"/>
                        </a:rPr>
                        <a:t>/topology={uuid}?fields=node(uuid)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Node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0b</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967019964"/>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tapi-topology:topology-context</a:t>
                      </a:r>
                      <a:r>
                        <a:rPr lang="en-US" sz="900" kern="0" dirty="0">
                          <a:solidFill>
                            <a:srgbClr val="000000"/>
                          </a:solidFill>
                          <a:effectLst/>
                          <a:latin typeface="Times New Roman" panose="02020603050405020304" pitchFamily="18" charset="0"/>
                          <a:cs typeface="Times New Roman" panose="02020603050405020304" pitchFamily="18" charset="0"/>
                        </a:rPr>
                        <a:t>/topology={uuid}?fields=link(uuid)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Link</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UC 0b</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421769452"/>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tapi-topology:topology-context</a:t>
                      </a:r>
                      <a:r>
                        <a:rPr lang="en-US" sz="900" kern="0" dirty="0">
                          <a:solidFill>
                            <a:srgbClr val="000000"/>
                          </a:solidFill>
                          <a:effectLst/>
                          <a:latin typeface="Times New Roman" panose="02020603050405020304" pitchFamily="18" charset="0"/>
                          <a:cs typeface="Times New Roman" panose="02020603050405020304" pitchFamily="18" charset="0"/>
                        </a:rPr>
                        <a:t>/topology={uuid}/node={uuid}?fields=owned-node-edge-point(uuid)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NEP</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0b</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093771681"/>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tapi-connectivity:connectivity-context?fields</a:t>
                      </a:r>
                      <a:r>
                        <a:rPr lang="en-US" sz="900" kern="0" dirty="0">
                          <a:solidFill>
                            <a:srgbClr val="000000"/>
                          </a:solidFill>
                          <a:effectLst/>
                          <a:latin typeface="Times New Roman" panose="02020603050405020304" pitchFamily="18" charset="0"/>
                          <a:cs typeface="Times New Roman" panose="02020603050405020304" pitchFamily="18" charset="0"/>
                        </a:rPr>
                        <a:t>=connectivity-service(uuid)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Connectivity-service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0c</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333831666"/>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tapi-connectivity:connectivity-context?fields</a:t>
                      </a:r>
                      <a:r>
                        <a:rPr lang="en-US" sz="900" kern="0" dirty="0">
                          <a:solidFill>
                            <a:srgbClr val="000000"/>
                          </a:solidFill>
                          <a:effectLst/>
                          <a:latin typeface="Times New Roman" panose="02020603050405020304" pitchFamily="18" charset="0"/>
                          <a:cs typeface="Times New Roman" panose="02020603050405020304" pitchFamily="18" charset="0"/>
                        </a:rPr>
                        <a:t>=connection(uuid)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Connection</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0c </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963275070"/>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tapi-connectivity:connectivity-context</a:t>
                      </a:r>
                      <a:r>
                        <a:rPr lang="en-US" sz="900" kern="0" dirty="0">
                          <a:solidFill>
                            <a:srgbClr val="000000"/>
                          </a:solidFill>
                          <a:effectLst/>
                          <a:latin typeface="Times New Roman" panose="02020603050405020304" pitchFamily="18" charset="0"/>
                          <a:cs typeface="Times New Roman" panose="02020603050405020304" pitchFamily="18" charset="0"/>
                        </a:rPr>
                        <a:t>/connectivity-service={uuid}?fields=connection(connection-uuid)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Connections used by a given</a:t>
                      </a:r>
                      <a:br>
                        <a:rPr lang="en-US" sz="900" kern="0" dirty="0">
                          <a:solidFill>
                            <a:srgbClr val="000000"/>
                          </a:solidFill>
                          <a:effectLst/>
                          <a:latin typeface="Times New Roman" panose="02020603050405020304" pitchFamily="18" charset="0"/>
                          <a:cs typeface="Times New Roman" panose="02020603050405020304" pitchFamily="18" charset="0"/>
                        </a:rPr>
                      </a:br>
                      <a:r>
                        <a:rPr lang="en-US" sz="900" kern="0" dirty="0">
                          <a:solidFill>
                            <a:srgbClr val="000000"/>
                          </a:solidFill>
                          <a:effectLst/>
                          <a:latin typeface="Times New Roman" panose="02020603050405020304" pitchFamily="18" charset="0"/>
                          <a:cs typeface="Times New Roman" panose="02020603050405020304" pitchFamily="18" charset="0"/>
                        </a:rPr>
                        <a:t>connectivity-service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0c</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399116964"/>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tapi-equipment:physical-context?fields</a:t>
                      </a:r>
                      <a:r>
                        <a:rPr lang="en-US" sz="900" kern="0" dirty="0">
                          <a:solidFill>
                            <a:srgbClr val="000000"/>
                          </a:solidFill>
                          <a:effectLst/>
                          <a:latin typeface="Times New Roman" panose="02020603050405020304" pitchFamily="18" charset="0"/>
                          <a:cs typeface="Times New Roman" panose="02020603050405020304" pitchFamily="18" charset="0"/>
                        </a:rPr>
                        <a:t>=device(uuid) </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Device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4b</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277314104"/>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tapi-equipment:physical-context?fields</a:t>
                      </a:r>
                      <a:r>
                        <a:rPr lang="en-US" sz="900" kern="0" dirty="0">
                          <a:solidFill>
                            <a:srgbClr val="000000"/>
                          </a:solidFill>
                          <a:effectLst/>
                          <a:latin typeface="Times New Roman" panose="02020603050405020304" pitchFamily="18" charset="0"/>
                          <a:cs typeface="Times New Roman" panose="02020603050405020304" pitchFamily="18" charset="0"/>
                        </a:rPr>
                        <a:t>=physical-span(uuid) </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Physical-span</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4b</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519793800"/>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tapi-equipment:physical-context</a:t>
                      </a:r>
                      <a:r>
                        <a:rPr lang="en-US" sz="900" kern="0" dirty="0">
                          <a:solidFill>
                            <a:srgbClr val="000000"/>
                          </a:solidFill>
                          <a:effectLst/>
                          <a:latin typeface="Times New Roman" panose="02020603050405020304" pitchFamily="18" charset="0"/>
                          <a:cs typeface="Times New Roman" panose="02020603050405020304" pitchFamily="18" charset="0"/>
                        </a:rPr>
                        <a:t>/device={uuid}?fields=equipment(uuid) </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Equipment within a Device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4b</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713625091"/>
                  </a:ext>
                </a:extLst>
              </a:tr>
              <a:tr h="182880">
                <a:tc>
                  <a:txBody>
                    <a:bodyPr/>
                    <a:lstStyle/>
                    <a:p>
                      <a:pPr marL="0" marR="0" algn="just">
                        <a:lnSpc>
                          <a:spcPct val="115000"/>
                        </a:lnSpc>
                        <a:spcAft>
                          <a:spcPts val="800"/>
                        </a:spcAft>
                        <a:buNone/>
                      </a:pPr>
                      <a:r>
                        <a:rPr lang="en-US" sz="9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rPr>
                        <a:t>            NOTE: Similar API is missing now for retrieving list of access-port </a:t>
                      </a:r>
                      <a:r>
                        <a:rPr lang="en-US" sz="900" kern="100" dirty="0" err="1">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rPr>
                        <a:t>uuids</a:t>
                      </a:r>
                      <a:r>
                        <a:rPr lang="en-US" sz="9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rPr>
                        <a:t> from a device</a:t>
                      </a:r>
                    </a:p>
                  </a:txBody>
                  <a:tcPr marL="67602" marR="67602" marT="0" marB="0"/>
                </a:tc>
                <a:tc>
                  <a:txBody>
                    <a:bodyPr/>
                    <a:lstStyle/>
                    <a:p>
                      <a:pPr marL="0" marR="0" algn="l">
                        <a:lnSpc>
                          <a:spcPct val="115000"/>
                        </a:lnSpc>
                        <a:spcAft>
                          <a:spcPts val="800"/>
                        </a:spcAft>
                        <a:buNone/>
                      </a:pP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869887428"/>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a:t>
                      </a:r>
                      <a:r>
                        <a:rPr lang="en-US" sz="900" kern="0" dirty="0" err="1">
                          <a:solidFill>
                            <a:srgbClr val="000000"/>
                          </a:solidFill>
                          <a:effectLst/>
                          <a:latin typeface="Times New Roman" panose="02020603050405020304" pitchFamily="18" charset="0"/>
                          <a:cs typeface="Times New Roman" panose="02020603050405020304" pitchFamily="18" charset="0"/>
                        </a:rPr>
                        <a:t>tapi-common:context?fields</a:t>
                      </a:r>
                      <a:r>
                        <a:rPr lang="en-US" sz="900" kern="0" dirty="0">
                          <a:solidFill>
                            <a:srgbClr val="000000"/>
                          </a:solidFill>
                          <a:effectLst/>
                          <a:latin typeface="Times New Roman" panose="02020603050405020304" pitchFamily="18" charset="0"/>
                          <a:cs typeface="Times New Roman" panose="02020603050405020304" pitchFamily="18" charset="0"/>
                        </a:rPr>
                        <a:t>=profile(uuid)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Profile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UC17a</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944219510"/>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tapi-oam:oam-context?fields</a:t>
                      </a:r>
                      <a:r>
                        <a:rPr lang="en-US" sz="900" kern="0" dirty="0">
                          <a:solidFill>
                            <a:srgbClr val="000000"/>
                          </a:solidFill>
                          <a:effectLst/>
                          <a:latin typeface="Times New Roman" panose="02020603050405020304" pitchFamily="18" charset="0"/>
                          <a:cs typeface="Times New Roman" panose="02020603050405020304" pitchFamily="18" charset="0"/>
                        </a:rPr>
                        <a:t>=oam-service(uuid)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Oam-service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 17a</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255261508"/>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tapi-oam:oam-context?fields</a:t>
                      </a:r>
                      <a:r>
                        <a:rPr lang="en-US" sz="900" kern="0" dirty="0">
                          <a:solidFill>
                            <a:srgbClr val="000000"/>
                          </a:solidFill>
                          <a:effectLst/>
                          <a:latin typeface="Times New Roman" panose="02020603050405020304" pitchFamily="18" charset="0"/>
                          <a:cs typeface="Times New Roman" panose="02020603050405020304" pitchFamily="18" charset="0"/>
                        </a:rPr>
                        <a:t>=oam-job(uuid)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Oam-job</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UC17a</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574216071"/>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tapi-oam:oam-context?fields</a:t>
                      </a:r>
                      <a:r>
                        <a:rPr lang="en-US" sz="900" kern="0" dirty="0">
                          <a:solidFill>
                            <a:srgbClr val="000000"/>
                          </a:solidFill>
                          <a:effectLst/>
                          <a:latin typeface="Times New Roman" panose="02020603050405020304" pitchFamily="18" charset="0"/>
                          <a:cs typeface="Times New Roman" panose="02020603050405020304" pitchFamily="18" charset="0"/>
                        </a:rPr>
                        <a:t>=meg(uuid)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MEG</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UC17a</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4113842878"/>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a:t>
                      </a:r>
                      <a:r>
                        <a:rPr lang="en-US" sz="900" kern="0" dirty="0">
                          <a:solidFill>
                            <a:srgbClr val="000000"/>
                          </a:solidFill>
                          <a:effectLst/>
                          <a:latin typeface="Times New Roman" panose="02020603050405020304" pitchFamily="18" charset="0"/>
                          <a:cs typeface="Times New Roman" panose="02020603050405020304" pitchFamily="18" charset="0"/>
                        </a:rPr>
                        <a:t>/meg={{uuid}}?fields=mep(local-id)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MEPs under a MEG</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UC17a</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700411627"/>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a:t>
                      </a:r>
                      <a:r>
                        <a:rPr lang="en-US" sz="900" kern="0" dirty="0">
                          <a:solidFill>
                            <a:srgbClr val="000000"/>
                          </a:solidFill>
                          <a:effectLst/>
                          <a:latin typeface="Times New Roman" panose="02020603050405020304" pitchFamily="18" charset="0"/>
                          <a:cs typeface="Times New Roman" panose="02020603050405020304" pitchFamily="18" charset="0"/>
                        </a:rPr>
                        <a:t>/meg={{uuid}}?fields=mip(local-id)</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MIPs under a MEG</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UC17a</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519796431"/>
                  </a:ext>
                </a:extLst>
              </a:tr>
            </a:tbl>
          </a:graphicData>
        </a:graphic>
      </p:graphicFrame>
    </p:spTree>
    <p:extLst>
      <p:ext uri="{BB962C8B-B14F-4D97-AF65-F5344CB8AC3E}">
        <p14:creationId xmlns:p14="http://schemas.microsoft.com/office/powerpoint/2010/main" val="1752814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250D5-AF7B-C3ED-6DFB-4CD0826C39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9DC6AD-4BFC-74F2-D2F7-22BA4D20B2FF}"/>
              </a:ext>
            </a:extLst>
          </p:cNvPr>
          <p:cNvSpPr>
            <a:spLocks noGrp="1"/>
          </p:cNvSpPr>
          <p:nvPr>
            <p:ph idx="1"/>
          </p:nvPr>
        </p:nvSpPr>
        <p:spPr>
          <a:xfrm>
            <a:off x="838200" y="1035050"/>
            <a:ext cx="10515600" cy="5141913"/>
          </a:xfrm>
        </p:spPr>
        <p:txBody>
          <a:bodyPr>
            <a:normAutofit/>
          </a:bodyPr>
          <a:lstStyle/>
          <a:p>
            <a:pPr marL="457200" indent="-457200">
              <a:buFont typeface="+mj-lt"/>
              <a:buAutoNum type="arabicPeriod"/>
            </a:pPr>
            <a:r>
              <a:rPr lang="en-US" sz="2000" dirty="0"/>
              <a:t>Time taken to synchronize large network data</a:t>
            </a:r>
          </a:p>
          <a:p>
            <a:pPr lvl="1"/>
            <a:r>
              <a:rPr lang="en-US" sz="1600" dirty="0"/>
              <a:t>Individual GET for each object in lists</a:t>
            </a:r>
          </a:p>
          <a:p>
            <a:pPr lvl="1"/>
            <a:r>
              <a:rPr lang="en-US" sz="1600" dirty="0"/>
              <a:t>Fine grained back-and-forth between TAPI client and server during synchronization</a:t>
            </a:r>
          </a:p>
          <a:p>
            <a:pPr lvl="1"/>
            <a:r>
              <a:rPr lang="en-US" sz="1600" dirty="0"/>
              <a:t>As list sizes grow, synchronization time increases linearly</a:t>
            </a:r>
          </a:p>
          <a:p>
            <a:pPr marL="457200" indent="-457200">
              <a:buFont typeface="+mj-lt"/>
              <a:buAutoNum type="arabicPeriod"/>
            </a:pPr>
            <a:r>
              <a:rPr lang="en-US" sz="2000" dirty="0"/>
              <a:t>Recovering from network problems</a:t>
            </a:r>
          </a:p>
          <a:p>
            <a:pPr lvl="1"/>
            <a:r>
              <a:rPr lang="en-US" sz="1600" dirty="0"/>
              <a:t>Client responsibility</a:t>
            </a:r>
          </a:p>
          <a:p>
            <a:pPr lvl="1"/>
            <a:r>
              <a:rPr lang="en-US" sz="1600" dirty="0"/>
              <a:t>It needs to keep track of where in the process it failed and decide on how to recover</a:t>
            </a:r>
          </a:p>
          <a:p>
            <a:pPr marL="457200" indent="-457200">
              <a:buFont typeface="+mj-lt"/>
              <a:buAutoNum type="arabicPeriod"/>
            </a:pPr>
            <a:r>
              <a:rPr lang="en-US" sz="2000" dirty="0"/>
              <a:t>Reconciling changes during synchronization</a:t>
            </a:r>
          </a:p>
          <a:p>
            <a:pPr lvl="1"/>
            <a:r>
              <a:rPr lang="en-US" sz="1600" dirty="0"/>
              <a:t>Client responsibility</a:t>
            </a:r>
          </a:p>
          <a:p>
            <a:pPr lvl="1"/>
            <a:r>
              <a:rPr lang="en-US" sz="1600" dirty="0"/>
              <a:t>It needs to employ strategies such as: </a:t>
            </a:r>
          </a:p>
          <a:p>
            <a:pPr lvl="2"/>
            <a:r>
              <a:rPr lang="en-US" sz="1200" dirty="0"/>
              <a:t>Buffer/stop notifications during the synchronization and reconcile them after the synchronization.</a:t>
            </a:r>
          </a:p>
          <a:p>
            <a:pPr lvl="2"/>
            <a:r>
              <a:rPr lang="en-US" sz="1200" dirty="0"/>
              <a:t>Becomes more complex as the synchronization time increases</a:t>
            </a:r>
          </a:p>
          <a:p>
            <a:pPr lvl="2"/>
            <a:endParaRPr lang="en-US" sz="1200" dirty="0"/>
          </a:p>
          <a:p>
            <a:pPr marL="0" indent="0">
              <a:buNone/>
            </a:pPr>
            <a:r>
              <a:rPr lang="en-US" sz="2000" dirty="0"/>
              <a:t>NOTE: These problems are effectively addressed by TR548 streaming</a:t>
            </a:r>
          </a:p>
        </p:txBody>
      </p:sp>
      <p:sp>
        <p:nvSpPr>
          <p:cNvPr id="4" name="Title 3">
            <a:extLst>
              <a:ext uri="{FF2B5EF4-FFF2-40B4-BE49-F238E27FC236}">
                <a16:creationId xmlns:a16="http://schemas.microsoft.com/office/drawing/2014/main" id="{ACAD4E14-FBBD-37B4-EDAC-D348B00A5135}"/>
              </a:ext>
            </a:extLst>
          </p:cNvPr>
          <p:cNvSpPr>
            <a:spLocks noGrp="1"/>
          </p:cNvSpPr>
          <p:nvPr>
            <p:ph type="title"/>
          </p:nvPr>
        </p:nvSpPr>
        <p:spPr>
          <a:xfrm>
            <a:off x="838200" y="365125"/>
            <a:ext cx="10515600" cy="593725"/>
          </a:xfrm>
        </p:spPr>
        <p:txBody>
          <a:bodyPr>
            <a:normAutofit/>
          </a:bodyPr>
          <a:lstStyle/>
          <a:p>
            <a:r>
              <a:rPr lang="en-US" sz="3200" dirty="0"/>
              <a:t>Problems with the current approach</a:t>
            </a:r>
          </a:p>
        </p:txBody>
      </p:sp>
    </p:spTree>
    <p:extLst>
      <p:ext uri="{BB962C8B-B14F-4D97-AF65-F5344CB8AC3E}">
        <p14:creationId xmlns:p14="http://schemas.microsoft.com/office/powerpoint/2010/main" val="192232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7EB9B-077E-9EC3-6F50-6676CFA140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83657-832E-6DFA-C80A-172A65B68574}"/>
              </a:ext>
            </a:extLst>
          </p:cNvPr>
          <p:cNvSpPr>
            <a:spLocks noGrp="1"/>
          </p:cNvSpPr>
          <p:nvPr>
            <p:ph sz="half" idx="1"/>
          </p:nvPr>
        </p:nvSpPr>
        <p:spPr>
          <a:xfrm>
            <a:off x="838200" y="1092200"/>
            <a:ext cx="5181600" cy="5084763"/>
          </a:xfrm>
        </p:spPr>
        <p:txBody>
          <a:bodyPr>
            <a:normAutofit/>
          </a:bodyPr>
          <a:lstStyle/>
          <a:p>
            <a:pPr marL="457200" indent="-457200">
              <a:buFont typeface="+mj-lt"/>
              <a:buAutoNum type="arabicPeriod"/>
            </a:pPr>
            <a:r>
              <a:rPr lang="en-US" sz="2000" dirty="0"/>
              <a:t>Time taken to synchronize large network data</a:t>
            </a:r>
          </a:p>
          <a:p>
            <a:pPr lvl="1"/>
            <a:r>
              <a:rPr lang="en-US" sz="1600" dirty="0">
                <a:solidFill>
                  <a:schemeClr val="accent6">
                    <a:lumMod val="75000"/>
                  </a:schemeClr>
                </a:solidFill>
              </a:rPr>
              <a:t>Synchronization possible over multiple streams</a:t>
            </a:r>
          </a:p>
          <a:p>
            <a:pPr lvl="1"/>
            <a:r>
              <a:rPr lang="en-US" sz="1600" dirty="0">
                <a:solidFill>
                  <a:schemeClr val="accent6">
                    <a:lumMod val="75000"/>
                  </a:schemeClr>
                </a:solidFill>
              </a:rPr>
              <a:t>Push based model avoids back-and-forth</a:t>
            </a:r>
            <a:endParaRPr lang="en-US" sz="2000" dirty="0">
              <a:solidFill>
                <a:schemeClr val="accent6">
                  <a:lumMod val="75000"/>
                </a:schemeClr>
              </a:solidFill>
            </a:endParaRPr>
          </a:p>
          <a:p>
            <a:pPr marL="457200" indent="-457200">
              <a:buFont typeface="+mj-lt"/>
              <a:buAutoNum type="arabicPeriod"/>
            </a:pPr>
            <a:r>
              <a:rPr lang="en-US" sz="2000" dirty="0"/>
              <a:t>Recovering from network problems</a:t>
            </a:r>
          </a:p>
          <a:p>
            <a:pPr lvl="1"/>
            <a:r>
              <a:rPr lang="en-US" sz="1600" dirty="0">
                <a:solidFill>
                  <a:schemeClr val="accent6">
                    <a:lumMod val="75000"/>
                  </a:schemeClr>
                </a:solidFill>
              </a:rPr>
              <a:t>Supports recovery from network failures and re-alignment</a:t>
            </a:r>
          </a:p>
          <a:p>
            <a:pPr marL="457200" indent="-457200">
              <a:buFont typeface="+mj-lt"/>
              <a:buAutoNum type="arabicPeriod"/>
            </a:pPr>
            <a:r>
              <a:rPr lang="en-US" sz="2000" dirty="0"/>
              <a:t>Reconciling changes during synchronization</a:t>
            </a:r>
          </a:p>
          <a:p>
            <a:pPr lvl="1"/>
            <a:r>
              <a:rPr lang="en-US" sz="1600" dirty="0">
                <a:solidFill>
                  <a:schemeClr val="accent6">
                    <a:lumMod val="75000"/>
                  </a:schemeClr>
                </a:solidFill>
              </a:rPr>
              <a:t>Changes are also available in the streams</a:t>
            </a:r>
          </a:p>
          <a:p>
            <a:pPr lvl="1"/>
            <a:r>
              <a:rPr lang="en-US" sz="1600" dirty="0">
                <a:solidFill>
                  <a:schemeClr val="accent6">
                    <a:lumMod val="75000"/>
                  </a:schemeClr>
                </a:solidFill>
              </a:rPr>
              <a:t>No need for separate reconciliation</a:t>
            </a:r>
          </a:p>
        </p:txBody>
      </p:sp>
      <p:sp>
        <p:nvSpPr>
          <p:cNvPr id="7" name="Content Placeholder 6">
            <a:extLst>
              <a:ext uri="{FF2B5EF4-FFF2-40B4-BE49-F238E27FC236}">
                <a16:creationId xmlns:a16="http://schemas.microsoft.com/office/drawing/2014/main" id="{EC9FE673-C7EF-DCD2-C2C9-DFA5C8FA251C}"/>
              </a:ext>
            </a:extLst>
          </p:cNvPr>
          <p:cNvSpPr>
            <a:spLocks noGrp="1"/>
          </p:cNvSpPr>
          <p:nvPr>
            <p:ph sz="half" idx="2"/>
          </p:nvPr>
        </p:nvSpPr>
        <p:spPr>
          <a:xfrm>
            <a:off x="6172200" y="1092200"/>
            <a:ext cx="5181600" cy="5084763"/>
          </a:xfrm>
        </p:spPr>
        <p:txBody>
          <a:bodyPr>
            <a:normAutofit/>
          </a:bodyPr>
          <a:lstStyle/>
          <a:p>
            <a:r>
              <a:rPr lang="en-US" sz="2000" dirty="0"/>
              <a:t>However, not all systems (clients and servers) do not support TR548 yet</a:t>
            </a:r>
          </a:p>
          <a:p>
            <a:r>
              <a:rPr lang="en-US" sz="2000" dirty="0"/>
              <a:t>Alternatives that are typically suggested:</a:t>
            </a:r>
          </a:p>
          <a:p>
            <a:pPr lvl="1"/>
            <a:r>
              <a:rPr lang="en-US" sz="1600" dirty="0"/>
              <a:t>Support for paginated GETs of lists</a:t>
            </a:r>
          </a:p>
          <a:p>
            <a:pPr lvl="1"/>
            <a:r>
              <a:rPr lang="en-US" sz="1600" dirty="0"/>
              <a:t>Support for file-based synchronization</a:t>
            </a:r>
          </a:p>
          <a:p>
            <a:r>
              <a:rPr lang="en-US" sz="2000" dirty="0"/>
              <a:t>Both are capable solutions for problem #1</a:t>
            </a:r>
          </a:p>
          <a:p>
            <a:r>
              <a:rPr lang="en-US" sz="2000" dirty="0"/>
              <a:t>However, they do not address #2 and #3</a:t>
            </a:r>
          </a:p>
          <a:p>
            <a:pPr lvl="1"/>
            <a:r>
              <a:rPr lang="en-US" sz="1600" dirty="0"/>
              <a:t>Hence, they’re not complete alternatives to TR548</a:t>
            </a:r>
          </a:p>
          <a:p>
            <a:r>
              <a:rPr lang="en-US" sz="2000" dirty="0"/>
              <a:t>File-based synchronization (IMHO) is a step backwards in time</a:t>
            </a:r>
          </a:p>
          <a:p>
            <a:r>
              <a:rPr lang="en-US" sz="2000" dirty="0"/>
              <a:t>Paginated GETs is worthy of attention now, with the appearance of </a:t>
            </a:r>
            <a:r>
              <a:rPr lang="en-US" sz="2000" dirty="0">
                <a:hlinkClick r:id="rId2"/>
              </a:rPr>
              <a:t>draft-</a:t>
            </a:r>
            <a:r>
              <a:rPr lang="en-US" sz="2000" dirty="0" err="1">
                <a:hlinkClick r:id="rId2"/>
              </a:rPr>
              <a:t>ietf</a:t>
            </a:r>
            <a:r>
              <a:rPr lang="en-US" sz="2000" dirty="0">
                <a:hlinkClick r:id="rId2"/>
              </a:rPr>
              <a:t>-</a:t>
            </a:r>
            <a:r>
              <a:rPr lang="en-US" sz="2000" dirty="0" err="1">
                <a:hlinkClick r:id="rId2"/>
              </a:rPr>
              <a:t>netconf</a:t>
            </a:r>
            <a:r>
              <a:rPr lang="en-US" sz="2000" dirty="0">
                <a:hlinkClick r:id="rId2"/>
              </a:rPr>
              <a:t>-list-pagination</a:t>
            </a:r>
            <a:r>
              <a:rPr lang="en-US" sz="2000" dirty="0"/>
              <a:t> </a:t>
            </a:r>
          </a:p>
          <a:p>
            <a:pPr lvl="1"/>
            <a:r>
              <a:rPr lang="en-US" sz="1600" dirty="0"/>
              <a:t>But remember this is still only a draft!</a:t>
            </a:r>
          </a:p>
        </p:txBody>
      </p:sp>
      <p:sp>
        <p:nvSpPr>
          <p:cNvPr id="11" name="Title 3">
            <a:extLst>
              <a:ext uri="{FF2B5EF4-FFF2-40B4-BE49-F238E27FC236}">
                <a16:creationId xmlns:a16="http://schemas.microsoft.com/office/drawing/2014/main" id="{3E129DD4-6ADC-0E77-37CA-7D14B1855DA0}"/>
              </a:ext>
            </a:extLst>
          </p:cNvPr>
          <p:cNvSpPr>
            <a:spLocks noGrp="1"/>
          </p:cNvSpPr>
          <p:nvPr>
            <p:ph type="title"/>
          </p:nvPr>
        </p:nvSpPr>
        <p:spPr>
          <a:xfrm>
            <a:off x="838200" y="365125"/>
            <a:ext cx="10515600" cy="593725"/>
          </a:xfrm>
        </p:spPr>
        <p:txBody>
          <a:bodyPr>
            <a:normAutofit/>
          </a:bodyPr>
          <a:lstStyle/>
          <a:p>
            <a:r>
              <a:rPr lang="en-US" sz="3200" dirty="0"/>
              <a:t>TR548 Streaming and (?) Alternatives</a:t>
            </a:r>
          </a:p>
        </p:txBody>
      </p:sp>
    </p:spTree>
    <p:extLst>
      <p:ext uri="{BB962C8B-B14F-4D97-AF65-F5344CB8AC3E}">
        <p14:creationId xmlns:p14="http://schemas.microsoft.com/office/powerpoint/2010/main" val="3089786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F95A1-779B-54D5-3047-F7A1A40C060F}"/>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23F5A55-2978-7F42-2D86-9F1D800A6810}"/>
              </a:ext>
            </a:extLst>
          </p:cNvPr>
          <p:cNvSpPr>
            <a:spLocks noGrp="1"/>
          </p:cNvSpPr>
          <p:nvPr>
            <p:ph sz="half" idx="2"/>
          </p:nvPr>
        </p:nvSpPr>
        <p:spPr>
          <a:xfrm>
            <a:off x="4438650" y="1092200"/>
            <a:ext cx="6915150" cy="5084763"/>
          </a:xfrm>
        </p:spPr>
        <p:txBody>
          <a:bodyPr>
            <a:normAutofit/>
          </a:bodyPr>
          <a:lstStyle/>
          <a:p>
            <a:r>
              <a:rPr lang="en-US" sz="2000" dirty="0"/>
              <a:t>The table shows new RESTCONF query parameters introduced as part of this draft</a:t>
            </a:r>
          </a:p>
          <a:p>
            <a:r>
              <a:rPr lang="en-US" sz="2000" dirty="0"/>
              <a:t>Out of these, following are the minimum mandatory items for paging to work for TAPI RESTCONF (my interpretation)</a:t>
            </a:r>
          </a:p>
          <a:p>
            <a:pPr lvl="1"/>
            <a:r>
              <a:rPr lang="en-US" sz="1600" dirty="0"/>
              <a:t>limit (to define the size of the page requested)</a:t>
            </a:r>
          </a:p>
          <a:p>
            <a:pPr lvl="1"/>
            <a:r>
              <a:rPr lang="en-US" sz="1600" dirty="0"/>
              <a:t>offset OR cursor (to indicate the position of the page requested)</a:t>
            </a:r>
          </a:p>
          <a:p>
            <a:r>
              <a:rPr lang="en-US" sz="2000" dirty="0"/>
              <a:t>The other query parameters can be considered as optional for TAPI</a:t>
            </a:r>
          </a:p>
          <a:p>
            <a:pPr lvl="1"/>
            <a:r>
              <a:rPr lang="en-US" sz="1600" dirty="0"/>
              <a:t>See next slides</a:t>
            </a:r>
          </a:p>
          <a:p>
            <a:r>
              <a:rPr lang="en-US" sz="2000" dirty="0"/>
              <a:t>Note: “paging” through a list of items implies that there is an agreed upon sorting order between the server and the client.</a:t>
            </a:r>
          </a:p>
          <a:p>
            <a:pPr lvl="1"/>
            <a:endParaRPr lang="en-US" sz="1600" dirty="0"/>
          </a:p>
        </p:txBody>
      </p:sp>
      <p:sp>
        <p:nvSpPr>
          <p:cNvPr id="11" name="Title 3">
            <a:extLst>
              <a:ext uri="{FF2B5EF4-FFF2-40B4-BE49-F238E27FC236}">
                <a16:creationId xmlns:a16="http://schemas.microsoft.com/office/drawing/2014/main" id="{94F0AAD6-0A0C-07ED-A4D5-C47ABB49F67C}"/>
              </a:ext>
            </a:extLst>
          </p:cNvPr>
          <p:cNvSpPr>
            <a:spLocks noGrp="1"/>
          </p:cNvSpPr>
          <p:nvPr>
            <p:ph type="title"/>
          </p:nvPr>
        </p:nvSpPr>
        <p:spPr>
          <a:xfrm>
            <a:off x="838200" y="365125"/>
            <a:ext cx="10515600" cy="593725"/>
          </a:xfrm>
        </p:spPr>
        <p:txBody>
          <a:bodyPr>
            <a:normAutofit fontScale="90000"/>
          </a:bodyPr>
          <a:lstStyle/>
          <a:p>
            <a:r>
              <a:rPr lang="en-US" sz="3200" dirty="0">
                <a:hlinkClick r:id="rId2"/>
              </a:rPr>
              <a:t>draft-</a:t>
            </a:r>
            <a:r>
              <a:rPr lang="en-US" sz="3200" dirty="0" err="1">
                <a:hlinkClick r:id="rId2"/>
              </a:rPr>
              <a:t>ietf</a:t>
            </a:r>
            <a:r>
              <a:rPr lang="en-US" sz="3200" dirty="0">
                <a:hlinkClick r:id="rId2"/>
              </a:rPr>
              <a:t>-</a:t>
            </a:r>
            <a:r>
              <a:rPr lang="en-US" sz="3200" dirty="0" err="1">
                <a:hlinkClick r:id="rId2"/>
              </a:rPr>
              <a:t>netconf</a:t>
            </a:r>
            <a:r>
              <a:rPr lang="en-US" sz="3200" dirty="0">
                <a:hlinkClick r:id="rId2"/>
              </a:rPr>
              <a:t>-list-pagination</a:t>
            </a:r>
            <a:br>
              <a:rPr lang="en-US" sz="3200" dirty="0"/>
            </a:br>
            <a:r>
              <a:rPr lang="en-US" sz="3200" dirty="0">
                <a:hlinkClick r:id="rId3"/>
              </a:rPr>
              <a:t>draft-</a:t>
            </a:r>
            <a:r>
              <a:rPr lang="en-US" sz="3200" dirty="0" err="1">
                <a:hlinkClick r:id="rId3"/>
              </a:rPr>
              <a:t>ietf</a:t>
            </a:r>
            <a:r>
              <a:rPr lang="en-US" sz="3200" dirty="0">
                <a:hlinkClick r:id="rId3"/>
              </a:rPr>
              <a:t>-</a:t>
            </a:r>
            <a:r>
              <a:rPr lang="en-US" sz="3200" dirty="0" err="1">
                <a:hlinkClick r:id="rId3"/>
              </a:rPr>
              <a:t>netconf</a:t>
            </a:r>
            <a:r>
              <a:rPr lang="en-US" sz="3200" dirty="0">
                <a:hlinkClick r:id="rId3"/>
              </a:rPr>
              <a:t>-list-pagination-</a:t>
            </a:r>
            <a:r>
              <a:rPr lang="en-US" sz="3200" dirty="0" err="1">
                <a:hlinkClick r:id="rId3"/>
              </a:rPr>
              <a:t>rc</a:t>
            </a:r>
            <a:r>
              <a:rPr lang="en-US" sz="3200" dirty="0"/>
              <a:t> </a:t>
            </a:r>
          </a:p>
        </p:txBody>
      </p:sp>
      <p:pic>
        <p:nvPicPr>
          <p:cNvPr id="4" name="Picture 3">
            <a:extLst>
              <a:ext uri="{FF2B5EF4-FFF2-40B4-BE49-F238E27FC236}">
                <a16:creationId xmlns:a16="http://schemas.microsoft.com/office/drawing/2014/main" id="{C464890A-7A27-770E-35D9-509372C7A2E7}"/>
              </a:ext>
            </a:extLst>
          </p:cNvPr>
          <p:cNvPicPr>
            <a:picLocks noChangeAspect="1"/>
          </p:cNvPicPr>
          <p:nvPr/>
        </p:nvPicPr>
        <p:blipFill>
          <a:blip r:embed="rId4"/>
          <a:stretch>
            <a:fillRect/>
          </a:stretch>
        </p:blipFill>
        <p:spPr>
          <a:xfrm>
            <a:off x="942299" y="1149350"/>
            <a:ext cx="3124822" cy="5130800"/>
          </a:xfrm>
          <a:prstGeom prst="rect">
            <a:avLst/>
          </a:prstGeom>
        </p:spPr>
      </p:pic>
    </p:spTree>
    <p:extLst>
      <p:ext uri="{BB962C8B-B14F-4D97-AF65-F5344CB8AC3E}">
        <p14:creationId xmlns:p14="http://schemas.microsoft.com/office/powerpoint/2010/main" val="4066502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DD0A1-9462-167B-1C9B-42F899EAC6F1}"/>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5A83F82-CBA9-3A59-63CD-C5E71186CED5}"/>
              </a:ext>
            </a:extLst>
          </p:cNvPr>
          <p:cNvSpPr>
            <a:spLocks noGrp="1"/>
          </p:cNvSpPr>
          <p:nvPr>
            <p:ph sz="half" idx="2"/>
          </p:nvPr>
        </p:nvSpPr>
        <p:spPr>
          <a:xfrm>
            <a:off x="4438650" y="1092200"/>
            <a:ext cx="6915150" cy="5084763"/>
          </a:xfrm>
        </p:spPr>
        <p:txBody>
          <a:bodyPr>
            <a:normAutofit fontScale="92500" lnSpcReduction="20000"/>
          </a:bodyPr>
          <a:lstStyle/>
          <a:p>
            <a:r>
              <a:rPr lang="en-US" sz="2000" dirty="0"/>
              <a:t>where</a:t>
            </a:r>
          </a:p>
          <a:p>
            <a:pPr lvl="1"/>
            <a:r>
              <a:rPr lang="en-US" sz="1600" dirty="0"/>
              <a:t>Allows DB like queries against lists</a:t>
            </a:r>
          </a:p>
          <a:p>
            <a:pPr lvl="1"/>
            <a:r>
              <a:rPr lang="en-US" sz="1600" dirty="0">
                <a:solidFill>
                  <a:schemeClr val="tx2">
                    <a:lumMod val="75000"/>
                    <a:lumOff val="25000"/>
                  </a:schemeClr>
                </a:solidFill>
              </a:rPr>
              <a:t>This is not a focus item for TAPI </a:t>
            </a:r>
            <a:r>
              <a:rPr lang="en-US" sz="1600" u="sng" dirty="0">
                <a:solidFill>
                  <a:schemeClr val="tx2">
                    <a:lumMod val="75000"/>
                    <a:lumOff val="25000"/>
                  </a:schemeClr>
                </a:solidFill>
              </a:rPr>
              <a:t>now</a:t>
            </a:r>
            <a:r>
              <a:rPr lang="en-US" sz="1600" dirty="0">
                <a:solidFill>
                  <a:schemeClr val="tx2">
                    <a:lumMod val="75000"/>
                    <a:lumOff val="25000"/>
                  </a:schemeClr>
                </a:solidFill>
              </a:rPr>
              <a:t>. Instead, we can focus on returning all entries in a list, page by page.</a:t>
            </a:r>
          </a:p>
          <a:p>
            <a:pPr lvl="1"/>
            <a:r>
              <a:rPr lang="en-US" sz="1600" dirty="0">
                <a:solidFill>
                  <a:schemeClr val="tx2">
                    <a:lumMod val="75000"/>
                    <a:lumOff val="25000"/>
                  </a:schemeClr>
                </a:solidFill>
              </a:rPr>
              <a:t>TAPI being a system-to-system API between OSS/SDTN/SDN-C systems, it may not be important to support flexible queries</a:t>
            </a:r>
          </a:p>
          <a:p>
            <a:r>
              <a:rPr lang="en-US" sz="2000" dirty="0"/>
              <a:t>sort-by, locale, direction</a:t>
            </a:r>
          </a:p>
          <a:p>
            <a:pPr lvl="1"/>
            <a:r>
              <a:rPr lang="en-US" sz="1600" dirty="0"/>
              <a:t>Allows flexible sorting of items in the response pages</a:t>
            </a:r>
          </a:p>
          <a:p>
            <a:pPr lvl="1"/>
            <a:r>
              <a:rPr lang="en-US" sz="1600" dirty="0">
                <a:solidFill>
                  <a:schemeClr val="tx2">
                    <a:lumMod val="75000"/>
                    <a:lumOff val="25000"/>
                  </a:schemeClr>
                </a:solidFill>
              </a:rPr>
              <a:t>We can return entries in a list, sorted based on their uuid/local-id, in ascending order</a:t>
            </a:r>
          </a:p>
          <a:p>
            <a:pPr lvl="1"/>
            <a:r>
              <a:rPr lang="en-US" sz="1600" dirty="0">
                <a:solidFill>
                  <a:schemeClr val="tx2">
                    <a:lumMod val="75000"/>
                    <a:lumOff val="25000"/>
                  </a:schemeClr>
                </a:solidFill>
              </a:rPr>
              <a:t>Or support these explicitly with uuid/local-id as the only supported sorting key</a:t>
            </a:r>
          </a:p>
          <a:p>
            <a:r>
              <a:rPr lang="en-US" sz="2000" dirty="0"/>
              <a:t>sublist-limit</a:t>
            </a:r>
          </a:p>
          <a:p>
            <a:pPr lvl="1"/>
            <a:r>
              <a:rPr lang="en-US" sz="1600" dirty="0"/>
              <a:t>Allows limiting the number of entries returned for descendent lists and leaf-lists.</a:t>
            </a:r>
          </a:p>
          <a:p>
            <a:pPr lvl="1"/>
            <a:r>
              <a:rPr lang="en-US" sz="1600" dirty="0"/>
              <a:t>In the TAPI model descendent lists would be:</a:t>
            </a:r>
          </a:p>
          <a:p>
            <a:pPr lvl="2"/>
            <a:r>
              <a:rPr lang="en-US" sz="1200" dirty="0"/>
              <a:t>topology </a:t>
            </a:r>
            <a:r>
              <a:rPr lang="en-US" sz="1200" dirty="0">
                <a:solidFill>
                  <a:srgbClr val="C00000"/>
                </a:solidFill>
                <a:sym typeface="Wingdings" panose="05000000000000000000" pitchFamily="2" charset="2"/>
              </a:rPr>
              <a:t></a:t>
            </a:r>
            <a:r>
              <a:rPr lang="en-US" sz="1200" dirty="0">
                <a:sym typeface="Wingdings" panose="05000000000000000000" pitchFamily="2" charset="2"/>
              </a:rPr>
              <a:t> node </a:t>
            </a:r>
            <a:r>
              <a:rPr lang="en-US" sz="1200" dirty="0">
                <a:solidFill>
                  <a:srgbClr val="C00000"/>
                </a:solidFill>
                <a:sym typeface="Wingdings" panose="05000000000000000000" pitchFamily="2" charset="2"/>
              </a:rPr>
              <a:t></a:t>
            </a:r>
            <a:r>
              <a:rPr lang="en-US" sz="1200" dirty="0">
                <a:sym typeface="Wingdings" panose="05000000000000000000" pitchFamily="2" charset="2"/>
              </a:rPr>
              <a:t>nep </a:t>
            </a:r>
            <a:r>
              <a:rPr lang="en-US" sz="1200" dirty="0">
                <a:solidFill>
                  <a:srgbClr val="C00000"/>
                </a:solidFill>
                <a:sym typeface="Wingdings" panose="05000000000000000000" pitchFamily="2" charset="2"/>
              </a:rPr>
              <a:t></a:t>
            </a:r>
            <a:r>
              <a:rPr lang="en-US" sz="1200" dirty="0">
                <a:sym typeface="Wingdings" panose="05000000000000000000" pitchFamily="2" charset="2"/>
              </a:rPr>
              <a:t> cep</a:t>
            </a:r>
          </a:p>
          <a:p>
            <a:pPr lvl="2"/>
            <a:r>
              <a:rPr lang="en-US" sz="1200" dirty="0">
                <a:sym typeface="Wingdings" panose="05000000000000000000" pitchFamily="2" charset="2"/>
              </a:rPr>
              <a:t>device  equipment, device  access-port</a:t>
            </a:r>
          </a:p>
          <a:p>
            <a:pPr lvl="2"/>
            <a:r>
              <a:rPr lang="en-US" sz="1200" dirty="0">
                <a:sym typeface="Wingdings" panose="05000000000000000000" pitchFamily="2" charset="2"/>
              </a:rPr>
              <a:t>connectivity-service  connection</a:t>
            </a:r>
          </a:p>
          <a:p>
            <a:pPr lvl="2"/>
            <a:r>
              <a:rPr lang="en-US" sz="1200" dirty="0"/>
              <a:t>meg </a:t>
            </a:r>
            <a:r>
              <a:rPr lang="en-US" sz="1200" dirty="0">
                <a:sym typeface="Wingdings" panose="05000000000000000000" pitchFamily="2" charset="2"/>
              </a:rPr>
              <a:t> mep, meg  mip</a:t>
            </a:r>
          </a:p>
          <a:p>
            <a:pPr lvl="1"/>
            <a:r>
              <a:rPr lang="en-US" sz="1600" dirty="0">
                <a:sym typeface="Wingdings" panose="05000000000000000000" pitchFamily="2" charset="2"/>
              </a:rPr>
              <a:t>We may need to support this query parameter (?)</a:t>
            </a:r>
          </a:p>
          <a:p>
            <a:pPr lvl="1"/>
            <a:r>
              <a:rPr lang="en-US" sz="1600" dirty="0">
                <a:solidFill>
                  <a:schemeClr val="tx2">
                    <a:lumMod val="75000"/>
                    <a:lumOff val="25000"/>
                  </a:schemeClr>
                </a:solidFill>
                <a:sym typeface="Wingdings" panose="05000000000000000000" pitchFamily="2" charset="2"/>
              </a:rPr>
              <a:t>Or ignore this? Because it is not considered a problem now.</a:t>
            </a:r>
            <a:endParaRPr lang="en-US" sz="1600" dirty="0">
              <a:solidFill>
                <a:schemeClr val="tx2">
                  <a:lumMod val="75000"/>
                  <a:lumOff val="25000"/>
                </a:schemeClr>
              </a:solidFill>
            </a:endParaRPr>
          </a:p>
        </p:txBody>
      </p:sp>
      <p:sp>
        <p:nvSpPr>
          <p:cNvPr id="11" name="Title 3">
            <a:extLst>
              <a:ext uri="{FF2B5EF4-FFF2-40B4-BE49-F238E27FC236}">
                <a16:creationId xmlns:a16="http://schemas.microsoft.com/office/drawing/2014/main" id="{925B87EB-6F8A-3961-A4B2-8DDE7AF08D0B}"/>
              </a:ext>
            </a:extLst>
          </p:cNvPr>
          <p:cNvSpPr>
            <a:spLocks noGrp="1"/>
          </p:cNvSpPr>
          <p:nvPr>
            <p:ph type="title"/>
          </p:nvPr>
        </p:nvSpPr>
        <p:spPr>
          <a:xfrm>
            <a:off x="838200" y="365125"/>
            <a:ext cx="10515600" cy="593725"/>
          </a:xfrm>
        </p:spPr>
        <p:txBody>
          <a:bodyPr>
            <a:normAutofit fontScale="90000"/>
          </a:bodyPr>
          <a:lstStyle/>
          <a:p>
            <a:r>
              <a:rPr lang="en-US" sz="3200" dirty="0">
                <a:hlinkClick r:id="rId2"/>
              </a:rPr>
              <a:t>draft-</a:t>
            </a:r>
            <a:r>
              <a:rPr lang="en-US" sz="3200" dirty="0" err="1">
                <a:hlinkClick r:id="rId2"/>
              </a:rPr>
              <a:t>ietf</a:t>
            </a:r>
            <a:r>
              <a:rPr lang="en-US" sz="3200" dirty="0">
                <a:hlinkClick r:id="rId2"/>
              </a:rPr>
              <a:t>-</a:t>
            </a:r>
            <a:r>
              <a:rPr lang="en-US" sz="3200" dirty="0" err="1">
                <a:hlinkClick r:id="rId2"/>
              </a:rPr>
              <a:t>netconf</a:t>
            </a:r>
            <a:r>
              <a:rPr lang="en-US" sz="3200" dirty="0">
                <a:hlinkClick r:id="rId2"/>
              </a:rPr>
              <a:t>-list-pagination</a:t>
            </a:r>
            <a:br>
              <a:rPr lang="en-US" sz="3200" dirty="0"/>
            </a:br>
            <a:r>
              <a:rPr lang="en-US" sz="3200" dirty="0">
                <a:hlinkClick r:id="rId3"/>
              </a:rPr>
              <a:t>draft-</a:t>
            </a:r>
            <a:r>
              <a:rPr lang="en-US" sz="3200" dirty="0" err="1">
                <a:hlinkClick r:id="rId3"/>
              </a:rPr>
              <a:t>ietf</a:t>
            </a:r>
            <a:r>
              <a:rPr lang="en-US" sz="3200" dirty="0">
                <a:hlinkClick r:id="rId3"/>
              </a:rPr>
              <a:t>-</a:t>
            </a:r>
            <a:r>
              <a:rPr lang="en-US" sz="3200" dirty="0" err="1">
                <a:hlinkClick r:id="rId3"/>
              </a:rPr>
              <a:t>netconf</a:t>
            </a:r>
            <a:r>
              <a:rPr lang="en-US" sz="3200" dirty="0">
                <a:hlinkClick r:id="rId3"/>
              </a:rPr>
              <a:t>-list-pagination-</a:t>
            </a:r>
            <a:r>
              <a:rPr lang="en-US" sz="3200" dirty="0" err="1">
                <a:hlinkClick r:id="rId3"/>
              </a:rPr>
              <a:t>rc</a:t>
            </a:r>
            <a:r>
              <a:rPr lang="en-US" sz="3200" dirty="0"/>
              <a:t> </a:t>
            </a:r>
          </a:p>
        </p:txBody>
      </p:sp>
      <p:pic>
        <p:nvPicPr>
          <p:cNvPr id="4" name="Picture 3">
            <a:extLst>
              <a:ext uri="{FF2B5EF4-FFF2-40B4-BE49-F238E27FC236}">
                <a16:creationId xmlns:a16="http://schemas.microsoft.com/office/drawing/2014/main" id="{9F85E064-753C-D289-115B-77F971CDF097}"/>
              </a:ext>
            </a:extLst>
          </p:cNvPr>
          <p:cNvPicPr>
            <a:picLocks noChangeAspect="1"/>
          </p:cNvPicPr>
          <p:nvPr/>
        </p:nvPicPr>
        <p:blipFill>
          <a:blip r:embed="rId4"/>
          <a:stretch>
            <a:fillRect/>
          </a:stretch>
        </p:blipFill>
        <p:spPr>
          <a:xfrm>
            <a:off x="942299" y="1149350"/>
            <a:ext cx="3124822" cy="5130800"/>
          </a:xfrm>
          <a:prstGeom prst="rect">
            <a:avLst/>
          </a:prstGeom>
        </p:spPr>
      </p:pic>
    </p:spTree>
    <p:extLst>
      <p:ext uri="{BB962C8B-B14F-4D97-AF65-F5344CB8AC3E}">
        <p14:creationId xmlns:p14="http://schemas.microsoft.com/office/powerpoint/2010/main" val="1716680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CCBB2-0C32-DAFB-F586-0DED23EC8D02}"/>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0DD6746-C984-18D8-897C-BC64755694C3}"/>
              </a:ext>
            </a:extLst>
          </p:cNvPr>
          <p:cNvSpPr>
            <a:spLocks noGrp="1"/>
          </p:cNvSpPr>
          <p:nvPr>
            <p:ph sz="half" idx="2"/>
          </p:nvPr>
        </p:nvSpPr>
        <p:spPr>
          <a:xfrm>
            <a:off x="838200" y="1092200"/>
            <a:ext cx="10515600" cy="5084763"/>
          </a:xfrm>
        </p:spPr>
        <p:txBody>
          <a:bodyPr>
            <a:normAutofit/>
          </a:bodyPr>
          <a:lstStyle/>
          <a:p>
            <a:r>
              <a:rPr lang="en-US" sz="2000" dirty="0"/>
              <a:t>Offset:</a:t>
            </a:r>
          </a:p>
          <a:p>
            <a:pPr lvl="1"/>
            <a:r>
              <a:rPr lang="en-US" sz="1600" dirty="0"/>
              <a:t>Integer value identifying the position of an element in the list that is being paged over. </a:t>
            </a:r>
          </a:p>
          <a:p>
            <a:r>
              <a:rPr lang="en-US" sz="2000" dirty="0"/>
              <a:t>Cursor:</a:t>
            </a:r>
          </a:p>
          <a:p>
            <a:pPr lvl="1"/>
            <a:r>
              <a:rPr lang="en-US" sz="1600" dirty="0"/>
              <a:t>Opaque index values for the underlying system's database, e.g. a key or other information needed to efficiently access the selected result-set</a:t>
            </a:r>
          </a:p>
          <a:p>
            <a:pPr lvl="1"/>
            <a:r>
              <a:rPr lang="en-US" sz="1600" dirty="0">
                <a:solidFill>
                  <a:schemeClr val="tx2">
                    <a:lumMod val="75000"/>
                    <a:lumOff val="25000"/>
                  </a:schemeClr>
                </a:solidFill>
              </a:rPr>
              <a:t>For TAPI data model lists, this will be either uuid or local-id</a:t>
            </a:r>
          </a:p>
          <a:p>
            <a:r>
              <a:rPr lang="en-US" sz="2000" dirty="0"/>
              <a:t>Example:</a:t>
            </a:r>
          </a:p>
          <a:p>
            <a:pPr lvl="1"/>
            <a:r>
              <a:rPr lang="en-US" sz="1600" dirty="0"/>
              <a:t>Let’s say 1000 elements exist in the list and we’re retrieving pages of 100</a:t>
            </a:r>
          </a:p>
          <a:p>
            <a:pPr lvl="1"/>
            <a:r>
              <a:rPr lang="en-US" sz="1600" dirty="0"/>
              <a:t>Valid offset values will be 0..999</a:t>
            </a:r>
          </a:p>
          <a:p>
            <a:pPr lvl="1"/>
            <a:r>
              <a:rPr lang="en-US" sz="1600" dirty="0"/>
              <a:t>Valid cursor values will be the key values (uuid/local-id) of the 1000 elements in the list</a:t>
            </a:r>
          </a:p>
        </p:txBody>
      </p:sp>
      <p:sp>
        <p:nvSpPr>
          <p:cNvPr id="11" name="Title 3">
            <a:extLst>
              <a:ext uri="{FF2B5EF4-FFF2-40B4-BE49-F238E27FC236}">
                <a16:creationId xmlns:a16="http://schemas.microsoft.com/office/drawing/2014/main" id="{4A394536-3266-F142-3FA1-1A5B74B5E9F8}"/>
              </a:ext>
            </a:extLst>
          </p:cNvPr>
          <p:cNvSpPr>
            <a:spLocks noGrp="1"/>
          </p:cNvSpPr>
          <p:nvPr>
            <p:ph type="title"/>
          </p:nvPr>
        </p:nvSpPr>
        <p:spPr>
          <a:xfrm>
            <a:off x="838200" y="365125"/>
            <a:ext cx="10515600" cy="593725"/>
          </a:xfrm>
        </p:spPr>
        <p:txBody>
          <a:bodyPr>
            <a:normAutofit/>
          </a:bodyPr>
          <a:lstStyle/>
          <a:p>
            <a:r>
              <a:rPr lang="en-US" sz="3200" dirty="0"/>
              <a:t>Offset versus cursor</a:t>
            </a:r>
          </a:p>
        </p:txBody>
      </p:sp>
    </p:spTree>
    <p:extLst>
      <p:ext uri="{BB962C8B-B14F-4D97-AF65-F5344CB8AC3E}">
        <p14:creationId xmlns:p14="http://schemas.microsoft.com/office/powerpoint/2010/main" val="540966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C1A60-4979-295A-9EE1-E76C46D09AD9}"/>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737F65F-4F0C-6E29-4A61-4B0FF6FA9ECB}"/>
              </a:ext>
            </a:extLst>
          </p:cNvPr>
          <p:cNvSpPr>
            <a:spLocks noGrp="1"/>
          </p:cNvSpPr>
          <p:nvPr>
            <p:ph sz="half" idx="2"/>
          </p:nvPr>
        </p:nvSpPr>
        <p:spPr>
          <a:xfrm>
            <a:off x="838200" y="1092200"/>
            <a:ext cx="10515600" cy="5084763"/>
          </a:xfrm>
        </p:spPr>
        <p:txBody>
          <a:bodyPr>
            <a:normAutofit/>
          </a:bodyPr>
          <a:lstStyle/>
          <a:p>
            <a:r>
              <a:rPr lang="en-US" sz="2000" dirty="0"/>
              <a:t>limit parameter support would require the following</a:t>
            </a:r>
          </a:p>
          <a:p>
            <a:pPr marL="457200" lvl="1" indent="0">
              <a:buNone/>
            </a:pPr>
            <a:r>
              <a:rPr lang="en-US" sz="1600" i="1" dirty="0"/>
              <a:t>a metadata value [RFC7952] called "</a:t>
            </a:r>
            <a:r>
              <a:rPr lang="en-US" sz="1600" i="1" dirty="0">
                <a:solidFill>
                  <a:srgbClr val="C00000"/>
                </a:solidFill>
              </a:rPr>
              <a:t>remaining</a:t>
            </a:r>
            <a:r>
              <a:rPr lang="en-US" sz="1600" i="1" dirty="0"/>
              <a:t>", a positive integer indicating the number of elements that were not included in the result-set by the "limit“ operation, or the value "unknown" in case, e.g., the server determines that counting would be prohibitively expensive.</a:t>
            </a:r>
          </a:p>
          <a:p>
            <a:r>
              <a:rPr lang="en-US" sz="2000" dirty="0"/>
              <a:t>cursor parameter support would require the following</a:t>
            </a:r>
          </a:p>
          <a:p>
            <a:pPr marL="457200" lvl="1" indent="0">
              <a:buNone/>
            </a:pPr>
            <a:r>
              <a:rPr lang="en-US" sz="1600" i="1" dirty="0"/>
              <a:t>Furthermore, a result set constrained with the "limit" query parameter includes metadata values [RFC7952] called "</a:t>
            </a:r>
            <a:r>
              <a:rPr lang="en-US" sz="1600" i="1" dirty="0">
                <a:solidFill>
                  <a:srgbClr val="C00000"/>
                </a:solidFill>
              </a:rPr>
              <a:t>next</a:t>
            </a:r>
            <a:r>
              <a:rPr lang="en-US" sz="1600" i="1" dirty="0"/>
              <a:t>" and "</a:t>
            </a:r>
            <a:r>
              <a:rPr lang="en-US" sz="1600" i="1" dirty="0">
                <a:solidFill>
                  <a:srgbClr val="C00000"/>
                </a:solidFill>
              </a:rPr>
              <a:t>previous</a:t>
            </a:r>
            <a:r>
              <a:rPr lang="en-US" sz="1600" i="1" dirty="0"/>
              <a:t>", which contains cursor values to the next and previous result-sets.  These next and previous cursor values are opaque index values for the underlying system's database, e.g. a key or other information needed to efficiently access the selected result-set.  These "next" and "previous" metadata values work as Hypermedia as the Engine of Application State (HATEOAS) links.</a:t>
            </a:r>
          </a:p>
          <a:p>
            <a:r>
              <a:rPr lang="en-US" sz="2000" dirty="0"/>
              <a:t>sublist-limit parameter support would require the following</a:t>
            </a:r>
          </a:p>
          <a:p>
            <a:pPr marL="457200" lvl="1" indent="0">
              <a:buNone/>
            </a:pPr>
            <a:r>
              <a:rPr lang="en-US" sz="1600" i="1" dirty="0"/>
              <a:t>a metadata value [RFC7952] called "</a:t>
            </a:r>
            <a:r>
              <a:rPr lang="en-US" sz="1600" i="1" dirty="0">
                <a:solidFill>
                  <a:srgbClr val="C00000"/>
                </a:solidFill>
              </a:rPr>
              <a:t>remaining</a:t>
            </a:r>
            <a:r>
              <a:rPr lang="en-US" sz="1600" i="1" dirty="0"/>
              <a:t>", a positive integer indicating the number of elements that were not included in the result-set by the “sublist-limit“ operation, or the value "unknown" in case, e.g., the server determines that counting would be prohibitively expensive.</a:t>
            </a:r>
          </a:p>
          <a:p>
            <a:r>
              <a:rPr lang="en-US" sz="2000" dirty="0"/>
              <a:t>RFC7952 indicate that these metadata values be added in the JSON response with a special entry in the response JSON named “@”</a:t>
            </a:r>
          </a:p>
          <a:p>
            <a:pPr lvl="1"/>
            <a:r>
              <a:rPr lang="en-US" sz="1600" dirty="0"/>
              <a:t>See example in later slide</a:t>
            </a:r>
          </a:p>
          <a:p>
            <a:pPr lvl="1"/>
            <a:r>
              <a:rPr lang="en-US" sz="1600" dirty="0">
                <a:solidFill>
                  <a:schemeClr val="tx2">
                    <a:lumMod val="75000"/>
                    <a:lumOff val="25000"/>
                  </a:schemeClr>
                </a:solidFill>
              </a:rPr>
              <a:t>We can consider providing the metadata values as response headers and not “</a:t>
            </a:r>
            <a:r>
              <a:rPr lang="en-US" sz="1600" i="1" dirty="0">
                <a:solidFill>
                  <a:schemeClr val="tx2">
                    <a:lumMod val="75000"/>
                    <a:lumOff val="25000"/>
                  </a:schemeClr>
                </a:solidFill>
              </a:rPr>
              <a:t>polluting</a:t>
            </a:r>
            <a:r>
              <a:rPr lang="en-US" sz="1600" dirty="0">
                <a:solidFill>
                  <a:schemeClr val="tx2">
                    <a:lumMod val="75000"/>
                    <a:lumOff val="25000"/>
                  </a:schemeClr>
                </a:solidFill>
              </a:rPr>
              <a:t>” the JSON response</a:t>
            </a:r>
          </a:p>
        </p:txBody>
      </p:sp>
      <p:sp>
        <p:nvSpPr>
          <p:cNvPr id="11" name="Title 3">
            <a:extLst>
              <a:ext uri="{FF2B5EF4-FFF2-40B4-BE49-F238E27FC236}">
                <a16:creationId xmlns:a16="http://schemas.microsoft.com/office/drawing/2014/main" id="{E405A800-6CEE-82B7-9BE0-513CE9A43395}"/>
              </a:ext>
            </a:extLst>
          </p:cNvPr>
          <p:cNvSpPr>
            <a:spLocks noGrp="1"/>
          </p:cNvSpPr>
          <p:nvPr>
            <p:ph type="title"/>
          </p:nvPr>
        </p:nvSpPr>
        <p:spPr>
          <a:xfrm>
            <a:off x="838200" y="365125"/>
            <a:ext cx="10515600" cy="593725"/>
          </a:xfrm>
        </p:spPr>
        <p:txBody>
          <a:bodyPr>
            <a:normAutofit/>
          </a:bodyPr>
          <a:lstStyle/>
          <a:p>
            <a:r>
              <a:rPr lang="en-US" sz="3200" dirty="0">
                <a:hlinkClick r:id="rId2"/>
              </a:rPr>
              <a:t>draft-</a:t>
            </a:r>
            <a:r>
              <a:rPr lang="en-US" sz="3200" dirty="0" err="1">
                <a:hlinkClick r:id="rId2"/>
              </a:rPr>
              <a:t>ietf</a:t>
            </a:r>
            <a:r>
              <a:rPr lang="en-US" sz="3200" dirty="0">
                <a:hlinkClick r:id="rId2"/>
              </a:rPr>
              <a:t>-</a:t>
            </a:r>
            <a:r>
              <a:rPr lang="en-US" sz="3200" dirty="0" err="1">
                <a:hlinkClick r:id="rId2"/>
              </a:rPr>
              <a:t>netconf</a:t>
            </a:r>
            <a:r>
              <a:rPr lang="en-US" sz="3200" dirty="0">
                <a:hlinkClick r:id="rId2"/>
              </a:rPr>
              <a:t>-list-pagination</a:t>
            </a:r>
            <a:r>
              <a:rPr lang="en-US" sz="3200" dirty="0"/>
              <a:t>: Meta Data</a:t>
            </a:r>
          </a:p>
        </p:txBody>
      </p:sp>
    </p:spTree>
    <p:extLst>
      <p:ext uri="{BB962C8B-B14F-4D97-AF65-F5344CB8AC3E}">
        <p14:creationId xmlns:p14="http://schemas.microsoft.com/office/powerpoint/2010/main" val="137192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781FC-7F87-5F38-1608-52833C3C8B3F}"/>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ABFAAAF-6C02-9949-1454-3A5DD0E9419A}"/>
              </a:ext>
            </a:extLst>
          </p:cNvPr>
          <p:cNvSpPr>
            <a:spLocks noGrp="1"/>
          </p:cNvSpPr>
          <p:nvPr>
            <p:ph sz="half" idx="2"/>
          </p:nvPr>
        </p:nvSpPr>
        <p:spPr>
          <a:xfrm>
            <a:off x="838200" y="1092200"/>
            <a:ext cx="10515600" cy="5084763"/>
          </a:xfrm>
        </p:spPr>
        <p:txBody>
          <a:bodyPr>
            <a:normAutofit/>
          </a:bodyPr>
          <a:lstStyle/>
          <a:p>
            <a:r>
              <a:rPr lang="en-US" sz="2000" dirty="0"/>
              <a:t>Keep the current list of mandatory APIs (needed for backwards compatibility)</a:t>
            </a:r>
          </a:p>
          <a:p>
            <a:r>
              <a:rPr lang="en-US" sz="2000" dirty="0"/>
              <a:t>Introduce the following optional APIs that support pagination</a:t>
            </a:r>
          </a:p>
          <a:p>
            <a:pPr lvl="1"/>
            <a:r>
              <a:rPr lang="en-US" sz="1600" dirty="0"/>
              <a:t>The APIs in </a:t>
            </a:r>
            <a:r>
              <a:rPr lang="en-US" sz="1600" dirty="0">
                <a:solidFill>
                  <a:srgbClr val="C00000"/>
                </a:solidFill>
              </a:rPr>
              <a:t>red</a:t>
            </a:r>
            <a:r>
              <a:rPr lang="en-US" sz="1600" dirty="0"/>
              <a:t> text are for sub-list items</a:t>
            </a:r>
          </a:p>
          <a:p>
            <a:r>
              <a:rPr lang="en-US" sz="2000" dirty="0"/>
              <a:t>Preserve the semantics of retrieving lists of objects in the context of their parent object</a:t>
            </a:r>
          </a:p>
          <a:p>
            <a:pPr lvl="1"/>
            <a:r>
              <a:rPr lang="en-US" sz="1600" dirty="0"/>
              <a:t>For example, NEPs will still have to be retrieved on a per-node basis, not across nodes</a:t>
            </a:r>
          </a:p>
        </p:txBody>
      </p:sp>
      <p:sp>
        <p:nvSpPr>
          <p:cNvPr id="11" name="Title 3">
            <a:extLst>
              <a:ext uri="{FF2B5EF4-FFF2-40B4-BE49-F238E27FC236}">
                <a16:creationId xmlns:a16="http://schemas.microsoft.com/office/drawing/2014/main" id="{3B6FBFFC-62F4-70E9-22C8-2EA996A62FA3}"/>
              </a:ext>
            </a:extLst>
          </p:cNvPr>
          <p:cNvSpPr>
            <a:spLocks noGrp="1"/>
          </p:cNvSpPr>
          <p:nvPr>
            <p:ph type="title"/>
          </p:nvPr>
        </p:nvSpPr>
        <p:spPr>
          <a:xfrm>
            <a:off x="838200" y="365125"/>
            <a:ext cx="10515600" cy="593725"/>
          </a:xfrm>
        </p:spPr>
        <p:txBody>
          <a:bodyPr>
            <a:normAutofit/>
          </a:bodyPr>
          <a:lstStyle/>
          <a:p>
            <a:r>
              <a:rPr lang="en-US" sz="3200" dirty="0"/>
              <a:t>Possible approach for pagination in TAPI</a:t>
            </a:r>
          </a:p>
        </p:txBody>
      </p:sp>
      <p:graphicFrame>
        <p:nvGraphicFramePr>
          <p:cNvPr id="2" name="Table 1">
            <a:extLst>
              <a:ext uri="{FF2B5EF4-FFF2-40B4-BE49-F238E27FC236}">
                <a16:creationId xmlns:a16="http://schemas.microsoft.com/office/drawing/2014/main" id="{C971963A-C1C8-352C-46E8-CDA9E814CBAB}"/>
              </a:ext>
            </a:extLst>
          </p:cNvPr>
          <p:cNvGraphicFramePr>
            <a:graphicFrameLocks noGrp="1"/>
          </p:cNvGraphicFramePr>
          <p:nvPr>
            <p:extLst>
              <p:ext uri="{D42A27DB-BD31-4B8C-83A1-F6EECF244321}">
                <p14:modId xmlns:p14="http://schemas.microsoft.com/office/powerpoint/2010/main" val="1074157441"/>
              </p:ext>
            </p:extLst>
          </p:nvPr>
        </p:nvGraphicFramePr>
        <p:xfrm>
          <a:off x="889000" y="2862962"/>
          <a:ext cx="9505950" cy="3498151"/>
        </p:xfrm>
        <a:graphic>
          <a:graphicData uri="http://schemas.openxmlformats.org/drawingml/2006/table">
            <a:tbl>
              <a:tblPr firstRow="1" firstCol="1" bandRow="1">
                <a:tableStyleId>{2D5ABB26-0587-4C30-8999-92F81FD0307C}</a:tableStyleId>
              </a:tblPr>
              <a:tblGrid>
                <a:gridCol w="6064250">
                  <a:extLst>
                    <a:ext uri="{9D8B030D-6E8A-4147-A177-3AD203B41FA5}">
                      <a16:colId xmlns:a16="http://schemas.microsoft.com/office/drawing/2014/main" val="1770450186"/>
                    </a:ext>
                  </a:extLst>
                </a:gridCol>
                <a:gridCol w="3441700">
                  <a:extLst>
                    <a:ext uri="{9D8B030D-6E8A-4147-A177-3AD203B41FA5}">
                      <a16:colId xmlns:a16="http://schemas.microsoft.com/office/drawing/2014/main" val="1004834748"/>
                    </a:ext>
                  </a:extLst>
                </a:gridCol>
              </a:tblGrid>
              <a:tr h="182880">
                <a:tc>
                  <a:txBody>
                    <a:bodyPr/>
                    <a:lstStyle/>
                    <a:p>
                      <a:pPr marL="0" marR="0" algn="just">
                        <a:lnSpc>
                          <a:spcPct val="115000"/>
                        </a:lnSpc>
                        <a:spcAft>
                          <a:spcPts val="800"/>
                        </a:spcAft>
                        <a:buNone/>
                      </a:pPr>
                      <a:r>
                        <a:rPr lang="en-US" sz="900" b="1" kern="0" dirty="0">
                          <a:solidFill>
                            <a:srgbClr val="147FD0"/>
                          </a:solidFill>
                          <a:effectLst/>
                          <a:latin typeface="Times New Roman" panose="02020603050405020304" pitchFamily="18" charset="0"/>
                          <a:cs typeface="Times New Roman" panose="02020603050405020304" pitchFamily="18" charset="0"/>
                        </a:rPr>
                        <a:t>API Entry</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b="1" kern="0" dirty="0">
                          <a:solidFill>
                            <a:srgbClr val="147FD0"/>
                          </a:solidFill>
                          <a:effectLst/>
                          <a:latin typeface="Times New Roman" panose="02020603050405020304" pitchFamily="18" charset="0"/>
                          <a:cs typeface="Times New Roman" panose="02020603050405020304" pitchFamily="18" charset="0"/>
                        </a:rPr>
                        <a:t>List involved in the GET</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193607150"/>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/tapi-common:context/service-interface-point</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SIP</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625835096"/>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tapi-topology:topology-context</a:t>
                      </a:r>
                      <a:r>
                        <a:rPr lang="en-US" sz="900" kern="0" dirty="0">
                          <a:solidFill>
                            <a:srgbClr val="000000"/>
                          </a:solidFill>
                          <a:effectLst/>
                          <a:latin typeface="Times New Roman" panose="02020603050405020304" pitchFamily="18" charset="0"/>
                          <a:cs typeface="Times New Roman" panose="02020603050405020304" pitchFamily="18" charset="0"/>
                        </a:rPr>
                        <a:t>/topology={</a:t>
                      </a:r>
                      <a:r>
                        <a:rPr lang="en-US" sz="900" kern="0" dirty="0" err="1">
                          <a:solidFill>
                            <a:srgbClr val="000000"/>
                          </a:solidFill>
                          <a:effectLst/>
                          <a:latin typeface="Times New Roman" panose="02020603050405020304" pitchFamily="18" charset="0"/>
                          <a:cs typeface="Times New Roman" panose="02020603050405020304" pitchFamily="18" charset="0"/>
                        </a:rPr>
                        <a:t>uuid</a:t>
                      </a:r>
                      <a:r>
                        <a:rPr lang="en-US" sz="900" kern="0" dirty="0">
                          <a:solidFill>
                            <a:srgbClr val="000000"/>
                          </a:solidFill>
                          <a:effectLst/>
                          <a:latin typeface="Times New Roman" panose="02020603050405020304" pitchFamily="18" charset="0"/>
                          <a:cs typeface="Times New Roman" panose="02020603050405020304" pitchFamily="18" charset="0"/>
                        </a:rPr>
                        <a:t>}/node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Node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967019964"/>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tapi-topology:topology-context</a:t>
                      </a:r>
                      <a:r>
                        <a:rPr lang="en-US" sz="900" kern="0" dirty="0">
                          <a:solidFill>
                            <a:srgbClr val="000000"/>
                          </a:solidFill>
                          <a:effectLst/>
                          <a:latin typeface="Times New Roman" panose="02020603050405020304" pitchFamily="18" charset="0"/>
                          <a:cs typeface="Times New Roman" panose="02020603050405020304" pitchFamily="18" charset="0"/>
                        </a:rPr>
                        <a:t>/topology={</a:t>
                      </a:r>
                      <a:r>
                        <a:rPr lang="en-US" sz="900" kern="0" dirty="0" err="1">
                          <a:solidFill>
                            <a:srgbClr val="000000"/>
                          </a:solidFill>
                          <a:effectLst/>
                          <a:latin typeface="Times New Roman" panose="02020603050405020304" pitchFamily="18" charset="0"/>
                          <a:cs typeface="Times New Roman" panose="02020603050405020304" pitchFamily="18" charset="0"/>
                        </a:rPr>
                        <a:t>uuid</a:t>
                      </a:r>
                      <a:r>
                        <a:rPr lang="en-US" sz="900" kern="0" dirty="0">
                          <a:solidFill>
                            <a:srgbClr val="000000"/>
                          </a:solidFill>
                          <a:effectLst/>
                          <a:latin typeface="Times New Roman" panose="02020603050405020304" pitchFamily="18" charset="0"/>
                          <a:cs typeface="Times New Roman" panose="02020603050405020304" pitchFamily="18" charset="0"/>
                        </a:rPr>
                        <a:t>}/link</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Link</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421769452"/>
                  </a:ext>
                </a:extLst>
              </a:tr>
              <a:tr h="182880">
                <a:tc>
                  <a:txBody>
                    <a:bodyPr/>
                    <a:lstStyle/>
                    <a:p>
                      <a:pPr marL="0" marR="0" algn="just">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C00000"/>
                          </a:solidFill>
                          <a:effectLst/>
                          <a:latin typeface="Times New Roman" panose="02020603050405020304" pitchFamily="18" charset="0"/>
                          <a:cs typeface="Times New Roman" panose="02020603050405020304" pitchFamily="18" charset="0"/>
                        </a:rPr>
                        <a:t>tapi-topology:topology-context</a:t>
                      </a:r>
                      <a:r>
                        <a:rPr lang="en-US" sz="900" kern="0" dirty="0">
                          <a:solidFill>
                            <a:srgbClr val="C00000"/>
                          </a:solidFill>
                          <a:effectLst/>
                          <a:latin typeface="Times New Roman" panose="02020603050405020304" pitchFamily="18" charset="0"/>
                          <a:cs typeface="Times New Roman" panose="02020603050405020304" pitchFamily="18" charset="0"/>
                        </a:rPr>
                        <a:t>/topology={uuid}/node={</a:t>
                      </a:r>
                      <a:r>
                        <a:rPr lang="en-US" sz="900" kern="0" dirty="0" err="1">
                          <a:solidFill>
                            <a:srgbClr val="C00000"/>
                          </a:solidFill>
                          <a:effectLst/>
                          <a:latin typeface="Times New Roman" panose="02020603050405020304" pitchFamily="18" charset="0"/>
                          <a:cs typeface="Times New Roman" panose="02020603050405020304" pitchFamily="18" charset="0"/>
                        </a:rPr>
                        <a:t>uuid</a:t>
                      </a:r>
                      <a:r>
                        <a:rPr lang="en-US" sz="900" kern="0" dirty="0">
                          <a:solidFill>
                            <a:srgbClr val="C00000"/>
                          </a:solidFill>
                          <a:effectLst/>
                          <a:latin typeface="Times New Roman" panose="02020603050405020304" pitchFamily="18" charset="0"/>
                          <a:cs typeface="Times New Roman" panose="02020603050405020304" pitchFamily="18" charset="0"/>
                        </a:rPr>
                        <a:t>}/owned-node-edge-point</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NEP</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093771681"/>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tapi-connectivity:connectivity-context</a:t>
                      </a:r>
                      <a:r>
                        <a:rPr lang="en-US" sz="900" kern="0" dirty="0">
                          <a:solidFill>
                            <a:srgbClr val="000000"/>
                          </a:solidFill>
                          <a:effectLst/>
                          <a:latin typeface="Times New Roman" panose="02020603050405020304" pitchFamily="18" charset="0"/>
                          <a:cs typeface="Times New Roman" panose="02020603050405020304" pitchFamily="18" charset="0"/>
                        </a:rPr>
                        <a:t>/connectivity-service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Connectivity-service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333831666"/>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tapi-connectivity:connectivity-context</a:t>
                      </a:r>
                      <a:r>
                        <a:rPr lang="en-US" sz="900" kern="0" dirty="0">
                          <a:solidFill>
                            <a:srgbClr val="000000"/>
                          </a:solidFill>
                          <a:effectLst/>
                          <a:latin typeface="Times New Roman" panose="02020603050405020304" pitchFamily="18" charset="0"/>
                          <a:cs typeface="Times New Roman" panose="02020603050405020304" pitchFamily="18" charset="0"/>
                        </a:rPr>
                        <a:t>/connection</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Connection</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963275070"/>
                  </a:ext>
                </a:extLst>
              </a:tr>
              <a:tr h="182880">
                <a:tc>
                  <a:txBody>
                    <a:bodyPr/>
                    <a:lstStyle/>
                    <a:p>
                      <a:pPr marL="0" marR="0" algn="just">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C00000"/>
                          </a:solidFill>
                          <a:effectLst/>
                          <a:latin typeface="Times New Roman" panose="02020603050405020304" pitchFamily="18" charset="0"/>
                          <a:cs typeface="Times New Roman" panose="02020603050405020304" pitchFamily="18" charset="0"/>
                        </a:rPr>
                        <a:t>tapi-connectivity:connectivity-context</a:t>
                      </a:r>
                      <a:r>
                        <a:rPr lang="en-US" sz="900" kern="0" dirty="0">
                          <a:solidFill>
                            <a:srgbClr val="C00000"/>
                          </a:solidFill>
                          <a:effectLst/>
                          <a:latin typeface="Times New Roman" panose="02020603050405020304" pitchFamily="18" charset="0"/>
                          <a:cs typeface="Times New Roman" panose="02020603050405020304" pitchFamily="18" charset="0"/>
                        </a:rPr>
                        <a:t>/connectivity-service={</a:t>
                      </a:r>
                      <a:r>
                        <a:rPr lang="en-US" sz="900" kern="0" dirty="0" err="1">
                          <a:solidFill>
                            <a:srgbClr val="C00000"/>
                          </a:solidFill>
                          <a:effectLst/>
                          <a:latin typeface="Times New Roman" panose="02020603050405020304" pitchFamily="18" charset="0"/>
                          <a:cs typeface="Times New Roman" panose="02020603050405020304" pitchFamily="18" charset="0"/>
                        </a:rPr>
                        <a:t>uuid</a:t>
                      </a:r>
                      <a:r>
                        <a:rPr lang="en-US" sz="900" kern="0" dirty="0">
                          <a:solidFill>
                            <a:srgbClr val="C00000"/>
                          </a:solidFill>
                          <a:effectLst/>
                          <a:latin typeface="Times New Roman" panose="02020603050405020304" pitchFamily="18" charset="0"/>
                          <a:cs typeface="Times New Roman" panose="02020603050405020304" pitchFamily="18" charset="0"/>
                        </a:rPr>
                        <a:t>}/connection</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Connections used by a given connectivity-service</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399116964"/>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tapi-equipment:physical-context</a:t>
                      </a:r>
                      <a:r>
                        <a:rPr lang="en-US" sz="900" kern="0" dirty="0">
                          <a:solidFill>
                            <a:srgbClr val="000000"/>
                          </a:solidFill>
                          <a:effectLst/>
                          <a:latin typeface="Times New Roman" panose="02020603050405020304" pitchFamily="18" charset="0"/>
                          <a:cs typeface="Times New Roman" panose="02020603050405020304" pitchFamily="18" charset="0"/>
                        </a:rPr>
                        <a:t>/device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Device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277314104"/>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tapi-equipment:physical-context</a:t>
                      </a:r>
                      <a:r>
                        <a:rPr lang="en-US" sz="900" kern="0" dirty="0">
                          <a:solidFill>
                            <a:srgbClr val="000000"/>
                          </a:solidFill>
                          <a:effectLst/>
                          <a:latin typeface="Times New Roman" panose="02020603050405020304" pitchFamily="18" charset="0"/>
                          <a:cs typeface="Times New Roman" panose="02020603050405020304" pitchFamily="18" charset="0"/>
                        </a:rPr>
                        <a:t>/physical-span</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a:solidFill>
                            <a:srgbClr val="000000"/>
                          </a:solidFill>
                          <a:effectLst/>
                          <a:latin typeface="Times New Roman" panose="02020603050405020304" pitchFamily="18" charset="0"/>
                          <a:cs typeface="Times New Roman" panose="02020603050405020304" pitchFamily="18" charset="0"/>
                        </a:rPr>
                        <a:t>Physical-span</a:t>
                      </a:r>
                      <a:endParaRPr lang="en-US" sz="1200" kern="10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519793800"/>
                  </a:ext>
                </a:extLst>
              </a:tr>
              <a:tr h="182880">
                <a:tc>
                  <a:txBody>
                    <a:bodyPr/>
                    <a:lstStyle/>
                    <a:p>
                      <a:pPr marL="0" marR="0" algn="just">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C00000"/>
                          </a:solidFill>
                          <a:effectLst/>
                          <a:latin typeface="Times New Roman" panose="02020603050405020304" pitchFamily="18" charset="0"/>
                          <a:cs typeface="Times New Roman" panose="02020603050405020304" pitchFamily="18" charset="0"/>
                        </a:rPr>
                        <a:t>tapi-equipment:physical-context</a:t>
                      </a:r>
                      <a:r>
                        <a:rPr lang="en-US" sz="900" kern="0" dirty="0">
                          <a:solidFill>
                            <a:srgbClr val="C00000"/>
                          </a:solidFill>
                          <a:effectLst/>
                          <a:latin typeface="Times New Roman" panose="02020603050405020304" pitchFamily="18" charset="0"/>
                          <a:cs typeface="Times New Roman" panose="02020603050405020304" pitchFamily="18" charset="0"/>
                        </a:rPr>
                        <a:t>/device={</a:t>
                      </a:r>
                      <a:r>
                        <a:rPr lang="en-US" sz="900" kern="0" dirty="0" err="1">
                          <a:solidFill>
                            <a:srgbClr val="C00000"/>
                          </a:solidFill>
                          <a:effectLst/>
                          <a:latin typeface="Times New Roman" panose="02020603050405020304" pitchFamily="18" charset="0"/>
                          <a:cs typeface="Times New Roman" panose="02020603050405020304" pitchFamily="18" charset="0"/>
                        </a:rPr>
                        <a:t>uuid</a:t>
                      </a:r>
                      <a:r>
                        <a:rPr lang="en-US" sz="900" kern="0" dirty="0">
                          <a:solidFill>
                            <a:srgbClr val="C00000"/>
                          </a:solidFill>
                          <a:effectLst/>
                          <a:latin typeface="Times New Roman" panose="02020603050405020304" pitchFamily="18" charset="0"/>
                          <a:cs typeface="Times New Roman" panose="02020603050405020304" pitchFamily="18" charset="0"/>
                        </a:rPr>
                        <a:t>}/equipment</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Equipment within a Device</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713625091"/>
                  </a:ext>
                </a:extLst>
              </a:tr>
              <a:tr h="182880">
                <a:tc>
                  <a:txBody>
                    <a:bodyPr/>
                    <a:lstStyle/>
                    <a:p>
                      <a:pPr marL="0" marR="0" algn="just">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C00000"/>
                          </a:solidFill>
                          <a:effectLst/>
                          <a:latin typeface="Times New Roman" panose="02020603050405020304" pitchFamily="18" charset="0"/>
                          <a:cs typeface="Times New Roman" panose="02020603050405020304" pitchFamily="18" charset="0"/>
                        </a:rPr>
                        <a:t>tapi-equipment:physical-context</a:t>
                      </a:r>
                      <a:r>
                        <a:rPr lang="en-US" sz="900" kern="0" dirty="0">
                          <a:solidFill>
                            <a:srgbClr val="C00000"/>
                          </a:solidFill>
                          <a:effectLst/>
                          <a:latin typeface="Times New Roman" panose="02020603050405020304" pitchFamily="18" charset="0"/>
                          <a:cs typeface="Times New Roman" panose="02020603050405020304" pitchFamily="18" charset="0"/>
                        </a:rPr>
                        <a:t>/device={</a:t>
                      </a:r>
                      <a:r>
                        <a:rPr lang="en-US" sz="900" kern="0" dirty="0" err="1">
                          <a:solidFill>
                            <a:srgbClr val="C00000"/>
                          </a:solidFill>
                          <a:effectLst/>
                          <a:latin typeface="Times New Roman" panose="02020603050405020304" pitchFamily="18" charset="0"/>
                          <a:cs typeface="Times New Roman" panose="02020603050405020304" pitchFamily="18" charset="0"/>
                        </a:rPr>
                        <a:t>uuid</a:t>
                      </a:r>
                      <a:r>
                        <a:rPr lang="en-US" sz="900" kern="0" dirty="0">
                          <a:solidFill>
                            <a:srgbClr val="C00000"/>
                          </a:solidFill>
                          <a:effectLst/>
                          <a:latin typeface="Times New Roman" panose="02020603050405020304" pitchFamily="18" charset="0"/>
                          <a:cs typeface="Times New Roman" panose="02020603050405020304" pitchFamily="18" charset="0"/>
                        </a:rPr>
                        <a:t>}/access-port</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rPr>
                        <a:t>Access ports within a Device</a:t>
                      </a:r>
                    </a:p>
                  </a:txBody>
                  <a:tcPr marL="67602" marR="67602" marT="0" marB="0"/>
                </a:tc>
                <a:extLst>
                  <a:ext uri="{0D108BD9-81ED-4DB2-BD59-A6C34878D82A}">
                    <a16:rowId xmlns:a16="http://schemas.microsoft.com/office/drawing/2014/main" val="3869887428"/>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/tapi-common:context/profile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Profile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944219510"/>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a:t>
                      </a:r>
                      <a:r>
                        <a:rPr lang="en-US" sz="900" kern="0" dirty="0">
                          <a:solidFill>
                            <a:srgbClr val="000000"/>
                          </a:solidFill>
                          <a:effectLst/>
                          <a:latin typeface="Times New Roman" panose="02020603050405020304" pitchFamily="18" charset="0"/>
                          <a:cs typeface="Times New Roman" panose="02020603050405020304" pitchFamily="18" charset="0"/>
                        </a:rPr>
                        <a:t>/oam-service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Oam-service</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255261508"/>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a:t>
                      </a:r>
                      <a:r>
                        <a:rPr lang="en-US" sz="900" kern="0" dirty="0">
                          <a:solidFill>
                            <a:srgbClr val="000000"/>
                          </a:solidFill>
                          <a:effectLst/>
                          <a:latin typeface="Times New Roman" panose="02020603050405020304" pitchFamily="18" charset="0"/>
                          <a:cs typeface="Times New Roman" panose="02020603050405020304" pitchFamily="18" charset="0"/>
                        </a:rPr>
                        <a:t>/oam-job</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Oam-job</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3574216071"/>
                  </a:ext>
                </a:extLst>
              </a:tr>
              <a:tr h="182880">
                <a:tc>
                  <a:txBody>
                    <a:bodyPr/>
                    <a:lstStyle/>
                    <a:p>
                      <a:pPr marL="0" marR="0" algn="just">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000000"/>
                          </a:solidFill>
                          <a:effectLst/>
                          <a:latin typeface="Times New Roman" panose="02020603050405020304" pitchFamily="18" charset="0"/>
                          <a:cs typeface="Times New Roman" panose="02020603050405020304" pitchFamily="18" charset="0"/>
                        </a:rPr>
                        <a:t>tapi-oam:oam-context</a:t>
                      </a:r>
                      <a:r>
                        <a:rPr lang="en-US" sz="900" kern="0" dirty="0">
                          <a:solidFill>
                            <a:srgbClr val="000000"/>
                          </a:solidFill>
                          <a:effectLst/>
                          <a:latin typeface="Times New Roman" panose="02020603050405020304" pitchFamily="18" charset="0"/>
                          <a:cs typeface="Times New Roman" panose="02020603050405020304" pitchFamily="18" charset="0"/>
                        </a:rPr>
                        <a:t>/meg</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000000"/>
                          </a:solidFill>
                          <a:effectLst/>
                          <a:latin typeface="Times New Roman" panose="02020603050405020304" pitchFamily="18" charset="0"/>
                          <a:cs typeface="Times New Roman" panose="02020603050405020304" pitchFamily="18" charset="0"/>
                        </a:rPr>
                        <a:t>MEG</a:t>
                      </a:r>
                      <a:endParaRPr lang="en-US" sz="1200" kern="100" dirty="0">
                        <a:solidFill>
                          <a:srgbClr val="147FD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4113842878"/>
                  </a:ext>
                </a:extLst>
              </a:tr>
              <a:tr h="182880">
                <a:tc>
                  <a:txBody>
                    <a:bodyPr/>
                    <a:lstStyle/>
                    <a:p>
                      <a:pPr marL="0" marR="0" algn="just">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C00000"/>
                          </a:solidFill>
                          <a:effectLst/>
                          <a:latin typeface="Times New Roman" panose="02020603050405020304" pitchFamily="18" charset="0"/>
                          <a:cs typeface="Times New Roman" panose="02020603050405020304" pitchFamily="18" charset="0"/>
                        </a:rPr>
                        <a:t>tapi-oam:oam-context</a:t>
                      </a:r>
                      <a:r>
                        <a:rPr lang="en-US" sz="900" kern="0" dirty="0">
                          <a:solidFill>
                            <a:srgbClr val="C00000"/>
                          </a:solidFill>
                          <a:effectLst/>
                          <a:latin typeface="Times New Roman" panose="02020603050405020304" pitchFamily="18" charset="0"/>
                          <a:cs typeface="Times New Roman" panose="02020603050405020304" pitchFamily="18" charset="0"/>
                        </a:rPr>
                        <a:t>/meg={{</a:t>
                      </a:r>
                      <a:r>
                        <a:rPr lang="en-US" sz="900" kern="0" dirty="0" err="1">
                          <a:solidFill>
                            <a:srgbClr val="C00000"/>
                          </a:solidFill>
                          <a:effectLst/>
                          <a:latin typeface="Times New Roman" panose="02020603050405020304" pitchFamily="18" charset="0"/>
                          <a:cs typeface="Times New Roman" panose="02020603050405020304" pitchFamily="18" charset="0"/>
                        </a:rPr>
                        <a:t>uuid</a:t>
                      </a:r>
                      <a:r>
                        <a:rPr lang="en-US" sz="900" kern="0" dirty="0">
                          <a:solidFill>
                            <a:srgbClr val="C00000"/>
                          </a:solidFill>
                          <a:effectLst/>
                          <a:latin typeface="Times New Roman" panose="02020603050405020304" pitchFamily="18" charset="0"/>
                          <a:cs typeface="Times New Roman" panose="02020603050405020304" pitchFamily="18" charset="0"/>
                        </a:rPr>
                        <a:t>}}/</a:t>
                      </a:r>
                      <a:r>
                        <a:rPr lang="en-US" sz="900" kern="0" dirty="0" err="1">
                          <a:solidFill>
                            <a:srgbClr val="C00000"/>
                          </a:solidFill>
                          <a:effectLst/>
                          <a:latin typeface="Times New Roman" panose="02020603050405020304" pitchFamily="18" charset="0"/>
                          <a:cs typeface="Times New Roman" panose="02020603050405020304" pitchFamily="18" charset="0"/>
                        </a:rPr>
                        <a:t>mep</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MEPs under a MEG</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1700411627"/>
                  </a:ext>
                </a:extLst>
              </a:tr>
              <a:tr h="182880">
                <a:tc>
                  <a:txBody>
                    <a:bodyPr/>
                    <a:lstStyle/>
                    <a:p>
                      <a:pPr marL="0" marR="0" algn="just">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/tapi-common:context/</a:t>
                      </a:r>
                      <a:r>
                        <a:rPr lang="en-US" sz="900" kern="0" dirty="0" err="1">
                          <a:solidFill>
                            <a:srgbClr val="C00000"/>
                          </a:solidFill>
                          <a:effectLst/>
                          <a:latin typeface="Times New Roman" panose="02020603050405020304" pitchFamily="18" charset="0"/>
                          <a:cs typeface="Times New Roman" panose="02020603050405020304" pitchFamily="18" charset="0"/>
                        </a:rPr>
                        <a:t>tapi-oam:oam-context</a:t>
                      </a:r>
                      <a:r>
                        <a:rPr lang="en-US" sz="900" kern="0" dirty="0">
                          <a:solidFill>
                            <a:srgbClr val="C00000"/>
                          </a:solidFill>
                          <a:effectLst/>
                          <a:latin typeface="Times New Roman" panose="02020603050405020304" pitchFamily="18" charset="0"/>
                          <a:cs typeface="Times New Roman" panose="02020603050405020304" pitchFamily="18" charset="0"/>
                        </a:rPr>
                        <a:t>/meg={{</a:t>
                      </a:r>
                      <a:r>
                        <a:rPr lang="en-US" sz="900" kern="0" dirty="0" err="1">
                          <a:solidFill>
                            <a:srgbClr val="C00000"/>
                          </a:solidFill>
                          <a:effectLst/>
                          <a:latin typeface="Times New Roman" panose="02020603050405020304" pitchFamily="18" charset="0"/>
                          <a:cs typeface="Times New Roman" panose="02020603050405020304" pitchFamily="18" charset="0"/>
                        </a:rPr>
                        <a:t>uuid</a:t>
                      </a:r>
                      <a:r>
                        <a:rPr lang="en-US" sz="900" kern="0" dirty="0">
                          <a:solidFill>
                            <a:srgbClr val="C00000"/>
                          </a:solidFill>
                          <a:effectLst/>
                          <a:latin typeface="Times New Roman" panose="02020603050405020304" pitchFamily="18" charset="0"/>
                          <a:cs typeface="Times New Roman" panose="02020603050405020304" pitchFamily="18" charset="0"/>
                        </a:rPr>
                        <a:t>}}/</a:t>
                      </a:r>
                      <a:r>
                        <a:rPr lang="en-US" sz="900" kern="0" dirty="0" err="1">
                          <a:solidFill>
                            <a:srgbClr val="C00000"/>
                          </a:solidFill>
                          <a:effectLst/>
                          <a:latin typeface="Times New Roman" panose="02020603050405020304" pitchFamily="18" charset="0"/>
                          <a:cs typeface="Times New Roman" panose="02020603050405020304" pitchFamily="18" charset="0"/>
                        </a:rPr>
                        <a:t>mip</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tc>
                  <a:txBody>
                    <a:bodyPr/>
                    <a:lstStyle/>
                    <a:p>
                      <a:pPr marL="0" marR="0" algn="l">
                        <a:lnSpc>
                          <a:spcPct val="115000"/>
                        </a:lnSpc>
                        <a:spcAft>
                          <a:spcPts val="800"/>
                        </a:spcAft>
                        <a:buNone/>
                      </a:pPr>
                      <a:r>
                        <a:rPr lang="en-US" sz="900" kern="0" dirty="0">
                          <a:solidFill>
                            <a:srgbClr val="C00000"/>
                          </a:solidFill>
                          <a:effectLst/>
                          <a:latin typeface="Times New Roman" panose="02020603050405020304" pitchFamily="18" charset="0"/>
                          <a:cs typeface="Times New Roman" panose="02020603050405020304" pitchFamily="18" charset="0"/>
                        </a:rPr>
                        <a:t>MIPs under a MEG</a:t>
                      </a:r>
                      <a:endParaRPr lang="en-US" sz="1200" kern="100" dirty="0">
                        <a:solidFill>
                          <a:srgbClr val="C00000"/>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7602" marR="67602" marT="0" marB="0"/>
                </a:tc>
                <a:extLst>
                  <a:ext uri="{0D108BD9-81ED-4DB2-BD59-A6C34878D82A}">
                    <a16:rowId xmlns:a16="http://schemas.microsoft.com/office/drawing/2014/main" val="2519796431"/>
                  </a:ext>
                </a:extLst>
              </a:tr>
              <a:tr h="206311">
                <a:tc>
                  <a:txBody>
                    <a:bodyPr/>
                    <a:lstStyle/>
                    <a:p>
                      <a:pPr marL="0" marR="0" algn="just">
                        <a:lnSpc>
                          <a:spcPct val="115000"/>
                        </a:lnSpc>
                        <a:spcAft>
                          <a:spcPts val="800"/>
                        </a:spcAft>
                        <a:buNone/>
                      </a:pPr>
                      <a:r>
                        <a:rPr lang="en-US" sz="9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/tapi-common:</a:t>
                      </a:r>
                      <a:r>
                        <a:rPr lang="en-US" sz="900" kern="0" dirty="0">
                          <a:solidFill>
                            <a:schemeClr val="tx1"/>
                          </a:solidFill>
                          <a:effectLst/>
                          <a:latin typeface="Times New Roman" panose="02020603050405020304" pitchFamily="18" charset="0"/>
                          <a:ea typeface="+mn-ea"/>
                          <a:cs typeface="Times New Roman" panose="02020603050405020304" pitchFamily="18" charset="0"/>
                        </a:rPr>
                        <a:t>context</a:t>
                      </a:r>
                      <a:r>
                        <a:rPr lang="en-US" sz="9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r>
                        <a:rPr lang="en-US" sz="900" kern="100" dirty="0" err="1">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tapi-fm:fault-management-context</a:t>
                      </a:r>
                      <a:r>
                        <a:rPr lang="en-US" sz="9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/active-condition</a:t>
                      </a:r>
                    </a:p>
                  </a:txBody>
                  <a:tcPr marL="67602" marR="67602" marT="0" marB="0"/>
                </a:tc>
                <a:tc>
                  <a:txBody>
                    <a:bodyPr/>
                    <a:lstStyle/>
                    <a:p>
                      <a:pPr marL="0" marR="0" algn="l">
                        <a:lnSpc>
                          <a:spcPct val="115000"/>
                        </a:lnSpc>
                        <a:spcAft>
                          <a:spcPts val="800"/>
                        </a:spcAft>
                        <a:buNone/>
                      </a:pPr>
                      <a:r>
                        <a:rPr lang="en-US" sz="9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Active conditions</a:t>
                      </a:r>
                    </a:p>
                  </a:txBody>
                  <a:tcPr marL="67602" marR="67602" marT="0" marB="0"/>
                </a:tc>
                <a:extLst>
                  <a:ext uri="{0D108BD9-81ED-4DB2-BD59-A6C34878D82A}">
                    <a16:rowId xmlns:a16="http://schemas.microsoft.com/office/drawing/2014/main" val="969832689"/>
                  </a:ext>
                </a:extLst>
              </a:tr>
            </a:tbl>
          </a:graphicData>
        </a:graphic>
      </p:graphicFrame>
    </p:spTree>
    <p:extLst>
      <p:ext uri="{BB962C8B-B14F-4D97-AF65-F5344CB8AC3E}">
        <p14:creationId xmlns:p14="http://schemas.microsoft.com/office/powerpoint/2010/main" val="3979824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7B873-0FD7-E6ED-DCA0-FF49F23CC70A}"/>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BA0AEB7-D6C8-C385-0382-B4F5B61B7FE9}"/>
              </a:ext>
            </a:extLst>
          </p:cNvPr>
          <p:cNvSpPr>
            <a:spLocks noGrp="1"/>
          </p:cNvSpPr>
          <p:nvPr>
            <p:ph sz="half" idx="2"/>
          </p:nvPr>
        </p:nvSpPr>
        <p:spPr>
          <a:xfrm>
            <a:off x="838200" y="1092200"/>
            <a:ext cx="4241800" cy="5084763"/>
          </a:xfrm>
        </p:spPr>
        <p:txBody>
          <a:bodyPr>
            <a:normAutofit/>
          </a:bodyPr>
          <a:lstStyle/>
          <a:p>
            <a:pPr marL="0" indent="0">
              <a:buNone/>
            </a:pPr>
            <a:r>
              <a:rPr lang="en-US" sz="1000" dirty="0">
                <a:solidFill>
                  <a:srgbClr val="C00000"/>
                </a:solidFill>
                <a:latin typeface="Consolas" panose="020B0609020204030204" pitchFamily="49" charset="0"/>
              </a:rPr>
              <a:t>PAGING with cursor</a:t>
            </a:r>
          </a:p>
          <a:p>
            <a:pPr marL="0" indent="0">
              <a:buNone/>
            </a:pPr>
            <a:r>
              <a:rPr lang="en-US" sz="1000" dirty="0">
                <a:latin typeface="Consolas" panose="020B0609020204030204" pitchFamily="49" charset="0"/>
              </a:rPr>
              <a:t>GET /</a:t>
            </a:r>
            <a:r>
              <a:rPr lang="en-US" sz="1000" dirty="0" err="1">
                <a:latin typeface="Consolas" panose="020B0609020204030204" pitchFamily="49" charset="0"/>
              </a:rPr>
              <a:t>restconf</a:t>
            </a:r>
            <a:r>
              <a:rPr lang="en-US" sz="1000" dirty="0">
                <a:latin typeface="Consolas" panose="020B0609020204030204" pitchFamily="49" charset="0"/>
              </a:rPr>
              <a:t>/data/tapi-common:context/</a:t>
            </a:r>
            <a:r>
              <a:rPr lang="en-US" sz="1000" dirty="0" err="1">
                <a:latin typeface="Consolas" panose="020B0609020204030204" pitchFamily="49" charset="0"/>
              </a:rPr>
              <a:t>tapi-topology:topology-context</a:t>
            </a:r>
            <a:r>
              <a:rPr lang="en-US" sz="1000" dirty="0">
                <a:latin typeface="Consolas" panose="020B0609020204030204" pitchFamily="49" charset="0"/>
              </a:rPr>
              <a:t>/topology={</a:t>
            </a:r>
            <a:r>
              <a:rPr lang="en-US" sz="1000" dirty="0" err="1">
                <a:latin typeface="Consolas" panose="020B0609020204030204" pitchFamily="49" charset="0"/>
              </a:rPr>
              <a:t>uuid</a:t>
            </a:r>
            <a:r>
              <a:rPr lang="en-US" sz="1000" dirty="0">
                <a:latin typeface="Consolas" panose="020B0609020204030204" pitchFamily="49" charset="0"/>
              </a:rPr>
              <a:t>}/node</a:t>
            </a:r>
            <a:br>
              <a:rPr lang="en-US" sz="1000" dirty="0">
                <a:latin typeface="Consolas" panose="020B0609020204030204" pitchFamily="49" charset="0"/>
              </a:rPr>
            </a:br>
            <a:r>
              <a:rPr lang="en-US" sz="1000" dirty="0">
                <a:latin typeface="Consolas" panose="020B0609020204030204" pitchFamily="49" charset="0"/>
              </a:rPr>
              <a:t>?limit=2&amp;cursor=</a:t>
            </a:r>
          </a:p>
          <a:p>
            <a:pPr marL="0" indent="0">
              <a:buNone/>
            </a:pPr>
            <a:r>
              <a:rPr lang="en-US" sz="1000" dirty="0">
                <a:latin typeface="Consolas" panose="020B0609020204030204" pitchFamily="49" charset="0"/>
              </a:rPr>
              <a:t>{</a:t>
            </a:r>
            <a:br>
              <a:rPr lang="en-US" sz="1000" dirty="0">
                <a:latin typeface="Consolas" panose="020B0609020204030204" pitchFamily="49" charset="0"/>
              </a:rPr>
            </a:br>
            <a:r>
              <a:rPr lang="en-US" sz="1000" dirty="0">
                <a:latin typeface="Consolas" panose="020B0609020204030204" pitchFamily="49" charset="0"/>
              </a:rPr>
              <a:t>  "</a:t>
            </a:r>
            <a:r>
              <a:rPr lang="en-US" sz="1000" dirty="0" err="1">
                <a:latin typeface="Consolas" panose="020B0609020204030204" pitchFamily="49" charset="0"/>
              </a:rPr>
              <a:t>tapi-topology:topology</a:t>
            </a: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"node":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&lt;node-data-1&gt;</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&lt;node-data-2&gt;</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 </a:t>
            </a:r>
            <a:br>
              <a:rPr lang="en-US" sz="1000" dirty="0">
                <a:latin typeface="Consolas" panose="020B0609020204030204" pitchFamily="49" charset="0"/>
              </a:rPr>
            </a:br>
            <a:r>
              <a:rPr lang="en-US" sz="1000" dirty="0">
                <a:latin typeface="Consolas" panose="020B0609020204030204" pitchFamily="49" charset="0"/>
              </a:rPr>
              <a:t>      </a:t>
            </a:r>
            <a:r>
              <a:rPr lang="en-US" sz="1000" dirty="0">
                <a:solidFill>
                  <a:schemeClr val="accent5">
                    <a:lumMod val="60000"/>
                    <a:lumOff val="40000"/>
                  </a:schemeClr>
                </a:solidFill>
                <a:latin typeface="Consolas" panose="020B0609020204030204" pitchFamily="49" charset="0"/>
              </a:rPr>
              <a:t>“@”: [</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r>
              <a:rPr lang="en-US" sz="1000" dirty="0" err="1">
                <a:solidFill>
                  <a:schemeClr val="accent5">
                    <a:lumMod val="60000"/>
                    <a:lumOff val="40000"/>
                  </a:schemeClr>
                </a:solidFill>
                <a:latin typeface="Consolas" panose="020B0609020204030204" pitchFamily="49" charset="0"/>
              </a:rPr>
              <a:t>ietf-list-pagination:remaining</a:t>
            </a:r>
            <a:r>
              <a:rPr lang="en-US" sz="1000" dirty="0">
                <a:solidFill>
                  <a:schemeClr val="accent5">
                    <a:lumMod val="60000"/>
                    <a:lumOff val="40000"/>
                  </a:schemeClr>
                </a:solidFill>
                <a:latin typeface="Consolas" panose="020B0609020204030204" pitchFamily="49" charset="0"/>
              </a:rPr>
              <a:t>": 8,</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r>
              <a:rPr lang="en-US" sz="1000" dirty="0" err="1">
                <a:solidFill>
                  <a:schemeClr val="accent5">
                    <a:lumMod val="60000"/>
                    <a:lumOff val="40000"/>
                  </a:schemeClr>
                </a:solidFill>
                <a:latin typeface="Consolas" panose="020B0609020204030204" pitchFamily="49" charset="0"/>
              </a:rPr>
              <a:t>ietf-list-pagination:previous</a:t>
            </a:r>
            <a:r>
              <a:rPr lang="en-US" sz="1000" dirty="0">
                <a:solidFill>
                  <a:schemeClr val="accent5">
                    <a:lumMod val="60000"/>
                    <a:lumOff val="40000"/>
                  </a:schemeClr>
                </a:solidFill>
                <a:latin typeface="Consolas" panose="020B0609020204030204" pitchFamily="49" charset="0"/>
              </a:rPr>
              <a:t>": "",</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r>
              <a:rPr lang="en-US" sz="1000" dirty="0" err="1">
                <a:solidFill>
                  <a:schemeClr val="accent5">
                    <a:lumMod val="60000"/>
                    <a:lumOff val="40000"/>
                  </a:schemeClr>
                </a:solidFill>
                <a:latin typeface="Consolas" panose="020B0609020204030204" pitchFamily="49" charset="0"/>
              </a:rPr>
              <a:t>ietf-list-pagination:next</a:t>
            </a:r>
            <a:r>
              <a:rPr lang="en-US" sz="1000" dirty="0">
                <a:solidFill>
                  <a:schemeClr val="accent5">
                    <a:lumMod val="60000"/>
                    <a:lumOff val="40000"/>
                  </a:schemeClr>
                </a:solidFill>
                <a:latin typeface="Consolas" panose="020B0609020204030204" pitchFamily="49" charset="0"/>
              </a:rPr>
              <a:t>": “uuid-for-node-2"</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a:t>
            </a:r>
          </a:p>
          <a:p>
            <a:pPr marL="0" indent="0">
              <a:buNone/>
            </a:pPr>
            <a:r>
              <a:rPr lang="en-US" sz="1000" dirty="0">
                <a:latin typeface="Consolas" panose="020B0609020204030204" pitchFamily="49" charset="0"/>
              </a:rPr>
              <a:t>GET /</a:t>
            </a:r>
            <a:r>
              <a:rPr lang="en-US" sz="1000" dirty="0" err="1">
                <a:latin typeface="Consolas" panose="020B0609020204030204" pitchFamily="49" charset="0"/>
              </a:rPr>
              <a:t>restconf</a:t>
            </a:r>
            <a:r>
              <a:rPr lang="en-US" sz="1000" dirty="0">
                <a:latin typeface="Consolas" panose="020B0609020204030204" pitchFamily="49" charset="0"/>
              </a:rPr>
              <a:t>/data/tapi-common:context/</a:t>
            </a:r>
            <a:r>
              <a:rPr lang="en-US" sz="1000" dirty="0" err="1">
                <a:latin typeface="Consolas" panose="020B0609020204030204" pitchFamily="49" charset="0"/>
              </a:rPr>
              <a:t>tapi-topology:topology-context</a:t>
            </a:r>
            <a:r>
              <a:rPr lang="en-US" sz="1000" dirty="0">
                <a:latin typeface="Consolas" panose="020B0609020204030204" pitchFamily="49" charset="0"/>
              </a:rPr>
              <a:t>/topology={</a:t>
            </a:r>
            <a:r>
              <a:rPr lang="en-US" sz="1000" dirty="0" err="1">
                <a:latin typeface="Consolas" panose="020B0609020204030204" pitchFamily="49" charset="0"/>
              </a:rPr>
              <a:t>uuid</a:t>
            </a:r>
            <a:r>
              <a:rPr lang="en-US" sz="1000" dirty="0">
                <a:latin typeface="Consolas" panose="020B0609020204030204" pitchFamily="49" charset="0"/>
              </a:rPr>
              <a:t>}/node</a:t>
            </a:r>
            <a:br>
              <a:rPr lang="en-US" sz="1000" dirty="0">
                <a:latin typeface="Consolas" panose="020B0609020204030204" pitchFamily="49" charset="0"/>
              </a:rPr>
            </a:br>
            <a:r>
              <a:rPr lang="en-US" sz="1000" dirty="0">
                <a:latin typeface="Consolas" panose="020B0609020204030204" pitchFamily="49" charset="0"/>
              </a:rPr>
              <a:t>?limit=2&amp;cursor=&lt;uuid-for-node-2&gt;</a:t>
            </a:r>
          </a:p>
          <a:p>
            <a:pPr marL="0" indent="0">
              <a:buNone/>
            </a:pPr>
            <a:r>
              <a:rPr lang="en-US" sz="1000" dirty="0">
                <a:latin typeface="Consolas" panose="020B0609020204030204" pitchFamily="49" charset="0"/>
              </a:rPr>
              <a:t>&lt;next page of 2 nodes&gt;</a:t>
            </a:r>
          </a:p>
        </p:txBody>
      </p:sp>
      <p:sp>
        <p:nvSpPr>
          <p:cNvPr id="11" name="Title 3">
            <a:extLst>
              <a:ext uri="{FF2B5EF4-FFF2-40B4-BE49-F238E27FC236}">
                <a16:creationId xmlns:a16="http://schemas.microsoft.com/office/drawing/2014/main" id="{D2FB0A25-F9B2-9FA8-239F-7FA17125F1D8}"/>
              </a:ext>
            </a:extLst>
          </p:cNvPr>
          <p:cNvSpPr>
            <a:spLocks noGrp="1"/>
          </p:cNvSpPr>
          <p:nvPr>
            <p:ph type="title"/>
          </p:nvPr>
        </p:nvSpPr>
        <p:spPr>
          <a:xfrm>
            <a:off x="838200" y="365125"/>
            <a:ext cx="10515600" cy="593725"/>
          </a:xfrm>
        </p:spPr>
        <p:txBody>
          <a:bodyPr>
            <a:normAutofit/>
          </a:bodyPr>
          <a:lstStyle/>
          <a:p>
            <a:r>
              <a:rPr lang="en-US" sz="3200" dirty="0"/>
              <a:t>Example</a:t>
            </a:r>
          </a:p>
        </p:txBody>
      </p:sp>
      <p:sp>
        <p:nvSpPr>
          <p:cNvPr id="4" name="Content Placeholder 6">
            <a:extLst>
              <a:ext uri="{FF2B5EF4-FFF2-40B4-BE49-F238E27FC236}">
                <a16:creationId xmlns:a16="http://schemas.microsoft.com/office/drawing/2014/main" id="{3C7E670F-F199-2449-2665-27BF9CF2545B}"/>
              </a:ext>
            </a:extLst>
          </p:cNvPr>
          <p:cNvSpPr txBox="1">
            <a:spLocks/>
          </p:cNvSpPr>
          <p:nvPr/>
        </p:nvSpPr>
        <p:spPr>
          <a:xfrm>
            <a:off x="5162550" y="1092199"/>
            <a:ext cx="4241800" cy="5084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rgbClr val="C00000"/>
                </a:solidFill>
                <a:latin typeface="Consolas" panose="020B0609020204030204" pitchFamily="49" charset="0"/>
              </a:rPr>
              <a:t>PAGING with offset</a:t>
            </a:r>
          </a:p>
          <a:p>
            <a:pPr marL="0" indent="0">
              <a:buFont typeface="Arial" panose="020B0604020202020204" pitchFamily="34" charset="0"/>
              <a:buNone/>
            </a:pPr>
            <a:r>
              <a:rPr lang="en-US" sz="1000" dirty="0">
                <a:latin typeface="Consolas" panose="020B0609020204030204" pitchFamily="49" charset="0"/>
              </a:rPr>
              <a:t>GET /</a:t>
            </a:r>
            <a:r>
              <a:rPr lang="en-US" sz="1000" dirty="0" err="1">
                <a:latin typeface="Consolas" panose="020B0609020204030204" pitchFamily="49" charset="0"/>
              </a:rPr>
              <a:t>restconf</a:t>
            </a:r>
            <a:r>
              <a:rPr lang="en-US" sz="1000" dirty="0">
                <a:latin typeface="Consolas" panose="020B0609020204030204" pitchFamily="49" charset="0"/>
              </a:rPr>
              <a:t>/data/tapi-common:context/</a:t>
            </a:r>
            <a:r>
              <a:rPr lang="en-US" sz="1000" dirty="0" err="1">
                <a:latin typeface="Consolas" panose="020B0609020204030204" pitchFamily="49" charset="0"/>
              </a:rPr>
              <a:t>tapi-topology:topology-context</a:t>
            </a:r>
            <a:r>
              <a:rPr lang="en-US" sz="1000" dirty="0">
                <a:latin typeface="Consolas" panose="020B0609020204030204" pitchFamily="49" charset="0"/>
              </a:rPr>
              <a:t>/topology={</a:t>
            </a:r>
            <a:r>
              <a:rPr lang="en-US" sz="1000" dirty="0" err="1">
                <a:latin typeface="Consolas" panose="020B0609020204030204" pitchFamily="49" charset="0"/>
              </a:rPr>
              <a:t>uuid</a:t>
            </a:r>
            <a:r>
              <a:rPr lang="en-US" sz="1000" dirty="0">
                <a:latin typeface="Consolas" panose="020B0609020204030204" pitchFamily="49" charset="0"/>
              </a:rPr>
              <a:t>}/node</a:t>
            </a:r>
            <a:br>
              <a:rPr lang="en-US" sz="1000" dirty="0">
                <a:latin typeface="Consolas" panose="020B0609020204030204" pitchFamily="49" charset="0"/>
              </a:rPr>
            </a:br>
            <a:r>
              <a:rPr lang="en-US" sz="1000" dirty="0">
                <a:latin typeface="Consolas" panose="020B0609020204030204" pitchFamily="49" charset="0"/>
              </a:rPr>
              <a:t>?limit=2&amp;offset=0</a:t>
            </a:r>
          </a:p>
          <a:p>
            <a:pPr marL="0" indent="0">
              <a:buFont typeface="Arial" panose="020B0604020202020204" pitchFamily="34" charset="0"/>
              <a:buNone/>
            </a:pPr>
            <a:r>
              <a:rPr lang="en-US" sz="1000" dirty="0">
                <a:latin typeface="Consolas" panose="020B0609020204030204" pitchFamily="49" charset="0"/>
              </a:rPr>
              <a:t>{</a:t>
            </a:r>
            <a:br>
              <a:rPr lang="en-US" sz="1000" dirty="0">
                <a:latin typeface="Consolas" panose="020B0609020204030204" pitchFamily="49" charset="0"/>
              </a:rPr>
            </a:br>
            <a:r>
              <a:rPr lang="en-US" sz="1000" dirty="0">
                <a:latin typeface="Consolas" panose="020B0609020204030204" pitchFamily="49" charset="0"/>
              </a:rPr>
              <a:t>  "</a:t>
            </a:r>
            <a:r>
              <a:rPr lang="en-US" sz="1000" dirty="0" err="1">
                <a:latin typeface="Consolas" panose="020B0609020204030204" pitchFamily="49" charset="0"/>
              </a:rPr>
              <a:t>tapi-topology:topology</a:t>
            </a: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"node":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&lt;node-data-1&gt;</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&lt;node-data-2&gt;</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 </a:t>
            </a:r>
            <a:br>
              <a:rPr lang="en-US" sz="1000" dirty="0">
                <a:latin typeface="Consolas" panose="020B0609020204030204" pitchFamily="49" charset="0"/>
              </a:rPr>
            </a:br>
            <a:r>
              <a:rPr lang="en-US" sz="1000" dirty="0">
                <a:latin typeface="Consolas" panose="020B0609020204030204" pitchFamily="49" charset="0"/>
              </a:rPr>
              <a:t>      </a:t>
            </a:r>
            <a:r>
              <a:rPr lang="en-US" sz="1000" dirty="0">
                <a:solidFill>
                  <a:schemeClr val="accent5">
                    <a:lumMod val="60000"/>
                    <a:lumOff val="40000"/>
                  </a:schemeClr>
                </a:solidFill>
                <a:latin typeface="Consolas" panose="020B0609020204030204" pitchFamily="49" charset="0"/>
              </a:rPr>
              <a:t>“@”: [</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r>
              <a:rPr lang="en-US" sz="1000" dirty="0" err="1">
                <a:solidFill>
                  <a:schemeClr val="accent5">
                    <a:lumMod val="60000"/>
                    <a:lumOff val="40000"/>
                  </a:schemeClr>
                </a:solidFill>
                <a:latin typeface="Consolas" panose="020B0609020204030204" pitchFamily="49" charset="0"/>
              </a:rPr>
              <a:t>ietf-list-pagination:remaining</a:t>
            </a:r>
            <a:r>
              <a:rPr lang="en-US" sz="1000" dirty="0">
                <a:solidFill>
                  <a:schemeClr val="accent5">
                    <a:lumMod val="60000"/>
                    <a:lumOff val="40000"/>
                  </a:schemeClr>
                </a:solidFill>
                <a:latin typeface="Consolas" panose="020B0609020204030204" pitchFamily="49" charset="0"/>
              </a:rPr>
              <a:t>": 8</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br>
              <a:rPr lang="en-US" sz="1000" dirty="0">
                <a:solidFill>
                  <a:schemeClr val="accent5">
                    <a:lumMod val="60000"/>
                    <a:lumOff val="40000"/>
                  </a:schemeClr>
                </a:solidFill>
                <a:latin typeface="Consolas" panose="020B0609020204030204" pitchFamily="49" charset="0"/>
              </a:rPr>
            </a:br>
            <a:r>
              <a:rPr lang="en-US" sz="1000" dirty="0">
                <a:solidFill>
                  <a:schemeClr val="accent5">
                    <a:lumMod val="60000"/>
                    <a:lumOff val="40000"/>
                  </a:schemeClr>
                </a:solidFill>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a:t>
            </a:r>
            <a:br>
              <a:rPr lang="en-US" sz="1000" dirty="0">
                <a:latin typeface="Consolas" panose="020B0609020204030204" pitchFamily="49" charset="0"/>
              </a:rPr>
            </a:br>
            <a:br>
              <a:rPr lang="en-US" sz="1000" dirty="0">
                <a:latin typeface="Consolas" panose="020B0609020204030204" pitchFamily="49" charset="0"/>
              </a:rPr>
            </a:br>
            <a:br>
              <a:rPr lang="en-US" sz="1000" dirty="0">
                <a:latin typeface="Consolas" panose="020B0609020204030204" pitchFamily="49" charset="0"/>
              </a:rPr>
            </a:br>
            <a:br>
              <a:rPr lang="en-US" sz="1000" dirty="0">
                <a:latin typeface="Consolas" panose="020B0609020204030204" pitchFamily="49" charset="0"/>
              </a:rPr>
            </a:br>
            <a:r>
              <a:rPr lang="en-US" sz="1000" dirty="0">
                <a:latin typeface="Consolas" panose="020B0609020204030204" pitchFamily="49" charset="0"/>
              </a:rPr>
              <a:t>GET /</a:t>
            </a:r>
            <a:r>
              <a:rPr lang="en-US" sz="1000" dirty="0" err="1">
                <a:latin typeface="Consolas" panose="020B0609020204030204" pitchFamily="49" charset="0"/>
              </a:rPr>
              <a:t>restconf</a:t>
            </a:r>
            <a:r>
              <a:rPr lang="en-US" sz="1000" dirty="0">
                <a:latin typeface="Consolas" panose="020B0609020204030204" pitchFamily="49" charset="0"/>
              </a:rPr>
              <a:t>/data/tapi-common:context/</a:t>
            </a:r>
            <a:r>
              <a:rPr lang="en-US" sz="1000" dirty="0" err="1">
                <a:latin typeface="Consolas" panose="020B0609020204030204" pitchFamily="49" charset="0"/>
              </a:rPr>
              <a:t>tapi-topology:topology-context</a:t>
            </a:r>
            <a:r>
              <a:rPr lang="en-US" sz="1000" dirty="0">
                <a:latin typeface="Consolas" panose="020B0609020204030204" pitchFamily="49" charset="0"/>
              </a:rPr>
              <a:t>/topology={</a:t>
            </a:r>
            <a:r>
              <a:rPr lang="en-US" sz="1000" dirty="0" err="1">
                <a:latin typeface="Consolas" panose="020B0609020204030204" pitchFamily="49" charset="0"/>
              </a:rPr>
              <a:t>uuid</a:t>
            </a:r>
            <a:r>
              <a:rPr lang="en-US" sz="1000" dirty="0">
                <a:latin typeface="Consolas" panose="020B0609020204030204" pitchFamily="49" charset="0"/>
              </a:rPr>
              <a:t>}/node</a:t>
            </a:r>
            <a:br>
              <a:rPr lang="en-US" sz="1000" dirty="0">
                <a:latin typeface="Consolas" panose="020B0609020204030204" pitchFamily="49" charset="0"/>
              </a:rPr>
            </a:br>
            <a:r>
              <a:rPr lang="en-US" sz="1000" dirty="0">
                <a:latin typeface="Consolas" panose="020B0609020204030204" pitchFamily="49" charset="0"/>
              </a:rPr>
              <a:t>?limit=2&amp;offset=2</a:t>
            </a:r>
          </a:p>
          <a:p>
            <a:pPr marL="0" indent="0">
              <a:buNone/>
            </a:pPr>
            <a:r>
              <a:rPr lang="en-US" sz="1000" dirty="0">
                <a:latin typeface="Consolas" panose="020B0609020204030204" pitchFamily="49" charset="0"/>
              </a:rPr>
              <a:t>&lt;next page of 2 nodes&gt;</a:t>
            </a:r>
          </a:p>
          <a:p>
            <a:pPr marL="0" indent="0">
              <a:buFont typeface="Arial" panose="020B0604020202020204" pitchFamily="34" charset="0"/>
              <a:buNone/>
            </a:pPr>
            <a:endParaRPr lang="en-US" sz="1000" dirty="0">
              <a:latin typeface="Consolas" panose="020B0609020204030204" pitchFamily="49" charset="0"/>
            </a:endParaRPr>
          </a:p>
        </p:txBody>
      </p:sp>
      <p:sp>
        <p:nvSpPr>
          <p:cNvPr id="5" name="TextBox 4">
            <a:extLst>
              <a:ext uri="{FF2B5EF4-FFF2-40B4-BE49-F238E27FC236}">
                <a16:creationId xmlns:a16="http://schemas.microsoft.com/office/drawing/2014/main" id="{663CBF98-C8AD-BF00-D0CE-5996E8506243}"/>
              </a:ext>
            </a:extLst>
          </p:cNvPr>
          <p:cNvSpPr txBox="1"/>
          <p:nvPr/>
        </p:nvSpPr>
        <p:spPr>
          <a:xfrm>
            <a:off x="8978900" y="1092199"/>
            <a:ext cx="2930297" cy="4708981"/>
          </a:xfrm>
          <a:prstGeom prst="rect">
            <a:avLst/>
          </a:prstGeom>
          <a:noFill/>
        </p:spPr>
        <p:txBody>
          <a:bodyPr wrap="square" rtlCol="0">
            <a:spAutoFit/>
          </a:bodyPr>
          <a:lstStyle/>
          <a:p>
            <a:r>
              <a:rPr lang="en-US" sz="1200" dirty="0">
                <a:solidFill>
                  <a:schemeClr val="tx2">
                    <a:lumMod val="75000"/>
                    <a:lumOff val="25000"/>
                  </a:schemeClr>
                </a:solidFill>
              </a:rPr>
              <a:t>TAPI lists do not have an ordered-by </a:t>
            </a:r>
            <a:r>
              <a:rPr lang="en-US" sz="1200">
                <a:solidFill>
                  <a:schemeClr val="tx2">
                    <a:lumMod val="75000"/>
                    <a:lumOff val="25000"/>
                  </a:schemeClr>
                </a:solidFill>
              </a:rPr>
              <a:t>clause. For </a:t>
            </a:r>
            <a:r>
              <a:rPr lang="en-US" sz="1200" dirty="0">
                <a:solidFill>
                  <a:schemeClr val="tx2">
                    <a:lumMod val="75000"/>
                    <a:lumOff val="25000"/>
                  </a:schemeClr>
                </a:solidFill>
              </a:rPr>
              <a:t>paged GETs, we can assume ascending order sort based on </a:t>
            </a:r>
            <a:br>
              <a:rPr lang="en-US" sz="1200" dirty="0">
                <a:solidFill>
                  <a:schemeClr val="tx2">
                    <a:lumMod val="75000"/>
                    <a:lumOff val="25000"/>
                  </a:schemeClr>
                </a:solidFill>
              </a:rPr>
            </a:br>
            <a:r>
              <a:rPr lang="en-US" sz="1200" dirty="0">
                <a:solidFill>
                  <a:schemeClr val="tx2">
                    <a:lumMod val="75000"/>
                    <a:lumOff val="25000"/>
                  </a:schemeClr>
                </a:solidFill>
              </a:rPr>
              <a:t>the list key (</a:t>
            </a:r>
            <a:r>
              <a:rPr lang="en-US" sz="1200" dirty="0" err="1">
                <a:solidFill>
                  <a:schemeClr val="tx2">
                    <a:lumMod val="75000"/>
                    <a:lumOff val="25000"/>
                  </a:schemeClr>
                </a:solidFill>
              </a:rPr>
              <a:t>uuid</a:t>
            </a:r>
            <a:r>
              <a:rPr lang="en-US" sz="1200" dirty="0">
                <a:solidFill>
                  <a:schemeClr val="tx2">
                    <a:lumMod val="75000"/>
                    <a:lumOff val="25000"/>
                  </a:schemeClr>
                </a:solidFill>
              </a:rPr>
              <a:t> or local-id)</a:t>
            </a:r>
          </a:p>
          <a:p>
            <a:endParaRPr lang="en-US" sz="1200" dirty="0">
              <a:solidFill>
                <a:schemeClr val="tx2">
                  <a:lumMod val="75000"/>
                  <a:lumOff val="25000"/>
                </a:schemeClr>
              </a:solidFill>
            </a:endParaRPr>
          </a:p>
          <a:p>
            <a:r>
              <a:rPr lang="en-US" sz="1200" dirty="0">
                <a:solidFill>
                  <a:schemeClr val="tx2">
                    <a:lumMod val="75000"/>
                    <a:lumOff val="25000"/>
                  </a:schemeClr>
                </a:solidFill>
              </a:rPr>
              <a:t>There should not be an expectation on the server to store “paging state” between GETs.</a:t>
            </a:r>
          </a:p>
          <a:p>
            <a:endParaRPr lang="en-US" sz="1200" dirty="0">
              <a:solidFill>
                <a:schemeClr val="tx2">
                  <a:lumMod val="75000"/>
                  <a:lumOff val="25000"/>
                </a:schemeClr>
              </a:solidFill>
            </a:endParaRPr>
          </a:p>
          <a:p>
            <a:r>
              <a:rPr lang="en-US" sz="1200" dirty="0">
                <a:solidFill>
                  <a:schemeClr val="tx2">
                    <a:lumMod val="75000"/>
                    <a:lumOff val="25000"/>
                  </a:schemeClr>
                </a:solidFill>
              </a:rPr>
              <a:t>If entries get added to or removed from the list between paged GETs, the client may or may not get the information, depending on whether the affected entry’s page is already retrieved or not. Client needs to rely on reconciling based on notifications.</a:t>
            </a:r>
          </a:p>
          <a:p>
            <a:endParaRPr lang="en-US" sz="1200" dirty="0">
              <a:solidFill>
                <a:schemeClr val="tx2">
                  <a:lumMod val="75000"/>
                  <a:lumOff val="25000"/>
                </a:schemeClr>
              </a:solidFill>
            </a:endParaRPr>
          </a:p>
          <a:p>
            <a:r>
              <a:rPr lang="en-US" sz="1200" dirty="0">
                <a:solidFill>
                  <a:schemeClr val="tx2">
                    <a:lumMod val="75000"/>
                    <a:lumOff val="25000"/>
                  </a:schemeClr>
                </a:solidFill>
              </a:rPr>
              <a:t>For paging with cursor, we can omit “previous” references from the responses. Supporting “previous” will mean that the server needs to have some memory of the previous page.</a:t>
            </a:r>
          </a:p>
          <a:p>
            <a:endParaRPr lang="en-US" sz="1200" dirty="0">
              <a:solidFill>
                <a:schemeClr val="tx2">
                  <a:lumMod val="75000"/>
                  <a:lumOff val="25000"/>
                </a:schemeClr>
              </a:solidFill>
            </a:endParaRPr>
          </a:p>
          <a:p>
            <a:r>
              <a:rPr lang="en-US" sz="1200" dirty="0">
                <a:solidFill>
                  <a:schemeClr val="tx2">
                    <a:lumMod val="75000"/>
                    <a:lumOff val="25000"/>
                  </a:schemeClr>
                </a:solidFill>
              </a:rPr>
              <a:t>And all metadata information can be provided via HTTP response headers.</a:t>
            </a:r>
          </a:p>
        </p:txBody>
      </p:sp>
    </p:spTree>
    <p:extLst>
      <p:ext uri="{BB962C8B-B14F-4D97-AF65-F5344CB8AC3E}">
        <p14:creationId xmlns:p14="http://schemas.microsoft.com/office/powerpoint/2010/main" val="2509089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2117</Words>
  <Application>Microsoft Office PowerPoint</Application>
  <PresentationFormat>Widescreen</PresentationFormat>
  <Paragraphs>210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Consolas</vt:lpstr>
      <vt:lpstr>Times New Roman</vt:lpstr>
      <vt:lpstr>Wingdings</vt:lpstr>
      <vt:lpstr>Office Theme</vt:lpstr>
      <vt:lpstr>Pagination Support in TR547</vt:lpstr>
      <vt:lpstr>Overview</vt:lpstr>
      <vt:lpstr>GET of lists of objects - current approach in TR547</vt:lpstr>
      <vt:lpstr>Problems with the current approach</vt:lpstr>
      <vt:lpstr>TR548 Streaming and (?) Alternatives</vt:lpstr>
      <vt:lpstr>draft-ietf-netconf-list-pagination draft-ietf-netconf-list-pagination-rc </vt:lpstr>
      <vt:lpstr>draft-ietf-netconf-list-pagination draft-ietf-netconf-list-pagination-rc </vt:lpstr>
      <vt:lpstr>Offset versus cursor</vt:lpstr>
      <vt:lpstr>draft-ietf-netconf-list-pagination: Meta Data</vt:lpstr>
      <vt:lpstr>Possible approach for pagination in TAPI</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Joyce, Roshan</dc:creator>
  <cp:lastModifiedBy>Joyce, Roshan</cp:lastModifiedBy>
  <cp:revision>1</cp:revision>
  <dcterms:created xsi:type="dcterms:W3CDTF">2025-08-20T05:43:06Z</dcterms:created>
  <dcterms:modified xsi:type="dcterms:W3CDTF">2025-09-05T05:40:09Z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2025-08-22T06:01:34Z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5f02d43c-b7fc-4496-8e9d-bd8a2011a32b</vt:lpwstr>
  </property>
  <property fmtid="{D5CDD505-2E9C-101B-9397-08002B2CF9AE}" pid="8" name="MSIP_Label_a7295cc1-d279-42ac-ab4d-3b0f4fece050_ContentBits">
    <vt:lpwstr>0</vt:lpwstr>
  </property>
  <property fmtid="{D5CDD505-2E9C-101B-9397-08002B2CF9AE}" pid="9" name="MSIP_Label_a7295cc1-d279-42ac-ab4d-3b0f4fece050_Tag">
    <vt:lpwstr>10, 3, 0, 1</vt:lpwstr>
  </property>
</Properties>
</file>